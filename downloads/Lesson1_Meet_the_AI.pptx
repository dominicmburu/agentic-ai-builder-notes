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77447c2e-482c-9adc-3b2d-0cca94c7a1d7}">
          <p14:sldIdLst>
            <p14:sldId id="256"/>
            <p14:sldId id="257"/>
          </p14:sldIdLst>
        </p14:section>
        <p14:section name="What an LLM is" id="{f5fd3598-1981-92df-d8b1-3a44b9e884b0}">
          <p14:sldIdLst>
            <p14:sldId id="258"/>
            <p14:sldId id="259"/>
            <p14:sldId id="260"/>
            <p14:sldId id="261"/>
          </p14:sldIdLst>
        </p14:section>
        <p14:section name="The names" id="{7c391b93-8467-4533-a14d-e476621b49e7}">
          <p14:sldIdLst>
            <p14:sldId id="262"/>
            <p14:sldId id="263"/>
          </p14:sldIdLst>
        </p14:section>
        <p14:section name="How programs talk to AI" id="{d1c566ca-79fe-6c84-65c9-ec44cf7acce2}">
          <p14:sldIdLst>
            <p14:sldId id="264"/>
            <p14:sldId id="265"/>
            <p14:sldId id="266"/>
            <p14:sldId id="267"/>
            <p14:sldId id="268"/>
          </p14:sldIdLst>
        </p14:section>
        <p14:section name="Practice" id="{cd565b60-7686-2ca7-c11d-2122351b3454}">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No technical background is needed for this course. Today we answer two simple questions: what is an AI that writes text, and how can a program talk to it? We will use everyday examples all the way through. Ask: who has used ChatGPT or a similar tool? Show of hands.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goals. Read them out. Stress that everything today is explained with everyday comparisons, and that nobody needs to write code to follow along. Later in the week we build things, but today is about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up your phone and type 'Good morning, how are' in any messaging app. The keyboard suggests 'you'. That is the whole idea: predicting what comes next. A large language model does the same thing, but it learned from an enormous amount of writing, so it can continue whole paragraphs, not just one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 stands for Large Language Model. Walk through the three words. Large: it learned from a vast amount of text. Language: its world is words. Model: a model is just a pattern the computer has learned; it is not a thinking person. Say the one-sentence definition twice. Students should be able to say it back in their own words by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a long answer is built. The AI does not plan the whole answer first. It looks at everything so far, guesses the best next piece, adds it, and repeats. Do the 'finish my sentence' game with the class: say 'The sun rises in the...' and let them answer 'east'. That is exactly what the AI is doing, very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with students about limits. The AI produces likely text. Most of the time that is right, but sometimes it invents things, and it sounds just as confident when it does. Example to tell: ask it for a book reference and it may invent a title that sounds real. Rule for the whole course: use it, but check anything important.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clears up a very common mix-up. Use the car comparison. LLM is the category, like 'car'. GPT is one particular family of models, like a Corolla. ChatGPT is the app you actually open and use, like the car you drive with its dashboard and seats. Many people say 'I asked GPT' when they mean the app. Gentle correction is 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flavours. A chat model answers right away, like a friend who just tells you. A reasoning model spends extra effort working through steps before it answers, like a friend who grabs a notebook first. The second is better for multi-step problems but slower and costlier. Rule of thumb for beginners: start with the quick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API stands for Application Programming Interface, but do not lead with that. Use the restaurant. You sit at a table, you do not go into the kitchen. The waiter takes your order to the kitchen and brings the food back. An API does the same between a program and an AI service. Why it matters: it lets us build our own tools on top of AI, which is the whole point of this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API request has the same four parts. Map each one to the restaurant: the address is which restaurant you are ordering from; the action is whether you are just asking something (GET) or placing an order (POST); the API key is your membership card that tells the restaurant who you are and who to bill; the body is the order itself. Spend time on the key: treat it like a bank PIN. Never paste it into anything you 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JSON is just a tidy way of writing a form so a computer can read it. Left side is a paper form; right side is the same information as JSON. Each label has a value. Walk through the four rules. Warn students: most beginner mistakes are small typos here, like a missing quote or an extra comma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a real exchange looks like. On the left, the order we send: which AI to use and our question. On the right, what comes back: the answer in the 'content' field, plus a 'usage' section showing how much text was used. We will learn about tokens, the pieces of text it counts, in Lesson 2. For now, only point out where the question goes and where the answer arrives.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Money is a fair worry for beginners. Explain it like mobile airtime or data bundles: you pay for what you use. For this course, we mostly use free or very cheap models through OpenRouter so no one needs to spend much. Remind everyone again to keep their API key private, because anyone with the key can spend the account's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Students send the same question to two models through OpenRouter and fill in the table: the answer, the time and the cost. The point is to see that different models give different answers at different speeds and prices. There is no single right answer to 'which would you pick'. Non-technical students can use the OpenRouter chat page; the code version is in the teaching notes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in three sentences. Ask students to repeat each one in their own words before you reveal the next. If time allows, ask for one real-life example of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ChatGPT is an app, built on GPT models. (2) The API key, the ID card. (3) Because the AI predicts likely text and can sound confident while being wrong. Next lesson: tokens, the small pieces of text that decide cost and speed, and the temperature dial.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lstStyle>
            <a:lvl1pPr indent="0" marL="0">
              <a:buNone/>
              <a:defRPr lang="en-US" sz="3600" b="1" dirty="0">
                <a:solidFill>
                  <a:schemeClr val="tx2"/>
                </a:solidFill>
              </a:defRPr>
            </a:lvl1pPr>
          </a:lstStyle>
          <a:p>
            <a:pPr indent="0" marL="0">
              <a:buNone/>
            </a:pPr>
            <a:endParaRPr lang="en-US" sz="3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lstStyle>
            <a:lvl1pPr indent="0" marL="0">
              <a:buNone/>
              <a:defRPr lang="en-US" sz="3600" b="1" dirty="0">
                <a:solidFill>
                  <a:schemeClr val="bg1"/>
                </a:solidFill>
              </a:defRPr>
            </a:lvl1pPr>
          </a:lstStyle>
          <a:p>
            <a:pPr indent="0" marL="0">
              <a:buNone/>
            </a:pPr>
            <a:endParaRPr lang="en-US" sz="3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25880"/>
            <a:ext cx="5852160" cy="15544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914400"/>
            <a:ext cx="3657600" cy="320040"/>
          </a:xfrm>
          <a:prstGeom prst="rect">
            <a:avLst/>
          </a:prstGeom>
          <a:noFill/>
          <a:ln/>
        </p:spPr>
        <p:txBody>
          <a:bodyPr wrap="square" lIns="0" tIns="0" rIns="0" bIns="0" rtlCol="0" anchor="t"/>
          <a:lstStyle/>
          <a:p>
            <a:pPr indent="0" marL="0">
              <a:buNone/>
            </a:pPr>
            <a:r>
              <a:rPr lang="en-US" sz="1600" b="1" dirty="0">
                <a:solidFill>
                  <a:schemeClr val="accent3"/>
                </a:solidFill>
              </a:rPr>
              <a:t>LESSON 1</a:t>
            </a:r>
            <a:endParaRPr lang="en-US" sz="1600" dirty="0"/>
          </a:p>
        </p:txBody>
      </p:sp>
      <p:sp>
        <p:nvSpPr>
          <p:cNvPr id="3" name="Text 0"/>
          <p:cNvSpPr/>
          <p:nvPr>
            <p:ph idx="100" type="title" hasCustomPrompt="1"/>
          </p:nvPr>
        </p:nvSpPr>
        <p:spPr>
          <a:xfrm>
            <a:off x="548640" y="1325880"/>
            <a:ext cx="5852160" cy="1554480"/>
          </a:xfrm>
          <a:prstGeom prst="rect">
            <a:avLst/>
          </a:prstGeom>
          <a:noFill/>
          <a:ln/>
        </p:spPr>
        <p:txBody>
          <a:bodyPr wrap="square" lIns="0" tIns="0" rIns="0" bIns="0" rtlCol="0" anchor="t"/>
          <a:lstStyle/>
          <a:p>
            <a:pPr algn="l" indent="0" marL="0">
              <a:buNone/>
            </a:pPr>
            <a:r>
              <a:rPr lang="en-US" sz="4000" b="1" dirty="0">
                <a:solidFill>
                  <a:schemeClr val="bg1"/>
                </a:solidFill>
              </a:rPr>
              <a:t>Meet the AI that reads and writes</a:t>
            </a:r>
            <a:endParaRPr lang="en-US" sz="4000" dirty="0"/>
          </a:p>
        </p:txBody>
      </p:sp>
      <p:sp>
        <p:nvSpPr>
          <p:cNvPr id="4" name="Text 2"/>
          <p:cNvSpPr txBox="1"/>
          <p:nvPr/>
        </p:nvSpPr>
        <p:spPr>
          <a:xfrm>
            <a:off x="548640" y="3063240"/>
            <a:ext cx="5852160" cy="411480"/>
          </a:xfrm>
          <a:prstGeom prst="rect">
            <a:avLst/>
          </a:prstGeom>
          <a:noFill/>
          <a:ln/>
        </p:spPr>
        <p:txBody>
          <a:bodyPr wrap="square" lIns="0" tIns="0" rIns="0" bIns="0" rtlCol="0" anchor="t"/>
          <a:lstStyle/>
          <a:p>
            <a:pPr indent="0" marL="0">
              <a:buNone/>
            </a:pPr>
            <a:r>
              <a:rPr lang="en-US" sz="2200" dirty="0">
                <a:solidFill>
                  <a:schemeClr val="bg2"/>
                </a:solidFill>
              </a:rPr>
              <a:t>Introduction to LLMs and APIs</a:t>
            </a:r>
            <a:endParaRPr lang="en-US" sz="2200" dirty="0"/>
          </a:p>
        </p:txBody>
      </p:sp>
      <p:sp>
        <p:nvSpPr>
          <p:cNvPr id="5" name="Text 3"/>
          <p:cNvSpPr txBox="1"/>
          <p:nvPr/>
        </p:nvSpPr>
        <p:spPr>
          <a:xfrm>
            <a:off x="548640" y="4206240"/>
            <a:ext cx="5852160" cy="320040"/>
          </a:xfrm>
          <a:prstGeom prst="rect">
            <a:avLst/>
          </a:prstGeom>
          <a:noFill/>
          <a:ln/>
        </p:spPr>
        <p:txBody>
          <a:bodyPr wrap="square" lIns="0" tIns="0" rIns="0" bIns="0" rtlCol="0" anchor="t"/>
          <a:lstStyle/>
          <a:p>
            <a:pPr indent="0" marL="0">
              <a:buNone/>
            </a:pPr>
            <a:r>
              <a:rPr lang="en-US" sz="1400" dirty="0">
                <a:solidFill>
                  <a:schemeClr val="bg2"/>
                </a:solidFill>
              </a:rPr>
              <a:t>Agentic AI Builder  ·  Week 1</a:t>
            </a:r>
            <a:endParaRPr lang="en-US" sz="1400" dirty="0"/>
          </a:p>
        </p:txBody>
      </p:sp>
      <p:sp>
        <p:nvSpPr>
          <p:cNvPr id="6" name="robot circle"/>
          <p:cNvSpPr/>
          <p:nvPr/>
        </p:nvSpPr>
        <p:spPr>
          <a:xfrm>
            <a:off x="6720840" y="1463040"/>
            <a:ext cx="1737360" cy="1737360"/>
          </a:xfrm>
          <a:prstGeom prst="ellipse">
            <a:avLst/>
          </a:prstGeom>
          <a:solidFill>
            <a:schemeClr val="accent1"/>
          </a:solidFill>
          <a:ln w="9525">
            <a:solidFill>
              <a:schemeClr val="accent1"/>
            </a:solidFill>
            <a:prstDash val="solid"/>
          </a:ln>
        </p:spPr>
      </p:sp>
      <p:pic>
        <p:nvPicPr>
          <p:cNvPr id="7" name="Image 0" descr="Robot icon">    </p:cNvPr>
          <p:cNvPicPr>
            <a:picLocks noChangeAspect="1"/>
          </p:cNvPicPr>
          <p:nvPr/>
        </p:nvPicPr>
        <p:blipFill>
          <a:blip r:embed="rId1"/>
          <a:stretch>
            <a:fillRect/>
          </a:stretch>
        </p:blipFill>
        <p:spPr>
          <a:xfrm>
            <a:off x="7104888" y="1847088"/>
            <a:ext cx="969264" cy="9692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600" b="1" dirty="0">
                <a:solidFill>
                  <a:schemeClr val="tx2"/>
                </a:solidFill>
              </a:rPr>
              <a:t>By the end of today you can…</a:t>
            </a:r>
            <a:endParaRPr lang="en-US" sz="3600" dirty="0"/>
          </a:p>
        </p:txBody>
      </p:sp>
      <p:sp>
        <p:nvSpPr>
          <p:cNvPr id="3" name="goal card 1"/>
          <p:cNvSpPr/>
          <p:nvPr/>
        </p:nvSpPr>
        <p:spPr>
          <a:xfrm>
            <a:off x="457200" y="1371600"/>
            <a:ext cx="2560320" cy="2926080"/>
          </a:xfrm>
          <a:prstGeom prst="roundRect">
            <a:avLst>
              <a:gd name="adj" fmla="val 4286"/>
            </a:avLst>
          </a:prstGeom>
          <a:solidFill>
            <a:schemeClr val="bg2"/>
          </a:solidFill>
          <a:ln w="9525">
            <a:solidFill>
              <a:schemeClr val="bg2"/>
            </a:solidFill>
            <a:prstDash val="solid"/>
          </a:ln>
        </p:spPr>
      </p:sp>
      <p:sp>
        <p:nvSpPr>
          <p:cNvPr id="4" name="goal 1 circle"/>
          <p:cNvSpPr/>
          <p:nvPr/>
        </p:nvSpPr>
        <p:spPr>
          <a:xfrm>
            <a:off x="731520" y="1645920"/>
            <a:ext cx="731520" cy="731520"/>
          </a:xfrm>
          <a:prstGeom prst="ellipse">
            <a:avLst/>
          </a:prstGeom>
          <a:solidFill>
            <a:schemeClr val="accent1"/>
          </a:solidFill>
          <a:ln w="9525">
            <a:solidFill>
              <a:schemeClr val="accent1"/>
            </a:solidFill>
            <a:prstDash val="solid"/>
          </a:ln>
        </p:spPr>
      </p:sp>
      <p:pic>
        <p:nvPicPr>
          <p:cNvPr id="5" name="Image 0" descr="goal 1 icon">    </p:cNvPr>
          <p:cNvPicPr>
            <a:picLocks noChangeAspect="1"/>
          </p:cNvPicPr>
          <p:nvPr/>
        </p:nvPicPr>
        <p:blipFill>
          <a:blip r:embed="rId1"/>
          <a:stretch>
            <a:fillRect/>
          </a:stretch>
        </p:blipFill>
        <p:spPr>
          <a:xfrm>
            <a:off x="892454" y="1806854"/>
            <a:ext cx="409651" cy="409651"/>
          </a:xfrm>
          <a:prstGeom prst="rect">
            <a:avLst/>
          </a:prstGeom>
        </p:spPr>
      </p:pic>
      <p:sp>
        <p:nvSpPr>
          <p:cNvPr id="6" name="Text 3"/>
          <p:cNvSpPr txBox="1"/>
          <p:nvPr/>
        </p:nvSpPr>
        <p:spPr>
          <a:xfrm>
            <a:off x="731520" y="2651760"/>
            <a:ext cx="2011680" cy="365760"/>
          </a:xfrm>
          <a:prstGeom prst="rect">
            <a:avLst/>
          </a:prstGeom>
          <a:noFill/>
          <a:ln/>
        </p:spPr>
        <p:txBody>
          <a:bodyPr wrap="square" lIns="0" tIns="0" rIns="0" bIns="0" rtlCol="0" anchor="t"/>
          <a:lstStyle/>
          <a:p>
            <a:pPr indent="0" marL="0">
              <a:buNone/>
            </a:pPr>
            <a:r>
              <a:rPr lang="en-US" sz="2200" b="1" dirty="0">
                <a:solidFill>
                  <a:schemeClr val="tx2"/>
                </a:solidFill>
              </a:rPr>
              <a:t>Explain</a:t>
            </a:r>
            <a:endParaRPr lang="en-US" sz="2200" dirty="0"/>
          </a:p>
        </p:txBody>
      </p:sp>
      <p:sp>
        <p:nvSpPr>
          <p:cNvPr id="7" name="Text 4"/>
          <p:cNvSpPr txBox="1"/>
          <p:nvPr/>
        </p:nvSpPr>
        <p:spPr>
          <a:xfrm>
            <a:off x="731520" y="3108960"/>
            <a:ext cx="2011680" cy="1005840"/>
          </a:xfrm>
          <a:prstGeom prst="rect">
            <a:avLst/>
          </a:prstGeom>
          <a:noFill/>
          <a:ln/>
        </p:spPr>
        <p:txBody>
          <a:bodyPr wrap="square" lIns="0" tIns="0" rIns="0" bIns="0" rtlCol="0" anchor="t"/>
          <a:lstStyle/>
          <a:p>
            <a:pPr indent="0" marL="0">
              <a:buNone/>
            </a:pPr>
            <a:r>
              <a:rPr lang="en-US" sz="1600" dirty="0">
                <a:solidFill>
                  <a:schemeClr val="tx1"/>
                </a:solidFill>
              </a:rPr>
              <a:t>what an AI language model does, in your own words</a:t>
            </a:r>
            <a:endParaRPr lang="en-US" sz="1600" dirty="0"/>
          </a:p>
        </p:txBody>
      </p:sp>
      <p:sp>
        <p:nvSpPr>
          <p:cNvPr id="8" name="goal card 2"/>
          <p:cNvSpPr/>
          <p:nvPr/>
        </p:nvSpPr>
        <p:spPr>
          <a:xfrm>
            <a:off x="3291840" y="1371600"/>
            <a:ext cx="2560320" cy="2926080"/>
          </a:xfrm>
          <a:prstGeom prst="roundRect">
            <a:avLst>
              <a:gd name="adj" fmla="val 4286"/>
            </a:avLst>
          </a:prstGeom>
          <a:solidFill>
            <a:schemeClr val="bg2"/>
          </a:solidFill>
          <a:ln w="9525">
            <a:solidFill>
              <a:schemeClr val="bg2"/>
            </a:solidFill>
            <a:prstDash val="solid"/>
          </a:ln>
        </p:spPr>
      </p:sp>
      <p:sp>
        <p:nvSpPr>
          <p:cNvPr id="9" name="goal 2 circle"/>
          <p:cNvSpPr/>
          <p:nvPr/>
        </p:nvSpPr>
        <p:spPr>
          <a:xfrm>
            <a:off x="3566160" y="1645920"/>
            <a:ext cx="731520" cy="731520"/>
          </a:xfrm>
          <a:prstGeom prst="ellipse">
            <a:avLst/>
          </a:prstGeom>
          <a:solidFill>
            <a:schemeClr val="accent1"/>
          </a:solidFill>
          <a:ln w="9525">
            <a:solidFill>
              <a:schemeClr val="accent1"/>
            </a:solidFill>
            <a:prstDash val="solid"/>
          </a:ln>
        </p:spPr>
      </p:sp>
      <p:pic>
        <p:nvPicPr>
          <p:cNvPr id="10" name="Image 1" descr="goal 2 icon">    </p:cNvPr>
          <p:cNvPicPr>
            <a:picLocks noChangeAspect="1"/>
          </p:cNvPicPr>
          <p:nvPr/>
        </p:nvPicPr>
        <p:blipFill>
          <a:blip r:embed="rId2"/>
          <a:stretch>
            <a:fillRect/>
          </a:stretch>
        </p:blipFill>
        <p:spPr>
          <a:xfrm>
            <a:off x="3727094" y="1806854"/>
            <a:ext cx="409651" cy="409651"/>
          </a:xfrm>
          <a:prstGeom prst="rect">
            <a:avLst/>
          </a:prstGeom>
        </p:spPr>
      </p:pic>
      <p:sp>
        <p:nvSpPr>
          <p:cNvPr id="11" name="Text 7"/>
          <p:cNvSpPr txBox="1"/>
          <p:nvPr/>
        </p:nvSpPr>
        <p:spPr>
          <a:xfrm>
            <a:off x="3566160" y="2651760"/>
            <a:ext cx="2011680" cy="365760"/>
          </a:xfrm>
          <a:prstGeom prst="rect">
            <a:avLst/>
          </a:prstGeom>
          <a:noFill/>
          <a:ln/>
        </p:spPr>
        <p:txBody>
          <a:bodyPr wrap="square" lIns="0" tIns="0" rIns="0" bIns="0" rtlCol="0" anchor="t"/>
          <a:lstStyle/>
          <a:p>
            <a:pPr indent="0" marL="0">
              <a:buNone/>
            </a:pPr>
            <a:r>
              <a:rPr lang="en-US" sz="2200" b="1" dirty="0">
                <a:solidFill>
                  <a:schemeClr val="tx2"/>
                </a:solidFill>
              </a:rPr>
              <a:t>Tell apart</a:t>
            </a:r>
            <a:endParaRPr lang="en-US" sz="2200" dirty="0"/>
          </a:p>
        </p:txBody>
      </p:sp>
      <p:sp>
        <p:nvSpPr>
          <p:cNvPr id="12" name="Text 8"/>
          <p:cNvSpPr txBox="1"/>
          <p:nvPr/>
        </p:nvSpPr>
        <p:spPr>
          <a:xfrm>
            <a:off x="3566160" y="3108960"/>
            <a:ext cx="2011680" cy="1005840"/>
          </a:xfrm>
          <a:prstGeom prst="rect">
            <a:avLst/>
          </a:prstGeom>
          <a:noFill/>
          <a:ln/>
        </p:spPr>
        <p:txBody>
          <a:bodyPr wrap="square" lIns="0" tIns="0" rIns="0" bIns="0" rtlCol="0" anchor="t"/>
          <a:lstStyle/>
          <a:p>
            <a:pPr indent="0" marL="0">
              <a:buNone/>
            </a:pPr>
            <a:r>
              <a:rPr lang="en-US" sz="1600" dirty="0">
                <a:solidFill>
                  <a:schemeClr val="tx1"/>
                </a:solidFill>
              </a:rPr>
              <a:t>LLM, GPT and ChatGPT: three names people mix up</a:t>
            </a:r>
            <a:endParaRPr lang="en-US" sz="1600" dirty="0"/>
          </a:p>
        </p:txBody>
      </p:sp>
      <p:sp>
        <p:nvSpPr>
          <p:cNvPr id="13" name="goal card 3"/>
          <p:cNvSpPr/>
          <p:nvPr/>
        </p:nvSpPr>
        <p:spPr>
          <a:xfrm>
            <a:off x="6126480" y="1371600"/>
            <a:ext cx="2560320" cy="2926080"/>
          </a:xfrm>
          <a:prstGeom prst="roundRect">
            <a:avLst>
              <a:gd name="adj" fmla="val 4286"/>
            </a:avLst>
          </a:prstGeom>
          <a:solidFill>
            <a:schemeClr val="bg2"/>
          </a:solidFill>
          <a:ln w="9525">
            <a:solidFill>
              <a:schemeClr val="bg2"/>
            </a:solidFill>
            <a:prstDash val="solid"/>
          </a:ln>
        </p:spPr>
      </p:sp>
      <p:sp>
        <p:nvSpPr>
          <p:cNvPr id="14" name="goal 3 circle"/>
          <p:cNvSpPr/>
          <p:nvPr/>
        </p:nvSpPr>
        <p:spPr>
          <a:xfrm>
            <a:off x="6400800" y="1645920"/>
            <a:ext cx="731520" cy="731520"/>
          </a:xfrm>
          <a:prstGeom prst="ellipse">
            <a:avLst/>
          </a:prstGeom>
          <a:solidFill>
            <a:schemeClr val="accent1"/>
          </a:solidFill>
          <a:ln w="9525">
            <a:solidFill>
              <a:schemeClr val="accent1"/>
            </a:solidFill>
            <a:prstDash val="solid"/>
          </a:ln>
        </p:spPr>
      </p:sp>
      <p:pic>
        <p:nvPicPr>
          <p:cNvPr id="15" name="Image 2" descr="goal 3 icon">    </p:cNvPr>
          <p:cNvPicPr>
            <a:picLocks noChangeAspect="1"/>
          </p:cNvPicPr>
          <p:nvPr/>
        </p:nvPicPr>
        <p:blipFill>
          <a:blip r:embed="rId3"/>
          <a:stretch>
            <a:fillRect/>
          </a:stretch>
        </p:blipFill>
        <p:spPr>
          <a:xfrm>
            <a:off x="6561734" y="1806854"/>
            <a:ext cx="409651" cy="409651"/>
          </a:xfrm>
          <a:prstGeom prst="rect">
            <a:avLst/>
          </a:prstGeom>
        </p:spPr>
      </p:pic>
      <p:sp>
        <p:nvSpPr>
          <p:cNvPr id="16" name="Text 11"/>
          <p:cNvSpPr txBox="1"/>
          <p:nvPr/>
        </p:nvSpPr>
        <p:spPr>
          <a:xfrm>
            <a:off x="6400800" y="2651760"/>
            <a:ext cx="2011680" cy="365760"/>
          </a:xfrm>
          <a:prstGeom prst="rect">
            <a:avLst/>
          </a:prstGeom>
          <a:noFill/>
          <a:ln/>
        </p:spPr>
        <p:txBody>
          <a:bodyPr wrap="square" lIns="0" tIns="0" rIns="0" bIns="0" rtlCol="0" anchor="t"/>
          <a:lstStyle/>
          <a:p>
            <a:pPr indent="0" marL="0">
              <a:buNone/>
            </a:pPr>
            <a:r>
              <a:rPr lang="en-US" sz="2200" b="1" dirty="0">
                <a:solidFill>
                  <a:schemeClr val="tx2"/>
                </a:solidFill>
              </a:rPr>
              <a:t>Send</a:t>
            </a:r>
            <a:endParaRPr lang="en-US" sz="2200" dirty="0"/>
          </a:p>
        </p:txBody>
      </p:sp>
      <p:sp>
        <p:nvSpPr>
          <p:cNvPr id="17" name="Text 12"/>
          <p:cNvSpPr txBox="1"/>
          <p:nvPr/>
        </p:nvSpPr>
        <p:spPr>
          <a:xfrm>
            <a:off x="6400800" y="3108960"/>
            <a:ext cx="2011680" cy="1005840"/>
          </a:xfrm>
          <a:prstGeom prst="rect">
            <a:avLst/>
          </a:prstGeom>
          <a:noFill/>
          <a:ln/>
        </p:spPr>
        <p:txBody>
          <a:bodyPr wrap="square" lIns="0" tIns="0" rIns="0" bIns="0" rtlCol="0" anchor="t"/>
          <a:lstStyle/>
          <a:p>
            <a:pPr indent="0" marL="0">
              <a:buNone/>
            </a:pPr>
            <a:r>
              <a:rPr lang="en-US" sz="1600" dirty="0">
                <a:solidFill>
                  <a:schemeClr val="tx1"/>
                </a:solidFill>
              </a:rPr>
              <a:t>a real request to an AI and read its answer</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600" b="1" dirty="0">
                <a:solidFill>
                  <a:schemeClr val="tx2"/>
                </a:solidFill>
              </a:rPr>
              <a:t>You already use a tiny version</a:t>
            </a:r>
            <a:endParaRPr lang="en-US" sz="3600" dirty="0"/>
          </a:p>
        </p:txBody>
      </p:sp>
      <p:sp>
        <p:nvSpPr>
          <p:cNvPr id="3" name="phone"/>
          <p:cNvSpPr/>
          <p:nvPr/>
        </p:nvSpPr>
        <p:spPr>
          <a:xfrm>
            <a:off x="640080" y="1325880"/>
            <a:ext cx="3291840" cy="3108960"/>
          </a:xfrm>
          <a:prstGeom prst="roundRect">
            <a:avLst>
              <a:gd name="adj" fmla="val 7353"/>
            </a:avLst>
          </a:prstGeom>
          <a:solidFill>
            <a:schemeClr val="tx2"/>
          </a:solidFill>
          <a:ln w="9525">
            <a:solidFill>
              <a:schemeClr val="tx2"/>
            </a:solidFill>
            <a:prstDash val="solid"/>
          </a:ln>
        </p:spPr>
      </p:sp>
      <p:sp>
        <p:nvSpPr>
          <p:cNvPr id="4" name="message box"/>
          <p:cNvSpPr/>
          <p:nvPr/>
        </p:nvSpPr>
        <p:spPr>
          <a:xfrm>
            <a:off x="868680" y="1600200"/>
            <a:ext cx="2834640" cy="640080"/>
          </a:xfrm>
          <a:prstGeom prst="roundRect">
            <a:avLst>
              <a:gd name="adj" fmla="val 14286"/>
            </a:avLst>
          </a:prstGeom>
          <a:solidFill>
            <a:schemeClr val="bg1"/>
          </a:solidFill>
          <a:ln w="9525">
            <a:solidFill>
              <a:schemeClr val="bg1"/>
            </a:solidFill>
            <a:prstDash val="solid"/>
          </a:ln>
        </p:spPr>
      </p:sp>
      <p:sp>
        <p:nvSpPr>
          <p:cNvPr id="5" name="Text 3"/>
          <p:cNvSpPr txBox="1"/>
          <p:nvPr/>
        </p:nvSpPr>
        <p:spPr>
          <a:xfrm>
            <a:off x="1005840" y="1600200"/>
            <a:ext cx="2651760" cy="640080"/>
          </a:xfrm>
          <a:prstGeom prst="rect">
            <a:avLst/>
          </a:prstGeom>
          <a:noFill/>
          <a:ln/>
        </p:spPr>
        <p:txBody>
          <a:bodyPr wrap="square" lIns="0" tIns="0" rIns="0" bIns="0" rtlCol="0" anchor="ctr"/>
          <a:lstStyle/>
          <a:p>
            <a:pPr indent="0" marL="0">
              <a:buNone/>
            </a:pPr>
            <a:r>
              <a:rPr lang="en-US" sz="1600" dirty="0">
                <a:solidFill>
                  <a:schemeClr val="tx1"/>
                </a:solidFill>
              </a:rPr>
              <a:t>Good morning, how are</a:t>
            </a:r>
            <a:endParaRPr lang="en-US" sz="1600" dirty="0"/>
          </a:p>
        </p:txBody>
      </p:sp>
      <p:sp>
        <p:nvSpPr>
          <p:cNvPr id="6" name="chip you"/>
          <p:cNvSpPr/>
          <p:nvPr/>
        </p:nvSpPr>
        <p:spPr>
          <a:xfrm>
            <a:off x="868680" y="2606040"/>
            <a:ext cx="868680" cy="457200"/>
          </a:xfrm>
          <a:prstGeom prst="roundRect">
            <a:avLst>
              <a:gd name="adj" fmla="val 20000"/>
            </a:avLst>
          </a:prstGeom>
          <a:solidFill>
            <a:schemeClr val="accent1"/>
          </a:solidFill>
          <a:ln w="9525">
            <a:solidFill>
              <a:schemeClr val="accent1"/>
            </a:solidFill>
            <a:prstDash val="solid"/>
          </a:ln>
        </p:spPr>
      </p:sp>
      <p:sp>
        <p:nvSpPr>
          <p:cNvPr id="7" name="Text 5"/>
          <p:cNvSpPr txBox="1"/>
          <p:nvPr/>
        </p:nvSpPr>
        <p:spPr>
          <a:xfrm>
            <a:off x="868680" y="2606040"/>
            <a:ext cx="868680" cy="457200"/>
          </a:xfrm>
          <a:prstGeom prst="rect">
            <a:avLst/>
          </a:prstGeom>
          <a:noFill/>
          <a:ln/>
        </p:spPr>
        <p:txBody>
          <a:bodyPr wrap="square" lIns="0" tIns="0" rIns="0" bIns="0" rtlCol="0" anchor="ctr"/>
          <a:lstStyle/>
          <a:p>
            <a:pPr algn="ctr" indent="0" marL="0">
              <a:buNone/>
            </a:pPr>
            <a:r>
              <a:rPr lang="en-US" sz="1600" b="1" dirty="0">
                <a:solidFill>
                  <a:schemeClr val="bg1"/>
                </a:solidFill>
              </a:rPr>
              <a:t>you</a:t>
            </a:r>
            <a:endParaRPr lang="en-US" sz="1600" dirty="0"/>
          </a:p>
        </p:txBody>
      </p:sp>
      <p:sp>
        <p:nvSpPr>
          <p:cNvPr id="8" name="chip things"/>
          <p:cNvSpPr/>
          <p:nvPr/>
        </p:nvSpPr>
        <p:spPr>
          <a:xfrm>
            <a:off x="1847088" y="2606040"/>
            <a:ext cx="868680" cy="457200"/>
          </a:xfrm>
          <a:prstGeom prst="roundRect">
            <a:avLst>
              <a:gd name="adj" fmla="val 20000"/>
            </a:avLst>
          </a:prstGeom>
          <a:solidFill>
            <a:schemeClr val="accent1"/>
          </a:solidFill>
          <a:ln w="9525">
            <a:solidFill>
              <a:schemeClr val="accent1"/>
            </a:solidFill>
            <a:prstDash val="solid"/>
          </a:ln>
        </p:spPr>
      </p:sp>
      <p:sp>
        <p:nvSpPr>
          <p:cNvPr id="9" name="Text 7"/>
          <p:cNvSpPr txBox="1"/>
          <p:nvPr/>
        </p:nvSpPr>
        <p:spPr>
          <a:xfrm>
            <a:off x="1847088" y="2606040"/>
            <a:ext cx="868680" cy="457200"/>
          </a:xfrm>
          <a:prstGeom prst="rect">
            <a:avLst/>
          </a:prstGeom>
          <a:noFill/>
          <a:ln/>
        </p:spPr>
        <p:txBody>
          <a:bodyPr wrap="square" lIns="0" tIns="0" rIns="0" bIns="0" rtlCol="0" anchor="ctr"/>
          <a:lstStyle/>
          <a:p>
            <a:pPr algn="ctr" indent="0" marL="0">
              <a:buNone/>
            </a:pPr>
            <a:r>
              <a:rPr lang="en-US" sz="1600" b="1" dirty="0">
                <a:solidFill>
                  <a:schemeClr val="bg1"/>
                </a:solidFill>
              </a:rPr>
              <a:t>things</a:t>
            </a:r>
            <a:endParaRPr lang="en-US" sz="1600" dirty="0"/>
          </a:p>
        </p:txBody>
      </p:sp>
      <p:sp>
        <p:nvSpPr>
          <p:cNvPr id="10" name="chip the"/>
          <p:cNvSpPr/>
          <p:nvPr/>
        </p:nvSpPr>
        <p:spPr>
          <a:xfrm>
            <a:off x="2825496" y="2606040"/>
            <a:ext cx="868680" cy="457200"/>
          </a:xfrm>
          <a:prstGeom prst="roundRect">
            <a:avLst>
              <a:gd name="adj" fmla="val 20000"/>
            </a:avLst>
          </a:prstGeom>
          <a:solidFill>
            <a:schemeClr val="accent1"/>
          </a:solidFill>
          <a:ln w="9525">
            <a:solidFill>
              <a:schemeClr val="accent1"/>
            </a:solidFill>
            <a:prstDash val="solid"/>
          </a:ln>
        </p:spPr>
      </p:sp>
      <p:sp>
        <p:nvSpPr>
          <p:cNvPr id="11" name="Text 9"/>
          <p:cNvSpPr txBox="1"/>
          <p:nvPr/>
        </p:nvSpPr>
        <p:spPr>
          <a:xfrm>
            <a:off x="2825496" y="2606040"/>
            <a:ext cx="868680" cy="457200"/>
          </a:xfrm>
          <a:prstGeom prst="rect">
            <a:avLst/>
          </a:prstGeom>
          <a:noFill/>
          <a:ln/>
        </p:spPr>
        <p:txBody>
          <a:bodyPr wrap="square" lIns="0" tIns="0" rIns="0" bIns="0" rtlCol="0" anchor="ctr"/>
          <a:lstStyle/>
          <a:p>
            <a:pPr algn="ctr" indent="0" marL="0">
              <a:buNone/>
            </a:pPr>
            <a:r>
              <a:rPr lang="en-US" sz="1600" b="1" dirty="0">
                <a:solidFill>
                  <a:schemeClr val="bg1"/>
                </a:solidFill>
              </a:rPr>
              <a:t>the</a:t>
            </a:r>
            <a:endParaRPr lang="en-US" sz="1600" dirty="0"/>
          </a:p>
        </p:txBody>
      </p:sp>
      <p:sp>
        <p:nvSpPr>
          <p:cNvPr id="12" name="Text 10"/>
          <p:cNvSpPr txBox="1"/>
          <p:nvPr/>
        </p:nvSpPr>
        <p:spPr>
          <a:xfrm>
            <a:off x="868680" y="3200400"/>
            <a:ext cx="2834640" cy="274320"/>
          </a:xfrm>
          <a:prstGeom prst="rect">
            <a:avLst/>
          </a:prstGeom>
          <a:noFill/>
          <a:ln/>
        </p:spPr>
        <p:txBody>
          <a:bodyPr wrap="square" lIns="0" tIns="0" rIns="0" bIns="0" rtlCol="0" anchor="t"/>
          <a:lstStyle/>
          <a:p>
            <a:pPr indent="0" marL="0">
              <a:buNone/>
            </a:pPr>
            <a:r>
              <a:rPr lang="en-US" sz="1200" dirty="0">
                <a:solidFill>
                  <a:schemeClr val="bg2"/>
                </a:solidFill>
              </a:rPr>
              <a:t>Your phone's suggestions</a:t>
            </a:r>
            <a:endParaRPr lang="en-US" sz="1200" dirty="0"/>
          </a:p>
        </p:txBody>
      </p:sp>
      <p:sp>
        <p:nvSpPr>
          <p:cNvPr id="13" name="Text 11"/>
          <p:cNvSpPr txBox="1"/>
          <p:nvPr/>
        </p:nvSpPr>
        <p:spPr>
          <a:xfrm>
            <a:off x="4572000" y="1371600"/>
            <a:ext cx="4114800" cy="1005840"/>
          </a:xfrm>
          <a:prstGeom prst="rect">
            <a:avLst/>
          </a:prstGeom>
          <a:noFill/>
          <a:ln/>
        </p:spPr>
        <p:txBody>
          <a:bodyPr wrap="square" lIns="0" tIns="0" rIns="0" bIns="0" rtlCol="0" anchor="t"/>
          <a:lstStyle/>
          <a:p>
            <a:pPr indent="0" marL="0">
              <a:buNone/>
            </a:pPr>
            <a:r>
              <a:rPr lang="en-US" sz="2600" b="1" dirty="0">
                <a:solidFill>
                  <a:schemeClr val="tx2"/>
                </a:solidFill>
              </a:rPr>
              <a:t>Your phone guesses the next word.</a:t>
            </a:r>
            <a:endParaRPr lang="en-US" sz="2600" dirty="0"/>
          </a:p>
        </p:txBody>
      </p:sp>
      <p:sp>
        <p:nvSpPr>
          <p:cNvPr id="14" name="Text 12"/>
          <p:cNvSpPr txBox="1"/>
          <p:nvPr/>
        </p:nvSpPr>
        <p:spPr>
          <a:xfrm>
            <a:off x="4572000" y="2514600"/>
            <a:ext cx="4114800" cy="1188720"/>
          </a:xfrm>
          <a:prstGeom prst="rect">
            <a:avLst/>
          </a:prstGeom>
          <a:noFill/>
          <a:ln/>
        </p:spPr>
        <p:txBody>
          <a:bodyPr wrap="square" lIns="0" tIns="0" rIns="0" bIns="0" rtlCol="0" anchor="t"/>
          <a:lstStyle/>
          <a:p>
            <a:pPr indent="0" marL="0">
              <a:buNone/>
            </a:pPr>
            <a:r>
              <a:rPr lang="en-US" sz="1700" dirty="0">
                <a:solidFill>
                  <a:schemeClr val="tx1"/>
                </a:solidFill>
              </a:rPr>
              <a:t>An LLM does the same job, but it has read a huge amount of text, so its guesses are far smarter.</a:t>
            </a:r>
            <a:endParaRPr lang="en-US" sz="1700" dirty="0"/>
          </a:p>
        </p:txBody>
      </p:sp>
      <p:sp>
        <p:nvSpPr>
          <p:cNvPr id="15" name="chip Think: autocomplete, supercharged"/>
          <p:cNvSpPr/>
          <p:nvPr/>
        </p:nvSpPr>
        <p:spPr>
          <a:xfrm>
            <a:off x="4572000" y="3886200"/>
            <a:ext cx="4114800" cy="548640"/>
          </a:xfrm>
          <a:prstGeom prst="roundRect">
            <a:avLst>
              <a:gd name="adj" fmla="val 16667"/>
            </a:avLst>
          </a:prstGeom>
          <a:solidFill>
            <a:schemeClr val="accent2"/>
          </a:solidFill>
          <a:ln w="9525">
            <a:solidFill>
              <a:schemeClr val="accent2"/>
            </a:solidFill>
            <a:prstDash val="solid"/>
          </a:ln>
        </p:spPr>
      </p:sp>
      <p:sp>
        <p:nvSpPr>
          <p:cNvPr id="16" name="Text 14"/>
          <p:cNvSpPr txBox="1"/>
          <p:nvPr/>
        </p:nvSpPr>
        <p:spPr>
          <a:xfrm>
            <a:off x="4572000" y="3886200"/>
            <a:ext cx="4114800" cy="548640"/>
          </a:xfrm>
          <a:prstGeom prst="rect">
            <a:avLst/>
          </a:prstGeom>
          <a:noFill/>
          <a:ln/>
        </p:spPr>
        <p:txBody>
          <a:bodyPr wrap="square" lIns="0" tIns="0" rIns="0" bIns="0" rtlCol="0" anchor="ctr"/>
          <a:lstStyle/>
          <a:p>
            <a:pPr algn="ctr" indent="0" marL="0">
              <a:buNone/>
            </a:pPr>
            <a:r>
              <a:rPr lang="en-US" sz="1600" b="1" dirty="0">
                <a:solidFill>
                  <a:schemeClr val="bg1"/>
                </a:solidFill>
              </a:rPr>
              <a:t>Think: autocomplete, supercharged</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600" b="1" dirty="0">
                <a:solidFill>
                  <a:schemeClr val="tx2"/>
                </a:solidFill>
              </a:rPr>
              <a:t>What is an LLM?</a:t>
            </a:r>
            <a:endParaRPr lang="en-US" sz="3600" dirty="0"/>
          </a:p>
        </p:txBody>
      </p:sp>
      <p:sp>
        <p:nvSpPr>
          <p:cNvPr id="3" name="Text 1"/>
          <p:cNvSpPr txBox="1"/>
          <p:nvPr/>
        </p:nvSpPr>
        <p:spPr>
          <a:xfrm>
            <a:off x="457200" y="1188720"/>
            <a:ext cx="8229600" cy="914400"/>
          </a:xfrm>
          <a:prstGeom prst="rect">
            <a:avLst/>
          </a:prstGeom>
          <a:noFill/>
          <a:ln/>
        </p:spPr>
        <p:txBody>
          <a:bodyPr wrap="square" lIns="0" tIns="0" rIns="0" bIns="0" rtlCol="0" anchor="t"/>
          <a:lstStyle/>
          <a:p>
            <a:pPr indent="0" marL="0">
              <a:buNone/>
            </a:pPr>
            <a:r>
              <a:rPr lang="en-US" sz="2200" b="1" dirty="0">
                <a:solidFill>
                  <a:schemeClr val="tx1"/>
                </a:solidFill>
              </a:rPr>
              <a:t>A program that has read a huge amount of text and learned to guess what comes next.</a:t>
            </a:r>
            <a:endParaRPr lang="en-US" sz="2200" dirty="0"/>
          </a:p>
        </p:txBody>
      </p:sp>
      <p:sp>
        <p:nvSpPr>
          <p:cNvPr id="4" name="llm card 1"/>
          <p:cNvSpPr/>
          <p:nvPr/>
        </p:nvSpPr>
        <p:spPr>
          <a:xfrm>
            <a:off x="457200" y="2377440"/>
            <a:ext cx="2560320" cy="2103120"/>
          </a:xfrm>
          <a:prstGeom prst="roundRect">
            <a:avLst>
              <a:gd name="adj" fmla="val 5217"/>
            </a:avLst>
          </a:prstGeom>
          <a:solidFill>
            <a:schemeClr val="bg2"/>
          </a:solidFill>
          <a:ln w="9525">
            <a:solidFill>
              <a:schemeClr val="bg2"/>
            </a:solidFill>
            <a:prstDash val="solid"/>
          </a:ln>
        </p:spPr>
      </p:sp>
      <p:sp>
        <p:nvSpPr>
          <p:cNvPr id="5" name="Text 3"/>
          <p:cNvSpPr txBox="1"/>
          <p:nvPr/>
        </p:nvSpPr>
        <p:spPr>
          <a:xfrm>
            <a:off x="685800" y="2560320"/>
            <a:ext cx="2103120" cy="411480"/>
          </a:xfrm>
          <a:prstGeom prst="rect">
            <a:avLst/>
          </a:prstGeom>
          <a:noFill/>
          <a:ln/>
        </p:spPr>
        <p:txBody>
          <a:bodyPr wrap="square" lIns="0" tIns="0" rIns="0" bIns="0" rtlCol="0" anchor="t"/>
          <a:lstStyle/>
          <a:p>
            <a:pPr indent="0" marL="0">
              <a:buNone/>
            </a:pPr>
            <a:r>
              <a:rPr lang="en-US" sz="2000" b="1" dirty="0">
                <a:solidFill>
                  <a:schemeClr val="accent1"/>
                </a:solidFill>
              </a:rPr>
              <a:t>L · Large</a:t>
            </a:r>
            <a:endParaRPr lang="en-US" sz="2000" dirty="0"/>
          </a:p>
        </p:txBody>
      </p:sp>
      <p:sp>
        <p:nvSpPr>
          <p:cNvPr id="6" name="Text 4"/>
          <p:cNvSpPr txBox="1"/>
          <p:nvPr/>
        </p:nvSpPr>
        <p:spPr>
          <a:xfrm>
            <a:off x="685800" y="3108960"/>
            <a:ext cx="2103120" cy="1188720"/>
          </a:xfrm>
          <a:prstGeom prst="rect">
            <a:avLst/>
          </a:prstGeom>
          <a:noFill/>
          <a:ln/>
        </p:spPr>
        <p:txBody>
          <a:bodyPr wrap="square" lIns="0" tIns="0" rIns="0" bIns="0" rtlCol="0" anchor="t"/>
          <a:lstStyle/>
          <a:p>
            <a:pPr indent="0" marL="0">
              <a:buNone/>
            </a:pPr>
            <a:r>
              <a:rPr lang="en-US" sz="1600" dirty="0">
                <a:solidFill>
                  <a:schemeClr val="tx1"/>
                </a:solidFill>
              </a:rPr>
              <a:t>Trained on billions of words from books, websites and more</a:t>
            </a:r>
            <a:endParaRPr lang="en-US" sz="1600" dirty="0"/>
          </a:p>
        </p:txBody>
      </p:sp>
      <p:sp>
        <p:nvSpPr>
          <p:cNvPr id="7" name="llm card 2"/>
          <p:cNvSpPr/>
          <p:nvPr/>
        </p:nvSpPr>
        <p:spPr>
          <a:xfrm>
            <a:off x="3291840" y="2377440"/>
            <a:ext cx="2560320" cy="2103120"/>
          </a:xfrm>
          <a:prstGeom prst="roundRect">
            <a:avLst>
              <a:gd name="adj" fmla="val 5217"/>
            </a:avLst>
          </a:prstGeom>
          <a:solidFill>
            <a:schemeClr val="bg2"/>
          </a:solidFill>
          <a:ln w="9525">
            <a:solidFill>
              <a:schemeClr val="bg2"/>
            </a:solidFill>
            <a:prstDash val="solid"/>
          </a:ln>
        </p:spPr>
      </p:sp>
      <p:sp>
        <p:nvSpPr>
          <p:cNvPr id="8" name="Text 6"/>
          <p:cNvSpPr txBox="1"/>
          <p:nvPr/>
        </p:nvSpPr>
        <p:spPr>
          <a:xfrm>
            <a:off x="3520440" y="2560320"/>
            <a:ext cx="2103120" cy="411480"/>
          </a:xfrm>
          <a:prstGeom prst="rect">
            <a:avLst/>
          </a:prstGeom>
          <a:noFill/>
          <a:ln/>
        </p:spPr>
        <p:txBody>
          <a:bodyPr wrap="square" lIns="0" tIns="0" rIns="0" bIns="0" rtlCol="0" anchor="t"/>
          <a:lstStyle/>
          <a:p>
            <a:pPr indent="0" marL="0">
              <a:buNone/>
            </a:pPr>
            <a:r>
              <a:rPr lang="en-US" sz="2000" b="1" dirty="0">
                <a:solidFill>
                  <a:schemeClr val="accent1"/>
                </a:solidFill>
              </a:rPr>
              <a:t>L · Language</a:t>
            </a:r>
            <a:endParaRPr lang="en-US" sz="2000" dirty="0"/>
          </a:p>
        </p:txBody>
      </p:sp>
      <p:sp>
        <p:nvSpPr>
          <p:cNvPr id="9" name="Text 7"/>
          <p:cNvSpPr txBox="1"/>
          <p:nvPr/>
        </p:nvSpPr>
        <p:spPr>
          <a:xfrm>
            <a:off x="3520440" y="3108960"/>
            <a:ext cx="2103120" cy="1188720"/>
          </a:xfrm>
          <a:prstGeom prst="rect">
            <a:avLst/>
          </a:prstGeom>
          <a:noFill/>
          <a:ln/>
        </p:spPr>
        <p:txBody>
          <a:bodyPr wrap="square" lIns="0" tIns="0" rIns="0" bIns="0" rtlCol="0" anchor="t"/>
          <a:lstStyle/>
          <a:p>
            <a:pPr indent="0" marL="0">
              <a:buNone/>
            </a:pPr>
            <a:r>
              <a:rPr lang="en-US" sz="1600" dirty="0">
                <a:solidFill>
                  <a:schemeClr val="tx1"/>
                </a:solidFill>
              </a:rPr>
              <a:t>It works with words: reading, writing, translating</a:t>
            </a:r>
            <a:endParaRPr lang="en-US" sz="1600" dirty="0"/>
          </a:p>
        </p:txBody>
      </p:sp>
      <p:sp>
        <p:nvSpPr>
          <p:cNvPr id="10" name="llm card 3"/>
          <p:cNvSpPr/>
          <p:nvPr/>
        </p:nvSpPr>
        <p:spPr>
          <a:xfrm>
            <a:off x="6126480" y="2377440"/>
            <a:ext cx="2560320" cy="2103120"/>
          </a:xfrm>
          <a:prstGeom prst="roundRect">
            <a:avLst>
              <a:gd name="adj" fmla="val 5217"/>
            </a:avLst>
          </a:prstGeom>
          <a:solidFill>
            <a:schemeClr val="bg2"/>
          </a:solidFill>
          <a:ln w="9525">
            <a:solidFill>
              <a:schemeClr val="bg2"/>
            </a:solidFill>
            <a:prstDash val="solid"/>
          </a:ln>
        </p:spPr>
      </p:sp>
      <p:sp>
        <p:nvSpPr>
          <p:cNvPr id="11" name="Text 9"/>
          <p:cNvSpPr txBox="1"/>
          <p:nvPr/>
        </p:nvSpPr>
        <p:spPr>
          <a:xfrm>
            <a:off x="6355080" y="2560320"/>
            <a:ext cx="2103120" cy="411480"/>
          </a:xfrm>
          <a:prstGeom prst="rect">
            <a:avLst/>
          </a:prstGeom>
          <a:noFill/>
          <a:ln/>
        </p:spPr>
        <p:txBody>
          <a:bodyPr wrap="square" lIns="0" tIns="0" rIns="0" bIns="0" rtlCol="0" anchor="t"/>
          <a:lstStyle/>
          <a:p>
            <a:pPr indent="0" marL="0">
              <a:buNone/>
            </a:pPr>
            <a:r>
              <a:rPr lang="en-US" sz="2000" b="1" dirty="0">
                <a:solidFill>
                  <a:schemeClr val="accent1"/>
                </a:solidFill>
              </a:rPr>
              <a:t>M · Model</a:t>
            </a:r>
            <a:endParaRPr lang="en-US" sz="2000" dirty="0"/>
          </a:p>
        </p:txBody>
      </p:sp>
      <p:sp>
        <p:nvSpPr>
          <p:cNvPr id="12" name="Text 10"/>
          <p:cNvSpPr txBox="1"/>
          <p:nvPr/>
        </p:nvSpPr>
        <p:spPr>
          <a:xfrm>
            <a:off x="6355080" y="3108960"/>
            <a:ext cx="2103120" cy="1188720"/>
          </a:xfrm>
          <a:prstGeom prst="rect">
            <a:avLst/>
          </a:prstGeom>
          <a:noFill/>
          <a:ln/>
        </p:spPr>
        <p:txBody>
          <a:bodyPr wrap="square" lIns="0" tIns="0" rIns="0" bIns="0" rtlCol="0" anchor="t"/>
          <a:lstStyle/>
          <a:p>
            <a:pPr indent="0" marL="0">
              <a:buNone/>
            </a:pPr>
            <a:r>
              <a:rPr lang="en-US" sz="1600" dirty="0">
                <a:solidFill>
                  <a:schemeClr val="tx1"/>
                </a:solidFill>
              </a:rPr>
              <a:t>A pattern-maker the computer learned. Not a person, not a brain</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600" b="1" dirty="0">
                <a:solidFill>
                  <a:schemeClr val="tx2"/>
                </a:solidFill>
              </a:rPr>
              <a:t>How it writes an answer</a:t>
            </a:r>
            <a:endParaRPr lang="en-US" sz="3600" dirty="0"/>
          </a:p>
        </p:txBody>
      </p:sp>
      <p:sp>
        <p:nvSpPr>
          <p:cNvPr id="3" name="chip The"/>
          <p:cNvSpPr/>
          <p:nvPr/>
        </p:nvSpPr>
        <p:spPr>
          <a:xfrm>
            <a:off x="868680" y="1463040"/>
            <a:ext cx="1005840" cy="640080"/>
          </a:xfrm>
          <a:prstGeom prst="roundRect">
            <a:avLst>
              <a:gd name="adj" fmla="val 14286"/>
            </a:avLst>
          </a:prstGeom>
          <a:solidFill>
            <a:schemeClr val="accent4"/>
          </a:solidFill>
          <a:ln w="9525">
            <a:solidFill>
              <a:schemeClr val="accent4"/>
            </a:solidFill>
            <a:prstDash val="solid"/>
          </a:ln>
        </p:spPr>
      </p:sp>
      <p:sp>
        <p:nvSpPr>
          <p:cNvPr id="4" name="Text 2"/>
          <p:cNvSpPr txBox="1"/>
          <p:nvPr/>
        </p:nvSpPr>
        <p:spPr>
          <a:xfrm>
            <a:off x="868680" y="1463040"/>
            <a:ext cx="1005840" cy="640080"/>
          </a:xfrm>
          <a:prstGeom prst="rect">
            <a:avLst/>
          </a:prstGeom>
          <a:noFill/>
          <a:ln/>
        </p:spPr>
        <p:txBody>
          <a:bodyPr wrap="square" lIns="0" tIns="0" rIns="0" bIns="0" rtlCol="0" anchor="ctr"/>
          <a:lstStyle/>
          <a:p>
            <a:pPr algn="ctr" indent="0" marL="0">
              <a:buNone/>
            </a:pPr>
            <a:r>
              <a:rPr lang="en-US" sz="1800" b="1" dirty="0">
                <a:solidFill>
                  <a:schemeClr val="bg1"/>
                </a:solidFill>
              </a:rPr>
              <a:t>The</a:t>
            </a:r>
            <a:endParaRPr lang="en-US" sz="1800" dirty="0"/>
          </a:p>
        </p:txBody>
      </p:sp>
      <p:sp>
        <p:nvSpPr>
          <p:cNvPr id="5" name="arrow"/>
          <p:cNvSpPr/>
          <p:nvPr/>
        </p:nvSpPr>
        <p:spPr>
          <a:xfrm>
            <a:off x="1901952" y="1783080"/>
            <a:ext cx="219456" cy="0"/>
          </a:xfrm>
          <a:prstGeom prst="line">
            <a:avLst/>
          </a:prstGeom>
          <a:noFill/>
          <a:ln w="31750">
            <a:solidFill>
              <a:schemeClr val="tx2"/>
            </a:solidFill>
            <a:prstDash val="solid"/>
            <a:tailEnd type="triangle"/>
          </a:ln>
        </p:spPr>
      </p:sp>
      <p:sp>
        <p:nvSpPr>
          <p:cNvPr id="6" name="chip sun"/>
          <p:cNvSpPr/>
          <p:nvPr/>
        </p:nvSpPr>
        <p:spPr>
          <a:xfrm>
            <a:off x="2148840" y="1463040"/>
            <a:ext cx="1005840" cy="640080"/>
          </a:xfrm>
          <a:prstGeom prst="roundRect">
            <a:avLst>
              <a:gd name="adj" fmla="val 14286"/>
            </a:avLst>
          </a:prstGeom>
          <a:solidFill>
            <a:schemeClr val="accent1"/>
          </a:solidFill>
          <a:ln w="9525">
            <a:solidFill>
              <a:schemeClr val="accent1"/>
            </a:solidFill>
            <a:prstDash val="solid"/>
          </a:ln>
        </p:spPr>
      </p:sp>
      <p:sp>
        <p:nvSpPr>
          <p:cNvPr id="7" name="Text 5"/>
          <p:cNvSpPr txBox="1"/>
          <p:nvPr/>
        </p:nvSpPr>
        <p:spPr>
          <a:xfrm>
            <a:off x="2148840" y="1463040"/>
            <a:ext cx="1005840" cy="640080"/>
          </a:xfrm>
          <a:prstGeom prst="rect">
            <a:avLst/>
          </a:prstGeom>
          <a:noFill/>
          <a:ln/>
        </p:spPr>
        <p:txBody>
          <a:bodyPr wrap="square" lIns="0" tIns="0" rIns="0" bIns="0" rtlCol="0" anchor="ctr"/>
          <a:lstStyle/>
          <a:p>
            <a:pPr algn="ctr" indent="0" marL="0">
              <a:buNone/>
            </a:pPr>
            <a:r>
              <a:rPr lang="en-US" sz="1800" b="1" dirty="0">
                <a:solidFill>
                  <a:schemeClr val="bg1"/>
                </a:solidFill>
              </a:rPr>
              <a:t>sun</a:t>
            </a:r>
            <a:endParaRPr lang="en-US" sz="1800" dirty="0"/>
          </a:p>
        </p:txBody>
      </p:sp>
      <p:sp>
        <p:nvSpPr>
          <p:cNvPr id="8" name="arrow"/>
          <p:cNvSpPr/>
          <p:nvPr/>
        </p:nvSpPr>
        <p:spPr>
          <a:xfrm>
            <a:off x="3182112" y="1783080"/>
            <a:ext cx="219456" cy="0"/>
          </a:xfrm>
          <a:prstGeom prst="line">
            <a:avLst/>
          </a:prstGeom>
          <a:noFill/>
          <a:ln w="31750">
            <a:solidFill>
              <a:schemeClr val="tx2"/>
            </a:solidFill>
            <a:prstDash val="solid"/>
            <a:tailEnd type="triangle"/>
          </a:ln>
        </p:spPr>
      </p:sp>
      <p:sp>
        <p:nvSpPr>
          <p:cNvPr id="9" name="chip rises"/>
          <p:cNvSpPr/>
          <p:nvPr/>
        </p:nvSpPr>
        <p:spPr>
          <a:xfrm>
            <a:off x="3429000" y="1463040"/>
            <a:ext cx="1005840" cy="640080"/>
          </a:xfrm>
          <a:prstGeom prst="roundRect">
            <a:avLst>
              <a:gd name="adj" fmla="val 14286"/>
            </a:avLst>
          </a:prstGeom>
          <a:solidFill>
            <a:schemeClr val="accent1"/>
          </a:solidFill>
          <a:ln w="9525">
            <a:solidFill>
              <a:schemeClr val="accent1"/>
            </a:solidFill>
            <a:prstDash val="solid"/>
          </a:ln>
        </p:spPr>
      </p:sp>
      <p:sp>
        <p:nvSpPr>
          <p:cNvPr id="10" name="Text 8"/>
          <p:cNvSpPr txBox="1"/>
          <p:nvPr/>
        </p:nvSpPr>
        <p:spPr>
          <a:xfrm>
            <a:off x="3429000" y="1463040"/>
            <a:ext cx="1005840" cy="640080"/>
          </a:xfrm>
          <a:prstGeom prst="rect">
            <a:avLst/>
          </a:prstGeom>
          <a:noFill/>
          <a:ln/>
        </p:spPr>
        <p:txBody>
          <a:bodyPr wrap="square" lIns="0" tIns="0" rIns="0" bIns="0" rtlCol="0" anchor="ctr"/>
          <a:lstStyle/>
          <a:p>
            <a:pPr algn="ctr" indent="0" marL="0">
              <a:buNone/>
            </a:pPr>
            <a:r>
              <a:rPr lang="en-US" sz="1800" b="1" dirty="0">
                <a:solidFill>
                  <a:schemeClr val="bg1"/>
                </a:solidFill>
              </a:rPr>
              <a:t>rises</a:t>
            </a:r>
            <a:endParaRPr lang="en-US" sz="1800" dirty="0"/>
          </a:p>
        </p:txBody>
      </p:sp>
      <p:sp>
        <p:nvSpPr>
          <p:cNvPr id="11" name="arrow"/>
          <p:cNvSpPr/>
          <p:nvPr/>
        </p:nvSpPr>
        <p:spPr>
          <a:xfrm>
            <a:off x="4462272" y="1783080"/>
            <a:ext cx="219456" cy="0"/>
          </a:xfrm>
          <a:prstGeom prst="line">
            <a:avLst/>
          </a:prstGeom>
          <a:noFill/>
          <a:ln w="31750">
            <a:solidFill>
              <a:schemeClr val="tx2"/>
            </a:solidFill>
            <a:prstDash val="solid"/>
            <a:tailEnd type="triangle"/>
          </a:ln>
        </p:spPr>
      </p:sp>
      <p:sp>
        <p:nvSpPr>
          <p:cNvPr id="12" name="chip in"/>
          <p:cNvSpPr/>
          <p:nvPr/>
        </p:nvSpPr>
        <p:spPr>
          <a:xfrm>
            <a:off x="4709160" y="1463040"/>
            <a:ext cx="1005840" cy="640080"/>
          </a:xfrm>
          <a:prstGeom prst="roundRect">
            <a:avLst>
              <a:gd name="adj" fmla="val 14286"/>
            </a:avLst>
          </a:prstGeom>
          <a:solidFill>
            <a:schemeClr val="accent1"/>
          </a:solidFill>
          <a:ln w="9525">
            <a:solidFill>
              <a:schemeClr val="accent1"/>
            </a:solidFill>
            <a:prstDash val="solid"/>
          </a:ln>
        </p:spPr>
      </p:sp>
      <p:sp>
        <p:nvSpPr>
          <p:cNvPr id="13" name="Text 11"/>
          <p:cNvSpPr txBox="1"/>
          <p:nvPr/>
        </p:nvSpPr>
        <p:spPr>
          <a:xfrm>
            <a:off x="4709160" y="1463040"/>
            <a:ext cx="1005840" cy="640080"/>
          </a:xfrm>
          <a:prstGeom prst="rect">
            <a:avLst/>
          </a:prstGeom>
          <a:noFill/>
          <a:ln/>
        </p:spPr>
        <p:txBody>
          <a:bodyPr wrap="square" lIns="0" tIns="0" rIns="0" bIns="0" rtlCol="0" anchor="ctr"/>
          <a:lstStyle/>
          <a:p>
            <a:pPr algn="ctr" indent="0" marL="0">
              <a:buNone/>
            </a:pPr>
            <a:r>
              <a:rPr lang="en-US" sz="1800" b="1" dirty="0">
                <a:solidFill>
                  <a:schemeClr val="bg1"/>
                </a:solidFill>
              </a:rPr>
              <a:t>in</a:t>
            </a:r>
            <a:endParaRPr lang="en-US" sz="1800" dirty="0"/>
          </a:p>
        </p:txBody>
      </p:sp>
      <p:sp>
        <p:nvSpPr>
          <p:cNvPr id="14" name="arrow"/>
          <p:cNvSpPr/>
          <p:nvPr/>
        </p:nvSpPr>
        <p:spPr>
          <a:xfrm>
            <a:off x="5742432" y="1783080"/>
            <a:ext cx="219456" cy="0"/>
          </a:xfrm>
          <a:prstGeom prst="line">
            <a:avLst/>
          </a:prstGeom>
          <a:noFill/>
          <a:ln w="31750">
            <a:solidFill>
              <a:schemeClr val="tx2"/>
            </a:solidFill>
            <a:prstDash val="solid"/>
            <a:tailEnd type="triangle"/>
          </a:ln>
        </p:spPr>
      </p:sp>
      <p:sp>
        <p:nvSpPr>
          <p:cNvPr id="15" name="chip the"/>
          <p:cNvSpPr/>
          <p:nvPr/>
        </p:nvSpPr>
        <p:spPr>
          <a:xfrm>
            <a:off x="5989320" y="1463040"/>
            <a:ext cx="1005840" cy="640080"/>
          </a:xfrm>
          <a:prstGeom prst="roundRect">
            <a:avLst>
              <a:gd name="adj" fmla="val 14286"/>
            </a:avLst>
          </a:prstGeom>
          <a:solidFill>
            <a:schemeClr val="accent1"/>
          </a:solidFill>
          <a:ln w="9525">
            <a:solidFill>
              <a:schemeClr val="accent1"/>
            </a:solidFill>
            <a:prstDash val="solid"/>
          </a:ln>
        </p:spPr>
      </p:sp>
      <p:sp>
        <p:nvSpPr>
          <p:cNvPr id="16" name="Text 14"/>
          <p:cNvSpPr txBox="1"/>
          <p:nvPr/>
        </p:nvSpPr>
        <p:spPr>
          <a:xfrm>
            <a:off x="5989320" y="1463040"/>
            <a:ext cx="1005840" cy="640080"/>
          </a:xfrm>
          <a:prstGeom prst="rect">
            <a:avLst/>
          </a:prstGeom>
          <a:noFill/>
          <a:ln/>
        </p:spPr>
        <p:txBody>
          <a:bodyPr wrap="square" lIns="0" tIns="0" rIns="0" bIns="0" rtlCol="0" anchor="ctr"/>
          <a:lstStyle/>
          <a:p>
            <a:pPr algn="ctr" indent="0" marL="0">
              <a:buNone/>
            </a:pPr>
            <a:r>
              <a:rPr lang="en-US" sz="1800" b="1" dirty="0">
                <a:solidFill>
                  <a:schemeClr val="bg1"/>
                </a:solidFill>
              </a:rPr>
              <a:t>the</a:t>
            </a:r>
            <a:endParaRPr lang="en-US" sz="1800" dirty="0"/>
          </a:p>
        </p:txBody>
      </p:sp>
      <p:sp>
        <p:nvSpPr>
          <p:cNvPr id="17" name="arrow"/>
          <p:cNvSpPr/>
          <p:nvPr/>
        </p:nvSpPr>
        <p:spPr>
          <a:xfrm>
            <a:off x="7022592" y="1783080"/>
            <a:ext cx="219456" cy="0"/>
          </a:xfrm>
          <a:prstGeom prst="line">
            <a:avLst/>
          </a:prstGeom>
          <a:noFill/>
          <a:ln w="31750">
            <a:solidFill>
              <a:schemeClr val="tx2"/>
            </a:solidFill>
            <a:prstDash val="solid"/>
            <a:tailEnd type="triangle"/>
          </a:ln>
        </p:spPr>
      </p:sp>
      <p:sp>
        <p:nvSpPr>
          <p:cNvPr id="18" name="chip east"/>
          <p:cNvSpPr/>
          <p:nvPr/>
        </p:nvSpPr>
        <p:spPr>
          <a:xfrm>
            <a:off x="7269480" y="1463040"/>
            <a:ext cx="1005840" cy="640080"/>
          </a:xfrm>
          <a:prstGeom prst="roundRect">
            <a:avLst>
              <a:gd name="adj" fmla="val 14286"/>
            </a:avLst>
          </a:prstGeom>
          <a:solidFill>
            <a:schemeClr val="accent1"/>
          </a:solidFill>
          <a:ln w="9525">
            <a:solidFill>
              <a:schemeClr val="accent1"/>
            </a:solidFill>
            <a:prstDash val="solid"/>
          </a:ln>
        </p:spPr>
      </p:sp>
      <p:sp>
        <p:nvSpPr>
          <p:cNvPr id="19" name="Text 17"/>
          <p:cNvSpPr txBox="1"/>
          <p:nvPr/>
        </p:nvSpPr>
        <p:spPr>
          <a:xfrm>
            <a:off x="7269480" y="1463040"/>
            <a:ext cx="1005840" cy="640080"/>
          </a:xfrm>
          <a:prstGeom prst="rect">
            <a:avLst/>
          </a:prstGeom>
          <a:noFill/>
          <a:ln/>
        </p:spPr>
        <p:txBody>
          <a:bodyPr wrap="square" lIns="0" tIns="0" rIns="0" bIns="0" rtlCol="0" anchor="ctr"/>
          <a:lstStyle/>
          <a:p>
            <a:pPr algn="ctr" indent="0" marL="0">
              <a:buNone/>
            </a:pPr>
            <a:r>
              <a:rPr lang="en-US" sz="1800" b="1" dirty="0">
                <a:solidFill>
                  <a:schemeClr val="bg1"/>
                </a:solidFill>
              </a:rPr>
              <a:t>east</a:t>
            </a:r>
            <a:endParaRPr lang="en-US" sz="1800" dirty="0"/>
          </a:p>
        </p:txBody>
      </p:sp>
      <p:sp>
        <p:nvSpPr>
          <p:cNvPr id="20" name="Text 18"/>
          <p:cNvSpPr txBox="1"/>
          <p:nvPr/>
        </p:nvSpPr>
        <p:spPr>
          <a:xfrm>
            <a:off x="868680" y="2194560"/>
            <a:ext cx="1005840" cy="274320"/>
          </a:xfrm>
          <a:prstGeom prst="rect">
            <a:avLst/>
          </a:prstGeom>
          <a:noFill/>
          <a:ln/>
        </p:spPr>
        <p:txBody>
          <a:bodyPr wrap="square" lIns="0" tIns="0" rIns="0" bIns="0" rtlCol="0" anchor="t"/>
          <a:lstStyle/>
          <a:p>
            <a:pPr algn="ctr" indent="0" marL="0">
              <a:buNone/>
            </a:pPr>
            <a:r>
              <a:rPr lang="en-US" sz="1200" dirty="0">
                <a:solidFill>
                  <a:schemeClr val="tx1"/>
                </a:solidFill>
              </a:rPr>
              <a:t>you wrote this</a:t>
            </a:r>
            <a:endParaRPr lang="en-US" sz="1200" dirty="0"/>
          </a:p>
        </p:txBody>
      </p:sp>
      <p:sp>
        <p:nvSpPr>
          <p:cNvPr id="21" name="Text 19"/>
          <p:cNvSpPr txBox="1"/>
          <p:nvPr/>
        </p:nvSpPr>
        <p:spPr>
          <a:xfrm>
            <a:off x="2148840" y="2194560"/>
            <a:ext cx="6035040" cy="274320"/>
          </a:xfrm>
          <a:prstGeom prst="rect">
            <a:avLst/>
          </a:prstGeom>
          <a:noFill/>
          <a:ln/>
        </p:spPr>
        <p:txBody>
          <a:bodyPr wrap="square" lIns="0" tIns="0" rIns="0" bIns="0" rtlCol="0" anchor="t"/>
          <a:lstStyle/>
          <a:p>
            <a:pPr algn="ctr" indent="0" marL="0">
              <a:buNone/>
            </a:pPr>
            <a:r>
              <a:rPr lang="en-US" sz="1200" dirty="0">
                <a:solidFill>
                  <a:schemeClr val="tx1"/>
                </a:solidFill>
              </a:rPr>
              <a:t>the AI adds one piece at a time</a:t>
            </a:r>
            <a:endParaRPr lang="en-US" sz="1200" dirty="0"/>
          </a:p>
        </p:txBody>
      </p:sp>
      <p:sp>
        <p:nvSpPr>
          <p:cNvPr id="22" name="step card 1"/>
          <p:cNvSpPr/>
          <p:nvPr/>
        </p:nvSpPr>
        <p:spPr>
          <a:xfrm>
            <a:off x="457200" y="2926080"/>
            <a:ext cx="2560320" cy="1463040"/>
          </a:xfrm>
          <a:prstGeom prst="roundRect">
            <a:avLst>
              <a:gd name="adj" fmla="val 7500"/>
            </a:avLst>
          </a:prstGeom>
          <a:solidFill>
            <a:schemeClr val="bg2"/>
          </a:solidFill>
          <a:ln w="9525">
            <a:solidFill>
              <a:schemeClr val="bg2"/>
            </a:solidFill>
            <a:prstDash val="solid"/>
          </a:ln>
        </p:spPr>
      </p:sp>
      <p:sp>
        <p:nvSpPr>
          <p:cNvPr id="23" name="step number 1"/>
          <p:cNvSpPr/>
          <p:nvPr/>
        </p:nvSpPr>
        <p:spPr>
          <a:xfrm>
            <a:off x="685800" y="3154680"/>
            <a:ext cx="548640" cy="548640"/>
          </a:xfrm>
          <a:prstGeom prst="ellipse">
            <a:avLst/>
          </a:prstGeom>
          <a:solidFill>
            <a:schemeClr val="accent2"/>
          </a:solidFill>
          <a:ln w="9525">
            <a:solidFill>
              <a:schemeClr val="accent2"/>
            </a:solidFill>
            <a:prstDash val="solid"/>
          </a:ln>
        </p:spPr>
      </p:sp>
      <p:sp>
        <p:nvSpPr>
          <p:cNvPr id="24" name="Text 22"/>
          <p:cNvSpPr txBox="1"/>
          <p:nvPr/>
        </p:nvSpPr>
        <p:spPr>
          <a:xfrm>
            <a:off x="685800" y="31546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25" name="Text 23"/>
          <p:cNvSpPr txBox="1"/>
          <p:nvPr/>
        </p:nvSpPr>
        <p:spPr>
          <a:xfrm>
            <a:off x="1371600" y="3108960"/>
            <a:ext cx="1463040" cy="1097280"/>
          </a:xfrm>
          <a:prstGeom prst="rect">
            <a:avLst/>
          </a:prstGeom>
          <a:noFill/>
          <a:ln/>
        </p:spPr>
        <p:txBody>
          <a:bodyPr wrap="square" lIns="0" tIns="0" rIns="0" bIns="0" rtlCol="0" anchor="ctr"/>
          <a:lstStyle/>
          <a:p>
            <a:pPr indent="0" marL="0">
              <a:buNone/>
            </a:pPr>
            <a:r>
              <a:rPr lang="en-US" sz="1600" dirty="0">
                <a:solidFill>
                  <a:schemeClr val="tx1"/>
                </a:solidFill>
              </a:rPr>
              <a:t>Read everything so far</a:t>
            </a:r>
            <a:endParaRPr lang="en-US" sz="1600" dirty="0"/>
          </a:p>
        </p:txBody>
      </p:sp>
      <p:sp>
        <p:nvSpPr>
          <p:cNvPr id="26" name="step card 2"/>
          <p:cNvSpPr/>
          <p:nvPr/>
        </p:nvSpPr>
        <p:spPr>
          <a:xfrm>
            <a:off x="3291840" y="2926080"/>
            <a:ext cx="2560320" cy="1463040"/>
          </a:xfrm>
          <a:prstGeom prst="roundRect">
            <a:avLst>
              <a:gd name="adj" fmla="val 7500"/>
            </a:avLst>
          </a:prstGeom>
          <a:solidFill>
            <a:schemeClr val="bg2"/>
          </a:solidFill>
          <a:ln w="9525">
            <a:solidFill>
              <a:schemeClr val="bg2"/>
            </a:solidFill>
            <a:prstDash val="solid"/>
          </a:ln>
        </p:spPr>
      </p:sp>
      <p:sp>
        <p:nvSpPr>
          <p:cNvPr id="27" name="step number 2"/>
          <p:cNvSpPr/>
          <p:nvPr/>
        </p:nvSpPr>
        <p:spPr>
          <a:xfrm>
            <a:off x="3520440" y="3154680"/>
            <a:ext cx="548640" cy="548640"/>
          </a:xfrm>
          <a:prstGeom prst="ellipse">
            <a:avLst/>
          </a:prstGeom>
          <a:solidFill>
            <a:schemeClr val="accent2"/>
          </a:solidFill>
          <a:ln w="9525">
            <a:solidFill>
              <a:schemeClr val="accent2"/>
            </a:solidFill>
            <a:prstDash val="solid"/>
          </a:ln>
        </p:spPr>
      </p:sp>
      <p:sp>
        <p:nvSpPr>
          <p:cNvPr id="28" name="Text 26"/>
          <p:cNvSpPr txBox="1"/>
          <p:nvPr/>
        </p:nvSpPr>
        <p:spPr>
          <a:xfrm>
            <a:off x="3520440" y="31546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29" name="Text 27"/>
          <p:cNvSpPr txBox="1"/>
          <p:nvPr/>
        </p:nvSpPr>
        <p:spPr>
          <a:xfrm>
            <a:off x="4206240" y="3108960"/>
            <a:ext cx="1463040" cy="1097280"/>
          </a:xfrm>
          <a:prstGeom prst="rect">
            <a:avLst/>
          </a:prstGeom>
          <a:noFill/>
          <a:ln/>
        </p:spPr>
        <p:txBody>
          <a:bodyPr wrap="square" lIns="0" tIns="0" rIns="0" bIns="0" rtlCol="0" anchor="ctr"/>
          <a:lstStyle/>
          <a:p>
            <a:pPr indent="0" marL="0">
              <a:buNone/>
            </a:pPr>
            <a:r>
              <a:rPr lang="en-US" sz="1600" dirty="0">
                <a:solidFill>
                  <a:schemeClr val="tx1"/>
                </a:solidFill>
              </a:rPr>
              <a:t>Guess the most likely next piece</a:t>
            </a:r>
            <a:endParaRPr lang="en-US" sz="1600" dirty="0"/>
          </a:p>
        </p:txBody>
      </p:sp>
      <p:sp>
        <p:nvSpPr>
          <p:cNvPr id="30" name="step card 3"/>
          <p:cNvSpPr/>
          <p:nvPr/>
        </p:nvSpPr>
        <p:spPr>
          <a:xfrm>
            <a:off x="6126480" y="2926080"/>
            <a:ext cx="2560320" cy="1463040"/>
          </a:xfrm>
          <a:prstGeom prst="roundRect">
            <a:avLst>
              <a:gd name="adj" fmla="val 7500"/>
            </a:avLst>
          </a:prstGeom>
          <a:solidFill>
            <a:schemeClr val="bg2"/>
          </a:solidFill>
          <a:ln w="9525">
            <a:solidFill>
              <a:schemeClr val="bg2"/>
            </a:solidFill>
            <a:prstDash val="solid"/>
          </a:ln>
        </p:spPr>
      </p:sp>
      <p:sp>
        <p:nvSpPr>
          <p:cNvPr id="31" name="step number 3"/>
          <p:cNvSpPr/>
          <p:nvPr/>
        </p:nvSpPr>
        <p:spPr>
          <a:xfrm>
            <a:off x="6355080" y="3154680"/>
            <a:ext cx="548640" cy="548640"/>
          </a:xfrm>
          <a:prstGeom prst="ellipse">
            <a:avLst/>
          </a:prstGeom>
          <a:solidFill>
            <a:schemeClr val="accent2"/>
          </a:solidFill>
          <a:ln w="9525">
            <a:solidFill>
              <a:schemeClr val="accent2"/>
            </a:solidFill>
            <a:prstDash val="solid"/>
          </a:ln>
        </p:spPr>
      </p:sp>
      <p:sp>
        <p:nvSpPr>
          <p:cNvPr id="32" name="Text 30"/>
          <p:cNvSpPr txBox="1"/>
          <p:nvPr/>
        </p:nvSpPr>
        <p:spPr>
          <a:xfrm>
            <a:off x="6355080" y="31546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33" name="Text 31"/>
          <p:cNvSpPr txBox="1"/>
          <p:nvPr/>
        </p:nvSpPr>
        <p:spPr>
          <a:xfrm>
            <a:off x="7040880" y="3108960"/>
            <a:ext cx="1463040" cy="1097280"/>
          </a:xfrm>
          <a:prstGeom prst="rect">
            <a:avLst/>
          </a:prstGeom>
          <a:noFill/>
          <a:ln/>
        </p:spPr>
        <p:txBody>
          <a:bodyPr wrap="square" lIns="0" tIns="0" rIns="0" bIns="0" rtlCol="0" anchor="ctr"/>
          <a:lstStyle/>
          <a:p>
            <a:pPr indent="0" marL="0">
              <a:buNone/>
            </a:pPr>
            <a:r>
              <a:rPr lang="en-US" sz="1600" dirty="0">
                <a:solidFill>
                  <a:schemeClr val="tx1"/>
                </a:solidFill>
              </a:rPr>
              <a:t>Add it, then repeat</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600" b="1" dirty="0">
                <a:solidFill>
                  <a:schemeClr val="tx2"/>
                </a:solidFill>
              </a:rPr>
              <a:t>It guesses, it doesn't look up</a:t>
            </a:r>
            <a:endParaRPr lang="en-US" sz="3600" dirty="0"/>
          </a:p>
        </p:txBody>
      </p:sp>
      <p:sp>
        <p:nvSpPr>
          <p:cNvPr id="3" name="great at card"/>
          <p:cNvSpPr/>
          <p:nvPr/>
        </p:nvSpPr>
        <p:spPr>
          <a:xfrm>
            <a:off x="457200" y="1280160"/>
            <a:ext cx="3977640" cy="3200400"/>
          </a:xfrm>
          <a:prstGeom prst="roundRect">
            <a:avLst>
              <a:gd name="adj" fmla="val 3429"/>
            </a:avLst>
          </a:prstGeom>
          <a:solidFill>
            <a:schemeClr val="bg2"/>
          </a:solidFill>
          <a:ln w="9525">
            <a:solidFill>
              <a:schemeClr val="bg2"/>
            </a:solidFill>
            <a:prstDash val="solid"/>
          </a:ln>
        </p:spPr>
      </p:sp>
      <p:sp>
        <p:nvSpPr>
          <p:cNvPr id="4" name="great at circle"/>
          <p:cNvSpPr/>
          <p:nvPr/>
        </p:nvSpPr>
        <p:spPr>
          <a:xfrm>
            <a:off x="731520" y="1508760"/>
            <a:ext cx="548640" cy="548640"/>
          </a:xfrm>
          <a:prstGeom prst="ellipse">
            <a:avLst/>
          </a:prstGeom>
          <a:solidFill>
            <a:schemeClr val="accent1"/>
          </a:solidFill>
          <a:ln w="9525">
            <a:solidFill>
              <a:schemeClr val="accent1"/>
            </a:solidFill>
            <a:prstDash val="solid"/>
          </a:ln>
        </p:spPr>
      </p:sp>
      <p:pic>
        <p:nvPicPr>
          <p:cNvPr id="5" name="Image 0" descr="great at icon">    </p:cNvPr>
          <p:cNvPicPr>
            <a:picLocks noChangeAspect="1"/>
          </p:cNvPicPr>
          <p:nvPr/>
        </p:nvPicPr>
        <p:blipFill>
          <a:blip r:embed="rId1"/>
          <a:stretch>
            <a:fillRect/>
          </a:stretch>
        </p:blipFill>
        <p:spPr>
          <a:xfrm>
            <a:off x="852221" y="1629461"/>
            <a:ext cx="307238" cy="307238"/>
          </a:xfrm>
          <a:prstGeom prst="rect">
            <a:avLst/>
          </a:prstGeom>
        </p:spPr>
      </p:pic>
      <p:sp>
        <p:nvSpPr>
          <p:cNvPr id="6" name="Text 3"/>
          <p:cNvSpPr txBox="1"/>
          <p:nvPr/>
        </p:nvSpPr>
        <p:spPr>
          <a:xfrm>
            <a:off x="1463040" y="1554480"/>
            <a:ext cx="2743200" cy="457200"/>
          </a:xfrm>
          <a:prstGeom prst="rect">
            <a:avLst/>
          </a:prstGeom>
          <a:noFill/>
          <a:ln/>
        </p:spPr>
        <p:txBody>
          <a:bodyPr wrap="square" lIns="0" tIns="0" rIns="0" bIns="0" rtlCol="0" anchor="ctr"/>
          <a:lstStyle/>
          <a:p>
            <a:pPr indent="0" marL="0">
              <a:buNone/>
            </a:pPr>
            <a:r>
              <a:rPr lang="en-US" sz="2200" b="1" dirty="0">
                <a:solidFill>
                  <a:schemeClr val="tx2"/>
                </a:solidFill>
              </a:rPr>
              <a:t>Great at</a:t>
            </a:r>
            <a:endParaRPr lang="en-US" sz="2200" dirty="0"/>
          </a:p>
        </p:txBody>
      </p:sp>
      <p:sp>
        <p:nvSpPr>
          <p:cNvPr id="7" name="Text 4"/>
          <p:cNvSpPr txBox="1"/>
          <p:nvPr/>
        </p:nvSpPr>
        <p:spPr>
          <a:xfrm>
            <a:off x="731520" y="2286000"/>
            <a:ext cx="3429000" cy="201168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Writing and rewriting</a:t>
            </a:r>
            <a:endParaRPr lang="en-US" sz="1700" dirty="0"/>
          </a:p>
          <a:p>
            <a:pPr marL="342900" indent="-342900">
              <a:spcAft>
                <a:spcPts val="800"/>
              </a:spcAft>
              <a:buSzPct val="100000"/>
              <a:buChar char="•"/>
            </a:pPr>
            <a:r>
              <a:rPr lang="en-US" sz="1700" dirty="0">
                <a:solidFill>
                  <a:schemeClr val="tx1"/>
                </a:solidFill>
              </a:rPr>
              <a:t>Summarising long text</a:t>
            </a:r>
            <a:endParaRPr lang="en-US" sz="1700" dirty="0"/>
          </a:p>
          <a:p>
            <a:pPr marL="342900" indent="-342900">
              <a:spcAft>
                <a:spcPts val="800"/>
              </a:spcAft>
              <a:buSzPct val="100000"/>
              <a:buChar char="•"/>
            </a:pPr>
            <a:r>
              <a:rPr lang="en-US" sz="1700" dirty="0">
                <a:solidFill>
                  <a:schemeClr val="tx1"/>
                </a:solidFill>
              </a:rPr>
              <a:t>Translating</a:t>
            </a:r>
            <a:endParaRPr lang="en-US" sz="1700" dirty="0"/>
          </a:p>
          <a:p>
            <a:pPr marL="342900" indent="-342900">
              <a:spcAft>
                <a:spcPts val="800"/>
              </a:spcAft>
              <a:buSzPct val="100000"/>
              <a:buChar char="•"/>
            </a:pPr>
            <a:r>
              <a:rPr lang="en-US" sz="1700" dirty="0">
                <a:solidFill>
                  <a:schemeClr val="tx1"/>
                </a:solidFill>
              </a:rPr>
              <a:t>Explaining ideas simply</a:t>
            </a:r>
            <a:endParaRPr lang="en-US" sz="1700" dirty="0"/>
          </a:p>
        </p:txBody>
      </p:sp>
      <p:sp>
        <p:nvSpPr>
          <p:cNvPr id="8" name="careful card"/>
          <p:cNvSpPr/>
          <p:nvPr/>
        </p:nvSpPr>
        <p:spPr>
          <a:xfrm>
            <a:off x="4709160" y="1280160"/>
            <a:ext cx="3977640" cy="3200400"/>
          </a:xfrm>
          <a:prstGeom prst="roundRect">
            <a:avLst>
              <a:gd name="adj" fmla="val 3429"/>
            </a:avLst>
          </a:prstGeom>
          <a:solidFill>
            <a:schemeClr val="bg1"/>
          </a:solidFill>
          <a:ln w="31750">
            <a:solidFill>
              <a:schemeClr val="accent2"/>
            </a:solidFill>
            <a:prstDash val="solid"/>
          </a:ln>
        </p:spPr>
      </p:sp>
      <p:sp>
        <p:nvSpPr>
          <p:cNvPr id="9" name="careful circle"/>
          <p:cNvSpPr/>
          <p:nvPr/>
        </p:nvSpPr>
        <p:spPr>
          <a:xfrm>
            <a:off x="4983480" y="1508760"/>
            <a:ext cx="548640" cy="548640"/>
          </a:xfrm>
          <a:prstGeom prst="ellipse">
            <a:avLst/>
          </a:prstGeom>
          <a:solidFill>
            <a:schemeClr val="accent2"/>
          </a:solidFill>
          <a:ln w="9525">
            <a:solidFill>
              <a:schemeClr val="accent2"/>
            </a:solidFill>
            <a:prstDash val="solid"/>
          </a:ln>
        </p:spPr>
      </p:sp>
      <p:pic>
        <p:nvPicPr>
          <p:cNvPr id="10" name="Image 1" descr="careful icon">    </p:cNvPr>
          <p:cNvPicPr>
            <a:picLocks noChangeAspect="1"/>
          </p:cNvPicPr>
          <p:nvPr/>
        </p:nvPicPr>
        <p:blipFill>
          <a:blip r:embed="rId2"/>
          <a:stretch>
            <a:fillRect/>
          </a:stretch>
        </p:blipFill>
        <p:spPr>
          <a:xfrm>
            <a:off x="5104181" y="1629461"/>
            <a:ext cx="307238" cy="307238"/>
          </a:xfrm>
          <a:prstGeom prst="rect">
            <a:avLst/>
          </a:prstGeom>
        </p:spPr>
      </p:pic>
      <p:sp>
        <p:nvSpPr>
          <p:cNvPr id="11" name="Text 7"/>
          <p:cNvSpPr txBox="1"/>
          <p:nvPr/>
        </p:nvSpPr>
        <p:spPr>
          <a:xfrm>
            <a:off x="5715000" y="1554480"/>
            <a:ext cx="2743200" cy="457200"/>
          </a:xfrm>
          <a:prstGeom prst="rect">
            <a:avLst/>
          </a:prstGeom>
          <a:noFill/>
          <a:ln/>
        </p:spPr>
        <p:txBody>
          <a:bodyPr wrap="square" lIns="0" tIns="0" rIns="0" bIns="0" rtlCol="0" anchor="ctr"/>
          <a:lstStyle/>
          <a:p>
            <a:pPr indent="0" marL="0">
              <a:buNone/>
            </a:pPr>
            <a:r>
              <a:rPr lang="en-US" sz="2200" b="1" dirty="0">
                <a:solidFill>
                  <a:schemeClr val="tx2"/>
                </a:solidFill>
              </a:rPr>
              <a:t>Be careful</a:t>
            </a:r>
            <a:endParaRPr lang="en-US" sz="2200" dirty="0"/>
          </a:p>
        </p:txBody>
      </p:sp>
      <p:sp>
        <p:nvSpPr>
          <p:cNvPr id="12" name="Text 8"/>
          <p:cNvSpPr txBox="1"/>
          <p:nvPr/>
        </p:nvSpPr>
        <p:spPr>
          <a:xfrm>
            <a:off x="4983480" y="2286000"/>
            <a:ext cx="3429000" cy="201168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It can sound very sure and still be wrong</a:t>
            </a:r>
            <a:endParaRPr lang="en-US" sz="1700" dirty="0"/>
          </a:p>
          <a:p>
            <a:pPr marL="342900" indent="-342900">
              <a:spcAft>
                <a:spcPts val="800"/>
              </a:spcAft>
              <a:buSzPct val="100000"/>
              <a:buChar char="•"/>
            </a:pPr>
            <a:r>
              <a:rPr lang="en-US" sz="1700" dirty="0">
                <a:solidFill>
                  <a:schemeClr val="tx1"/>
                </a:solidFill>
              </a:rPr>
              <a:t>It predicts text, it does not check facts</a:t>
            </a:r>
            <a:endParaRPr lang="en-US" sz="1700" dirty="0"/>
          </a:p>
          <a:p>
            <a:pPr marL="342900" indent="-342900">
              <a:spcAft>
                <a:spcPts val="800"/>
              </a:spcAft>
              <a:buSzPct val="100000"/>
              <a:buChar char="•"/>
            </a:pPr>
            <a:r>
              <a:rPr lang="en-US" sz="1700" dirty="0">
                <a:solidFill>
                  <a:schemeClr val="tx1"/>
                </a:solidFill>
              </a:rPr>
              <a:t>Always double-check names, numbers and dates</a:t>
            </a:r>
            <a:endParaRPr lang="en-US" sz="17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600" b="1" dirty="0">
                <a:solidFill>
                  <a:schemeClr val="tx2"/>
                </a:solidFill>
              </a:rPr>
              <a:t>Three names, one family</a:t>
            </a:r>
            <a:endParaRPr lang="en-US" sz="3600" dirty="0"/>
          </a:p>
        </p:txBody>
      </p:sp>
      <p:sp>
        <p:nvSpPr>
          <p:cNvPr id="3" name="name card 1"/>
          <p:cNvSpPr/>
          <p:nvPr/>
        </p:nvSpPr>
        <p:spPr>
          <a:xfrm>
            <a:off x="457200" y="1234440"/>
            <a:ext cx="2560320" cy="2926080"/>
          </a:xfrm>
          <a:prstGeom prst="roundRect">
            <a:avLst>
              <a:gd name="adj" fmla="val 4286"/>
            </a:avLst>
          </a:prstGeom>
          <a:solidFill>
            <a:schemeClr val="bg2"/>
          </a:solidFill>
          <a:ln w="9525">
            <a:solidFill>
              <a:schemeClr val="bg2"/>
            </a:solidFill>
            <a:prstDash val="solid"/>
          </a:ln>
        </p:spPr>
      </p:sp>
      <p:sp>
        <p:nvSpPr>
          <p:cNvPr id="4" name="name 1 circle"/>
          <p:cNvSpPr/>
          <p:nvPr/>
        </p:nvSpPr>
        <p:spPr>
          <a:xfrm>
            <a:off x="685800" y="1417320"/>
            <a:ext cx="548640" cy="548640"/>
          </a:xfrm>
          <a:prstGeom prst="ellipse">
            <a:avLst/>
          </a:prstGeom>
          <a:solidFill>
            <a:schemeClr val="accent1"/>
          </a:solidFill>
          <a:ln w="9525">
            <a:solidFill>
              <a:schemeClr val="accent1"/>
            </a:solidFill>
            <a:prstDash val="solid"/>
          </a:ln>
        </p:spPr>
      </p:sp>
      <p:pic>
        <p:nvPicPr>
          <p:cNvPr id="5" name="Image 0" descr="name 1 icon">    </p:cNvPr>
          <p:cNvPicPr>
            <a:picLocks noChangeAspect="1"/>
          </p:cNvPicPr>
          <p:nvPr/>
        </p:nvPicPr>
        <p:blipFill>
          <a:blip r:embed="rId1"/>
          <a:stretch>
            <a:fillRect/>
          </a:stretch>
        </p:blipFill>
        <p:spPr>
          <a:xfrm>
            <a:off x="806501" y="1538021"/>
            <a:ext cx="307238" cy="307238"/>
          </a:xfrm>
          <a:prstGeom prst="rect">
            <a:avLst/>
          </a:prstGeom>
        </p:spPr>
      </p:pic>
      <p:sp>
        <p:nvSpPr>
          <p:cNvPr id="6" name="Text 3"/>
          <p:cNvSpPr txBox="1"/>
          <p:nvPr/>
        </p:nvSpPr>
        <p:spPr>
          <a:xfrm>
            <a:off x="685800" y="2103120"/>
            <a:ext cx="2103120" cy="502920"/>
          </a:xfrm>
          <a:prstGeom prst="rect">
            <a:avLst/>
          </a:prstGeom>
          <a:noFill/>
          <a:ln/>
        </p:spPr>
        <p:txBody>
          <a:bodyPr wrap="square" lIns="0" tIns="0" rIns="0" bIns="0" rtlCol="0" anchor="t"/>
          <a:lstStyle/>
          <a:p>
            <a:pPr indent="0" marL="0">
              <a:buNone/>
            </a:pPr>
            <a:r>
              <a:rPr lang="en-US" sz="1400" b="1" dirty="0">
                <a:solidFill>
                  <a:schemeClr val="accent2"/>
                </a:solidFill>
              </a:rPr>
              <a:t>Like the word “car”</a:t>
            </a:r>
            <a:endParaRPr lang="en-US" sz="1400" dirty="0"/>
          </a:p>
        </p:txBody>
      </p:sp>
      <p:sp>
        <p:nvSpPr>
          <p:cNvPr id="7" name="Text 4"/>
          <p:cNvSpPr txBox="1"/>
          <p:nvPr/>
        </p:nvSpPr>
        <p:spPr>
          <a:xfrm>
            <a:off x="685800" y="2651760"/>
            <a:ext cx="2103120" cy="502920"/>
          </a:xfrm>
          <a:prstGeom prst="rect">
            <a:avLst/>
          </a:prstGeom>
          <a:noFill/>
          <a:ln/>
        </p:spPr>
        <p:txBody>
          <a:bodyPr wrap="square" lIns="0" tIns="0" rIns="0" bIns="0" rtlCol="0" anchor="t"/>
          <a:lstStyle/>
          <a:p>
            <a:pPr indent="0" marL="0">
              <a:buNone/>
            </a:pPr>
            <a:r>
              <a:rPr lang="en-US" sz="2800" b="1" dirty="0">
                <a:solidFill>
                  <a:schemeClr val="tx2"/>
                </a:solidFill>
              </a:rPr>
              <a:t>LLM</a:t>
            </a:r>
            <a:endParaRPr lang="en-US" sz="2800" dirty="0"/>
          </a:p>
        </p:txBody>
      </p:sp>
      <p:sp>
        <p:nvSpPr>
          <p:cNvPr id="8" name="Text 5"/>
          <p:cNvSpPr txBox="1"/>
          <p:nvPr/>
        </p:nvSpPr>
        <p:spPr>
          <a:xfrm>
            <a:off x="685800" y="3200400"/>
            <a:ext cx="2103120" cy="822960"/>
          </a:xfrm>
          <a:prstGeom prst="rect">
            <a:avLst/>
          </a:prstGeom>
          <a:noFill/>
          <a:ln/>
        </p:spPr>
        <p:txBody>
          <a:bodyPr wrap="square" lIns="0" tIns="0" rIns="0" bIns="0" rtlCol="0" anchor="t"/>
          <a:lstStyle/>
          <a:p>
            <a:pPr indent="0" marL="0">
              <a:buNone/>
            </a:pPr>
            <a:r>
              <a:rPr lang="en-US" sz="1500" dirty="0">
                <a:solidFill>
                  <a:schemeClr val="tx1"/>
                </a:solidFill>
              </a:rPr>
              <a:t>The whole category of AI language models</a:t>
            </a:r>
            <a:endParaRPr lang="en-US" sz="1500" dirty="0"/>
          </a:p>
        </p:txBody>
      </p:sp>
      <p:sp>
        <p:nvSpPr>
          <p:cNvPr id="9" name="name card 2"/>
          <p:cNvSpPr/>
          <p:nvPr/>
        </p:nvSpPr>
        <p:spPr>
          <a:xfrm>
            <a:off x="3291840" y="1234440"/>
            <a:ext cx="2560320" cy="2926080"/>
          </a:xfrm>
          <a:prstGeom prst="roundRect">
            <a:avLst>
              <a:gd name="adj" fmla="val 4286"/>
            </a:avLst>
          </a:prstGeom>
          <a:solidFill>
            <a:schemeClr val="bg2"/>
          </a:solidFill>
          <a:ln w="9525">
            <a:solidFill>
              <a:schemeClr val="bg2"/>
            </a:solidFill>
            <a:prstDash val="solid"/>
          </a:ln>
        </p:spPr>
      </p:sp>
      <p:sp>
        <p:nvSpPr>
          <p:cNvPr id="10" name="name 2 circle"/>
          <p:cNvSpPr/>
          <p:nvPr/>
        </p:nvSpPr>
        <p:spPr>
          <a:xfrm>
            <a:off x="3520440" y="1417320"/>
            <a:ext cx="548640" cy="548640"/>
          </a:xfrm>
          <a:prstGeom prst="ellipse">
            <a:avLst/>
          </a:prstGeom>
          <a:solidFill>
            <a:schemeClr val="accent1"/>
          </a:solidFill>
          <a:ln w="9525">
            <a:solidFill>
              <a:schemeClr val="accent1"/>
            </a:solidFill>
            <a:prstDash val="solid"/>
          </a:ln>
        </p:spPr>
      </p:sp>
      <p:pic>
        <p:nvPicPr>
          <p:cNvPr id="11" name="Image 1" descr="name 2 icon">    </p:cNvPr>
          <p:cNvPicPr>
            <a:picLocks noChangeAspect="1"/>
          </p:cNvPicPr>
          <p:nvPr/>
        </p:nvPicPr>
        <p:blipFill>
          <a:blip r:embed="rId2"/>
          <a:stretch>
            <a:fillRect/>
          </a:stretch>
        </p:blipFill>
        <p:spPr>
          <a:xfrm>
            <a:off x="3641141" y="1538021"/>
            <a:ext cx="307238" cy="307238"/>
          </a:xfrm>
          <a:prstGeom prst="rect">
            <a:avLst/>
          </a:prstGeom>
        </p:spPr>
      </p:pic>
      <p:sp>
        <p:nvSpPr>
          <p:cNvPr id="12" name="Text 8"/>
          <p:cNvSpPr txBox="1"/>
          <p:nvPr/>
        </p:nvSpPr>
        <p:spPr>
          <a:xfrm>
            <a:off x="3520440" y="2103120"/>
            <a:ext cx="2103120" cy="502920"/>
          </a:xfrm>
          <a:prstGeom prst="rect">
            <a:avLst/>
          </a:prstGeom>
          <a:noFill/>
          <a:ln/>
        </p:spPr>
        <p:txBody>
          <a:bodyPr wrap="square" lIns="0" tIns="0" rIns="0" bIns="0" rtlCol="0" anchor="t"/>
          <a:lstStyle/>
          <a:p>
            <a:pPr indent="0" marL="0">
              <a:buNone/>
            </a:pPr>
            <a:r>
              <a:rPr lang="en-US" sz="1400" b="1" dirty="0">
                <a:solidFill>
                  <a:schemeClr val="accent2"/>
                </a:solidFill>
              </a:rPr>
              <a:t>Like one car model, say a Corolla</a:t>
            </a:r>
            <a:endParaRPr lang="en-US" sz="1400" dirty="0"/>
          </a:p>
        </p:txBody>
      </p:sp>
      <p:sp>
        <p:nvSpPr>
          <p:cNvPr id="13" name="Text 9"/>
          <p:cNvSpPr txBox="1"/>
          <p:nvPr/>
        </p:nvSpPr>
        <p:spPr>
          <a:xfrm>
            <a:off x="3520440" y="2651760"/>
            <a:ext cx="2103120" cy="502920"/>
          </a:xfrm>
          <a:prstGeom prst="rect">
            <a:avLst/>
          </a:prstGeom>
          <a:noFill/>
          <a:ln/>
        </p:spPr>
        <p:txBody>
          <a:bodyPr wrap="square" lIns="0" tIns="0" rIns="0" bIns="0" rtlCol="0" anchor="t"/>
          <a:lstStyle/>
          <a:p>
            <a:pPr indent="0" marL="0">
              <a:buNone/>
            </a:pPr>
            <a:r>
              <a:rPr lang="en-US" sz="2800" b="1" dirty="0">
                <a:solidFill>
                  <a:schemeClr val="tx2"/>
                </a:solidFill>
              </a:rPr>
              <a:t>GPT</a:t>
            </a:r>
            <a:endParaRPr lang="en-US" sz="2800" dirty="0"/>
          </a:p>
        </p:txBody>
      </p:sp>
      <p:sp>
        <p:nvSpPr>
          <p:cNvPr id="14" name="Text 10"/>
          <p:cNvSpPr txBox="1"/>
          <p:nvPr/>
        </p:nvSpPr>
        <p:spPr>
          <a:xfrm>
            <a:off x="3520440" y="3200400"/>
            <a:ext cx="2103120" cy="822960"/>
          </a:xfrm>
          <a:prstGeom prst="rect">
            <a:avLst/>
          </a:prstGeom>
          <a:noFill/>
          <a:ln/>
        </p:spPr>
        <p:txBody>
          <a:bodyPr wrap="square" lIns="0" tIns="0" rIns="0" bIns="0" rtlCol="0" anchor="t"/>
          <a:lstStyle/>
          <a:p>
            <a:pPr indent="0" marL="0">
              <a:buNone/>
            </a:pPr>
            <a:r>
              <a:rPr lang="en-US" sz="1500" dirty="0">
                <a:solidFill>
                  <a:schemeClr val="tx1"/>
                </a:solidFill>
              </a:rPr>
              <a:t>One family of LLMs, made by a company called OpenAI</a:t>
            </a:r>
            <a:endParaRPr lang="en-US" sz="1500" dirty="0"/>
          </a:p>
        </p:txBody>
      </p:sp>
      <p:sp>
        <p:nvSpPr>
          <p:cNvPr id="15" name="name card 3"/>
          <p:cNvSpPr/>
          <p:nvPr/>
        </p:nvSpPr>
        <p:spPr>
          <a:xfrm>
            <a:off x="6126480" y="1234440"/>
            <a:ext cx="2560320" cy="2926080"/>
          </a:xfrm>
          <a:prstGeom prst="roundRect">
            <a:avLst>
              <a:gd name="adj" fmla="val 4286"/>
            </a:avLst>
          </a:prstGeom>
          <a:solidFill>
            <a:schemeClr val="bg2"/>
          </a:solidFill>
          <a:ln w="9525">
            <a:solidFill>
              <a:schemeClr val="bg2"/>
            </a:solidFill>
            <a:prstDash val="solid"/>
          </a:ln>
        </p:spPr>
      </p:sp>
      <p:sp>
        <p:nvSpPr>
          <p:cNvPr id="16" name="name 3 circle"/>
          <p:cNvSpPr/>
          <p:nvPr/>
        </p:nvSpPr>
        <p:spPr>
          <a:xfrm>
            <a:off x="6355080" y="1417320"/>
            <a:ext cx="548640" cy="548640"/>
          </a:xfrm>
          <a:prstGeom prst="ellipse">
            <a:avLst/>
          </a:prstGeom>
          <a:solidFill>
            <a:schemeClr val="accent1"/>
          </a:solidFill>
          <a:ln w="9525">
            <a:solidFill>
              <a:schemeClr val="accent1"/>
            </a:solidFill>
            <a:prstDash val="solid"/>
          </a:ln>
        </p:spPr>
      </p:sp>
      <p:pic>
        <p:nvPicPr>
          <p:cNvPr id="17" name="Image 2" descr="name 3 icon">    </p:cNvPr>
          <p:cNvPicPr>
            <a:picLocks noChangeAspect="1"/>
          </p:cNvPicPr>
          <p:nvPr/>
        </p:nvPicPr>
        <p:blipFill>
          <a:blip r:embed="rId3"/>
          <a:stretch>
            <a:fillRect/>
          </a:stretch>
        </p:blipFill>
        <p:spPr>
          <a:xfrm>
            <a:off x="6475781" y="1538021"/>
            <a:ext cx="307238" cy="307238"/>
          </a:xfrm>
          <a:prstGeom prst="rect">
            <a:avLst/>
          </a:prstGeom>
        </p:spPr>
      </p:pic>
      <p:sp>
        <p:nvSpPr>
          <p:cNvPr id="18" name="Text 13"/>
          <p:cNvSpPr txBox="1"/>
          <p:nvPr/>
        </p:nvSpPr>
        <p:spPr>
          <a:xfrm>
            <a:off x="6355080" y="2103120"/>
            <a:ext cx="2103120" cy="502920"/>
          </a:xfrm>
          <a:prstGeom prst="rect">
            <a:avLst/>
          </a:prstGeom>
          <a:noFill/>
          <a:ln/>
        </p:spPr>
        <p:txBody>
          <a:bodyPr wrap="square" lIns="0" tIns="0" rIns="0" bIns="0" rtlCol="0" anchor="t"/>
          <a:lstStyle/>
          <a:p>
            <a:pPr indent="0" marL="0">
              <a:buNone/>
            </a:pPr>
            <a:r>
              <a:rPr lang="en-US" sz="1400" b="1" dirty="0">
                <a:solidFill>
                  <a:schemeClr val="accent2"/>
                </a:solidFill>
              </a:rPr>
              <a:t>Like the car you actually drive</a:t>
            </a:r>
            <a:endParaRPr lang="en-US" sz="1400" dirty="0"/>
          </a:p>
        </p:txBody>
      </p:sp>
      <p:sp>
        <p:nvSpPr>
          <p:cNvPr id="19" name="Text 14"/>
          <p:cNvSpPr txBox="1"/>
          <p:nvPr/>
        </p:nvSpPr>
        <p:spPr>
          <a:xfrm>
            <a:off x="6355080" y="2651760"/>
            <a:ext cx="2103120" cy="502920"/>
          </a:xfrm>
          <a:prstGeom prst="rect">
            <a:avLst/>
          </a:prstGeom>
          <a:noFill/>
          <a:ln/>
        </p:spPr>
        <p:txBody>
          <a:bodyPr wrap="square" lIns="0" tIns="0" rIns="0" bIns="0" rtlCol="0" anchor="t"/>
          <a:lstStyle/>
          <a:p>
            <a:pPr indent="0" marL="0">
              <a:buNone/>
            </a:pPr>
            <a:r>
              <a:rPr lang="en-US" sz="2800" b="1" dirty="0">
                <a:solidFill>
                  <a:schemeClr val="tx2"/>
                </a:solidFill>
              </a:rPr>
              <a:t>ChatGPT</a:t>
            </a:r>
            <a:endParaRPr lang="en-US" sz="2800" dirty="0"/>
          </a:p>
        </p:txBody>
      </p:sp>
      <p:sp>
        <p:nvSpPr>
          <p:cNvPr id="20" name="Text 15"/>
          <p:cNvSpPr txBox="1"/>
          <p:nvPr/>
        </p:nvSpPr>
        <p:spPr>
          <a:xfrm>
            <a:off x="6355080" y="3200400"/>
            <a:ext cx="2103120" cy="822960"/>
          </a:xfrm>
          <a:prstGeom prst="rect">
            <a:avLst/>
          </a:prstGeom>
          <a:noFill/>
          <a:ln/>
        </p:spPr>
        <p:txBody>
          <a:bodyPr wrap="square" lIns="0" tIns="0" rIns="0" bIns="0" rtlCol="0" anchor="t"/>
          <a:lstStyle/>
          <a:p>
            <a:pPr indent="0" marL="0">
              <a:buNone/>
            </a:pPr>
            <a:r>
              <a:rPr lang="en-US" sz="1500" dirty="0">
                <a:solidFill>
                  <a:schemeClr val="tx1"/>
                </a:solidFill>
              </a:rPr>
              <a:t>An app with a chat window, built on GPT models</a:t>
            </a:r>
            <a:endParaRPr lang="en-US" sz="1500" dirty="0"/>
          </a:p>
        </p:txBody>
      </p:sp>
      <p:sp>
        <p:nvSpPr>
          <p:cNvPr id="21" name="Text 16"/>
          <p:cNvSpPr txBox="1"/>
          <p:nvPr/>
        </p:nvSpPr>
        <p:spPr>
          <a:xfrm>
            <a:off x="457200" y="4297680"/>
            <a:ext cx="8229600" cy="365760"/>
          </a:xfrm>
          <a:prstGeom prst="rect">
            <a:avLst/>
          </a:prstGeom>
          <a:noFill/>
          <a:ln/>
        </p:spPr>
        <p:txBody>
          <a:bodyPr wrap="square" lIns="0" tIns="0" rIns="0" bIns="0" rtlCol="0" anchor="t"/>
          <a:lstStyle/>
          <a:p>
            <a:pPr indent="0" marL="0">
              <a:buNone/>
            </a:pPr>
            <a:r>
              <a:rPr lang="en-US" sz="1400" dirty="0">
                <a:solidFill>
                  <a:schemeClr val="tx1"/>
                </a:solidFill>
              </a:rPr>
              <a:t>Same pattern elsewhere: Claude and Gemini are models, and their apps are what you chat with.</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600" b="1" dirty="0">
                <a:solidFill>
                  <a:schemeClr val="tx2"/>
                </a:solidFill>
              </a:rPr>
              <a:t>Two kinds of AI models</a:t>
            </a:r>
            <a:endParaRPr lang="en-US" sz="3600" dirty="0"/>
          </a:p>
        </p:txBody>
      </p:sp>
      <p:sp>
        <p:nvSpPr>
          <p:cNvPr id="3" name="kind card 1"/>
          <p:cNvSpPr/>
          <p:nvPr/>
        </p:nvSpPr>
        <p:spPr>
          <a:xfrm>
            <a:off x="457200" y="1234440"/>
            <a:ext cx="3977640" cy="2697480"/>
          </a:xfrm>
          <a:prstGeom prst="roundRect">
            <a:avLst>
              <a:gd name="adj" fmla="val 4068"/>
            </a:avLst>
          </a:prstGeom>
          <a:solidFill>
            <a:schemeClr val="bg2"/>
          </a:solidFill>
          <a:ln w="9525">
            <a:solidFill>
              <a:schemeClr val="bg2"/>
            </a:solidFill>
            <a:prstDash val="solid"/>
          </a:ln>
        </p:spPr>
      </p:sp>
      <p:sp>
        <p:nvSpPr>
          <p:cNvPr id="4" name="kind 1 circle"/>
          <p:cNvSpPr/>
          <p:nvPr/>
        </p:nvSpPr>
        <p:spPr>
          <a:xfrm>
            <a:off x="731520" y="1463040"/>
            <a:ext cx="640080" cy="640080"/>
          </a:xfrm>
          <a:prstGeom prst="ellipse">
            <a:avLst/>
          </a:prstGeom>
          <a:solidFill>
            <a:schemeClr val="accent1"/>
          </a:solidFill>
          <a:ln w="9525">
            <a:solidFill>
              <a:schemeClr val="accent1"/>
            </a:solidFill>
            <a:prstDash val="solid"/>
          </a:ln>
        </p:spPr>
      </p:sp>
      <p:pic>
        <p:nvPicPr>
          <p:cNvPr id="5" name="Image 0" descr="kind 1 icon">    </p:cNvPr>
          <p:cNvPicPr>
            <a:picLocks noChangeAspect="1"/>
          </p:cNvPicPr>
          <p:nvPr/>
        </p:nvPicPr>
        <p:blipFill>
          <a:blip r:embed="rId1"/>
          <a:stretch>
            <a:fillRect/>
          </a:stretch>
        </p:blipFill>
        <p:spPr>
          <a:xfrm>
            <a:off x="872338" y="1603858"/>
            <a:ext cx="358445" cy="358445"/>
          </a:xfrm>
          <a:prstGeom prst="rect">
            <a:avLst/>
          </a:prstGeom>
        </p:spPr>
      </p:pic>
      <p:sp>
        <p:nvSpPr>
          <p:cNvPr id="6" name="Text 3"/>
          <p:cNvSpPr txBox="1"/>
          <p:nvPr/>
        </p:nvSpPr>
        <p:spPr>
          <a:xfrm>
            <a:off x="1554480" y="1463040"/>
            <a:ext cx="2743200" cy="365760"/>
          </a:xfrm>
          <a:prstGeom prst="rect">
            <a:avLst/>
          </a:prstGeom>
          <a:noFill/>
          <a:ln/>
        </p:spPr>
        <p:txBody>
          <a:bodyPr wrap="square" lIns="0" tIns="0" rIns="0" bIns="0" rtlCol="0" anchor="t"/>
          <a:lstStyle/>
          <a:p>
            <a:pPr indent="0" marL="0">
              <a:buNone/>
            </a:pPr>
            <a:r>
              <a:rPr lang="en-US" sz="2200" b="1" dirty="0">
                <a:solidFill>
                  <a:schemeClr val="tx2"/>
                </a:solidFill>
              </a:rPr>
              <a:t>Chat model</a:t>
            </a:r>
            <a:endParaRPr lang="en-US" sz="2200" dirty="0"/>
          </a:p>
        </p:txBody>
      </p:sp>
      <p:sp>
        <p:nvSpPr>
          <p:cNvPr id="7" name="Text 4"/>
          <p:cNvSpPr txBox="1"/>
          <p:nvPr/>
        </p:nvSpPr>
        <p:spPr>
          <a:xfrm>
            <a:off x="1554480" y="1874520"/>
            <a:ext cx="2743200" cy="457200"/>
          </a:xfrm>
          <a:prstGeom prst="rect">
            <a:avLst/>
          </a:prstGeom>
          <a:noFill/>
          <a:ln/>
        </p:spPr>
        <p:txBody>
          <a:bodyPr wrap="square" lIns="0" tIns="0" rIns="0" bIns="0" rtlCol="0" anchor="t"/>
          <a:lstStyle/>
          <a:p>
            <a:pPr indent="0" marL="0">
              <a:buNone/>
            </a:pPr>
            <a:r>
              <a:rPr lang="en-US" sz="1500" b="1" dirty="0">
                <a:solidFill>
                  <a:schemeClr val="accent2"/>
                </a:solidFill>
              </a:rPr>
              <a:t>The quick-answer friend</a:t>
            </a:r>
            <a:endParaRPr lang="en-US" sz="1500" dirty="0"/>
          </a:p>
        </p:txBody>
      </p:sp>
      <p:sp>
        <p:nvSpPr>
          <p:cNvPr id="8" name="Text 5"/>
          <p:cNvSpPr txBox="1"/>
          <p:nvPr/>
        </p:nvSpPr>
        <p:spPr>
          <a:xfrm>
            <a:off x="731520" y="2468880"/>
            <a:ext cx="3429000" cy="411480"/>
          </a:xfrm>
          <a:prstGeom prst="rect">
            <a:avLst/>
          </a:prstGeom>
          <a:noFill/>
          <a:ln/>
        </p:spPr>
        <p:txBody>
          <a:bodyPr wrap="square" lIns="0" tIns="0" rIns="0" bIns="0" rtlCol="0" anchor="t"/>
          <a:lstStyle/>
          <a:p>
            <a:pPr indent="0" marL="0">
              <a:buNone/>
            </a:pPr>
            <a:r>
              <a:rPr lang="en-US" sz="1600" dirty="0">
                <a:solidFill>
                  <a:schemeClr val="tx1"/>
                </a:solidFill>
              </a:rPr>
              <a:t>Answers straight away. Cheaper and faster.</a:t>
            </a:r>
            <a:endParaRPr lang="en-US" sz="1600" dirty="0"/>
          </a:p>
        </p:txBody>
      </p:sp>
      <p:sp>
        <p:nvSpPr>
          <p:cNvPr id="9" name="Text 6"/>
          <p:cNvSpPr txBox="1"/>
          <p:nvPr/>
        </p:nvSpPr>
        <p:spPr>
          <a:xfrm>
            <a:off x="731520" y="3017520"/>
            <a:ext cx="3429000" cy="731520"/>
          </a:xfrm>
          <a:prstGeom prst="rect">
            <a:avLst/>
          </a:prstGeom>
          <a:noFill/>
          <a:ln/>
        </p:spPr>
        <p:txBody>
          <a:bodyPr wrap="square" lIns="0" tIns="0" rIns="0" bIns="0" rtlCol="0" anchor="t"/>
          <a:lstStyle/>
          <a:p>
            <a:pPr indent="0" marL="0">
              <a:buNone/>
            </a:pPr>
            <a:r>
              <a:rPr lang="en-US" sz="1500" dirty="0">
                <a:solidFill>
                  <a:schemeClr val="tx1"/>
                </a:solidFill>
              </a:rPr>
              <a:t>Good for: emails, summaries, rewriting, simple questions</a:t>
            </a:r>
            <a:endParaRPr lang="en-US" sz="1500" dirty="0"/>
          </a:p>
        </p:txBody>
      </p:sp>
      <p:sp>
        <p:nvSpPr>
          <p:cNvPr id="10" name="kind card 2"/>
          <p:cNvSpPr/>
          <p:nvPr/>
        </p:nvSpPr>
        <p:spPr>
          <a:xfrm>
            <a:off x="4709160" y="1234440"/>
            <a:ext cx="3977640" cy="2697480"/>
          </a:xfrm>
          <a:prstGeom prst="roundRect">
            <a:avLst>
              <a:gd name="adj" fmla="val 4068"/>
            </a:avLst>
          </a:prstGeom>
          <a:solidFill>
            <a:schemeClr val="bg2"/>
          </a:solidFill>
          <a:ln w="9525">
            <a:solidFill>
              <a:schemeClr val="bg2"/>
            </a:solidFill>
            <a:prstDash val="solid"/>
          </a:ln>
        </p:spPr>
      </p:sp>
      <p:sp>
        <p:nvSpPr>
          <p:cNvPr id="11" name="kind 2 circle"/>
          <p:cNvSpPr/>
          <p:nvPr/>
        </p:nvSpPr>
        <p:spPr>
          <a:xfrm>
            <a:off x="4983480" y="1463040"/>
            <a:ext cx="640080" cy="640080"/>
          </a:xfrm>
          <a:prstGeom prst="ellipse">
            <a:avLst/>
          </a:prstGeom>
          <a:solidFill>
            <a:schemeClr val="accent1"/>
          </a:solidFill>
          <a:ln w="9525">
            <a:solidFill>
              <a:schemeClr val="accent1"/>
            </a:solidFill>
            <a:prstDash val="solid"/>
          </a:ln>
        </p:spPr>
      </p:sp>
      <p:pic>
        <p:nvPicPr>
          <p:cNvPr id="12" name="Image 1" descr="kind 2 icon">    </p:cNvPr>
          <p:cNvPicPr>
            <a:picLocks noChangeAspect="1"/>
          </p:cNvPicPr>
          <p:nvPr/>
        </p:nvPicPr>
        <p:blipFill>
          <a:blip r:embed="rId2"/>
          <a:stretch>
            <a:fillRect/>
          </a:stretch>
        </p:blipFill>
        <p:spPr>
          <a:xfrm>
            <a:off x="5124298" y="1603858"/>
            <a:ext cx="358445" cy="358445"/>
          </a:xfrm>
          <a:prstGeom prst="rect">
            <a:avLst/>
          </a:prstGeom>
        </p:spPr>
      </p:pic>
      <p:sp>
        <p:nvSpPr>
          <p:cNvPr id="13" name="Text 9"/>
          <p:cNvSpPr txBox="1"/>
          <p:nvPr/>
        </p:nvSpPr>
        <p:spPr>
          <a:xfrm>
            <a:off x="5806440" y="1463040"/>
            <a:ext cx="2743200" cy="365760"/>
          </a:xfrm>
          <a:prstGeom prst="rect">
            <a:avLst/>
          </a:prstGeom>
          <a:noFill/>
          <a:ln/>
        </p:spPr>
        <p:txBody>
          <a:bodyPr wrap="square" lIns="0" tIns="0" rIns="0" bIns="0" rtlCol="0" anchor="t"/>
          <a:lstStyle/>
          <a:p>
            <a:pPr indent="0" marL="0">
              <a:buNone/>
            </a:pPr>
            <a:r>
              <a:rPr lang="en-US" sz="2200" b="1" dirty="0">
                <a:solidFill>
                  <a:schemeClr val="tx2"/>
                </a:solidFill>
              </a:rPr>
              <a:t>Reasoning model</a:t>
            </a:r>
            <a:endParaRPr lang="en-US" sz="2200" dirty="0"/>
          </a:p>
        </p:txBody>
      </p:sp>
      <p:sp>
        <p:nvSpPr>
          <p:cNvPr id="14" name="Text 10"/>
          <p:cNvSpPr txBox="1"/>
          <p:nvPr/>
        </p:nvSpPr>
        <p:spPr>
          <a:xfrm>
            <a:off x="5806440" y="1874520"/>
            <a:ext cx="2743200" cy="457200"/>
          </a:xfrm>
          <a:prstGeom prst="rect">
            <a:avLst/>
          </a:prstGeom>
          <a:noFill/>
          <a:ln/>
        </p:spPr>
        <p:txBody>
          <a:bodyPr wrap="square" lIns="0" tIns="0" rIns="0" bIns="0" rtlCol="0" anchor="t"/>
          <a:lstStyle/>
          <a:p>
            <a:pPr indent="0" marL="0">
              <a:buNone/>
            </a:pPr>
            <a:r>
              <a:rPr lang="en-US" sz="1500" b="1" dirty="0">
                <a:solidFill>
                  <a:schemeClr val="accent2"/>
                </a:solidFill>
              </a:rPr>
              <a:t>The friend who works it out on paper first</a:t>
            </a:r>
            <a:endParaRPr lang="en-US" sz="1500" dirty="0"/>
          </a:p>
        </p:txBody>
      </p:sp>
      <p:sp>
        <p:nvSpPr>
          <p:cNvPr id="15" name="Text 11"/>
          <p:cNvSpPr txBox="1"/>
          <p:nvPr/>
        </p:nvSpPr>
        <p:spPr>
          <a:xfrm>
            <a:off x="4983480" y="2468880"/>
            <a:ext cx="3429000" cy="411480"/>
          </a:xfrm>
          <a:prstGeom prst="rect">
            <a:avLst/>
          </a:prstGeom>
          <a:noFill/>
          <a:ln/>
        </p:spPr>
        <p:txBody>
          <a:bodyPr wrap="square" lIns="0" tIns="0" rIns="0" bIns="0" rtlCol="0" anchor="t"/>
          <a:lstStyle/>
          <a:p>
            <a:pPr indent="0" marL="0">
              <a:buNone/>
            </a:pPr>
            <a:r>
              <a:rPr lang="en-US" sz="1600" dirty="0">
                <a:solidFill>
                  <a:schemeClr val="tx1"/>
                </a:solidFill>
              </a:rPr>
              <a:t>Slower and costs more.</a:t>
            </a:r>
            <a:endParaRPr lang="en-US" sz="1600" dirty="0"/>
          </a:p>
        </p:txBody>
      </p:sp>
      <p:sp>
        <p:nvSpPr>
          <p:cNvPr id="16" name="Text 12"/>
          <p:cNvSpPr txBox="1"/>
          <p:nvPr/>
        </p:nvSpPr>
        <p:spPr>
          <a:xfrm>
            <a:off x="4983480" y="3017520"/>
            <a:ext cx="3429000" cy="731520"/>
          </a:xfrm>
          <a:prstGeom prst="rect">
            <a:avLst/>
          </a:prstGeom>
          <a:noFill/>
          <a:ln/>
        </p:spPr>
        <p:txBody>
          <a:bodyPr wrap="square" lIns="0" tIns="0" rIns="0" bIns="0" rtlCol="0" anchor="t"/>
          <a:lstStyle/>
          <a:p>
            <a:pPr indent="0" marL="0">
              <a:buNone/>
            </a:pPr>
            <a:r>
              <a:rPr lang="en-US" sz="1500" dirty="0">
                <a:solidFill>
                  <a:schemeClr val="tx1"/>
                </a:solidFill>
              </a:rPr>
              <a:t>Good for: puzzles, multi-step maths, planning</a:t>
            </a:r>
            <a:endParaRPr lang="en-US" sz="1500" dirty="0"/>
          </a:p>
        </p:txBody>
      </p:sp>
      <p:sp>
        <p:nvSpPr>
          <p:cNvPr id="17" name="chip Tip: start with a chat model. Switch only if it gets stuck."/>
          <p:cNvSpPr/>
          <p:nvPr/>
        </p:nvSpPr>
        <p:spPr>
          <a:xfrm>
            <a:off x="457200" y="4114800"/>
            <a:ext cx="8229600" cy="548640"/>
          </a:xfrm>
          <a:prstGeom prst="roundRect">
            <a:avLst>
              <a:gd name="adj" fmla="val 16667"/>
            </a:avLst>
          </a:prstGeom>
          <a:solidFill>
            <a:schemeClr val="accent2"/>
          </a:solidFill>
          <a:ln w="9525">
            <a:solidFill>
              <a:schemeClr val="accent2"/>
            </a:solidFill>
            <a:prstDash val="solid"/>
          </a:ln>
        </p:spPr>
      </p:sp>
      <p:sp>
        <p:nvSpPr>
          <p:cNvPr id="18" name="Text 14"/>
          <p:cNvSpPr txBox="1"/>
          <p:nvPr/>
        </p:nvSpPr>
        <p:spPr>
          <a:xfrm>
            <a:off x="457200" y="4114800"/>
            <a:ext cx="8229600" cy="548640"/>
          </a:xfrm>
          <a:prstGeom prst="rect">
            <a:avLst/>
          </a:prstGeom>
          <a:noFill/>
          <a:ln/>
        </p:spPr>
        <p:txBody>
          <a:bodyPr wrap="square" lIns="0" tIns="0" rIns="0" bIns="0" rtlCol="0" anchor="ctr"/>
          <a:lstStyle/>
          <a:p>
            <a:pPr algn="ctr" indent="0" marL="0">
              <a:buNone/>
            </a:pPr>
            <a:r>
              <a:rPr lang="en-US" sz="1600" b="1" dirty="0">
                <a:solidFill>
                  <a:schemeClr val="bg1"/>
                </a:solidFill>
              </a:rPr>
              <a:t>Tip: start with a chat model. Switch only if it gets stuck.</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600" b="1" dirty="0">
                <a:solidFill>
                  <a:schemeClr val="tx2"/>
                </a:solidFill>
              </a:rPr>
              <a:t>Meet the API: the waiter</a:t>
            </a:r>
            <a:endParaRPr lang="en-US" sz="3600" dirty="0"/>
          </a:p>
        </p:txBody>
      </p:sp>
      <p:sp>
        <p:nvSpPr>
          <p:cNvPr id="3" name="trio card 1"/>
          <p:cNvSpPr/>
          <p:nvPr/>
        </p:nvSpPr>
        <p:spPr>
          <a:xfrm>
            <a:off x="457200" y="1325880"/>
            <a:ext cx="2194560" cy="1828800"/>
          </a:xfrm>
          <a:prstGeom prst="roundRect">
            <a:avLst>
              <a:gd name="adj" fmla="val 6000"/>
            </a:avLst>
          </a:prstGeom>
          <a:solidFill>
            <a:schemeClr val="bg2"/>
          </a:solidFill>
          <a:ln w="9525">
            <a:solidFill>
              <a:schemeClr val="bg2"/>
            </a:solidFill>
            <a:prstDash val="solid"/>
          </a:ln>
        </p:spPr>
      </p:sp>
      <p:sp>
        <p:nvSpPr>
          <p:cNvPr id="4" name="trio 1 circle"/>
          <p:cNvSpPr/>
          <p:nvPr/>
        </p:nvSpPr>
        <p:spPr>
          <a:xfrm>
            <a:off x="1188720" y="1508760"/>
            <a:ext cx="731520" cy="731520"/>
          </a:xfrm>
          <a:prstGeom prst="ellipse">
            <a:avLst/>
          </a:prstGeom>
          <a:solidFill>
            <a:schemeClr val="accent1"/>
          </a:solidFill>
          <a:ln w="9525">
            <a:solidFill>
              <a:schemeClr val="accent1"/>
            </a:solidFill>
            <a:prstDash val="solid"/>
          </a:ln>
        </p:spPr>
      </p:sp>
      <p:pic>
        <p:nvPicPr>
          <p:cNvPr id="5" name="Image 0" descr="trio 1 icon">    </p:cNvPr>
          <p:cNvPicPr>
            <a:picLocks noChangeAspect="1"/>
          </p:cNvPicPr>
          <p:nvPr/>
        </p:nvPicPr>
        <p:blipFill>
          <a:blip r:embed="rId1"/>
          <a:stretch>
            <a:fillRect/>
          </a:stretch>
        </p:blipFill>
        <p:spPr>
          <a:xfrm>
            <a:off x="1349654" y="1669694"/>
            <a:ext cx="409651" cy="409651"/>
          </a:xfrm>
          <a:prstGeom prst="rect">
            <a:avLst/>
          </a:prstGeom>
        </p:spPr>
      </p:pic>
      <p:sp>
        <p:nvSpPr>
          <p:cNvPr id="6" name="Text 3"/>
          <p:cNvSpPr txBox="1"/>
          <p:nvPr/>
        </p:nvSpPr>
        <p:spPr>
          <a:xfrm>
            <a:off x="548640" y="2377440"/>
            <a:ext cx="2011680" cy="365760"/>
          </a:xfrm>
          <a:prstGeom prst="rect">
            <a:avLst/>
          </a:prstGeom>
          <a:noFill/>
          <a:ln/>
        </p:spPr>
        <p:txBody>
          <a:bodyPr wrap="square" lIns="0" tIns="0" rIns="0" bIns="0" rtlCol="0" anchor="t"/>
          <a:lstStyle/>
          <a:p>
            <a:pPr algn="ctr" indent="0" marL="0">
              <a:buNone/>
            </a:pPr>
            <a:r>
              <a:rPr lang="en-US" sz="2000" b="1" dirty="0">
                <a:solidFill>
                  <a:schemeClr val="tx2"/>
                </a:solidFill>
              </a:rPr>
              <a:t>You</a:t>
            </a:r>
            <a:endParaRPr lang="en-US" sz="2000" dirty="0"/>
          </a:p>
        </p:txBody>
      </p:sp>
      <p:sp>
        <p:nvSpPr>
          <p:cNvPr id="7" name="Text 4"/>
          <p:cNvSpPr txBox="1"/>
          <p:nvPr/>
        </p:nvSpPr>
        <p:spPr>
          <a:xfrm>
            <a:off x="548640" y="2743200"/>
            <a:ext cx="2011680" cy="320040"/>
          </a:xfrm>
          <a:prstGeom prst="rect">
            <a:avLst/>
          </a:prstGeom>
          <a:noFill/>
          <a:ln/>
        </p:spPr>
        <p:txBody>
          <a:bodyPr wrap="square" lIns="0" tIns="0" rIns="0" bIns="0" rtlCol="0" anchor="t"/>
          <a:lstStyle/>
          <a:p>
            <a:pPr algn="ctr" indent="0" marL="0">
              <a:buNone/>
            </a:pPr>
            <a:r>
              <a:rPr lang="en-US" sz="1400" dirty="0">
                <a:solidFill>
                  <a:schemeClr val="tx1"/>
                </a:solidFill>
              </a:rPr>
              <a:t>your app or program</a:t>
            </a:r>
            <a:endParaRPr lang="en-US" sz="1400" dirty="0"/>
          </a:p>
        </p:txBody>
      </p:sp>
      <p:sp>
        <p:nvSpPr>
          <p:cNvPr id="8" name="trio card 2"/>
          <p:cNvSpPr/>
          <p:nvPr/>
        </p:nvSpPr>
        <p:spPr>
          <a:xfrm>
            <a:off x="3474720" y="1325880"/>
            <a:ext cx="2194560" cy="1828800"/>
          </a:xfrm>
          <a:prstGeom prst="roundRect">
            <a:avLst>
              <a:gd name="adj" fmla="val 6000"/>
            </a:avLst>
          </a:prstGeom>
          <a:solidFill>
            <a:schemeClr val="bg2"/>
          </a:solidFill>
          <a:ln w="9525">
            <a:solidFill>
              <a:schemeClr val="bg2"/>
            </a:solidFill>
            <a:prstDash val="solid"/>
          </a:ln>
        </p:spPr>
      </p:sp>
      <p:sp>
        <p:nvSpPr>
          <p:cNvPr id="9" name="trio 2 circle"/>
          <p:cNvSpPr/>
          <p:nvPr/>
        </p:nvSpPr>
        <p:spPr>
          <a:xfrm>
            <a:off x="4206240" y="1508760"/>
            <a:ext cx="731520" cy="731520"/>
          </a:xfrm>
          <a:prstGeom prst="ellipse">
            <a:avLst/>
          </a:prstGeom>
          <a:solidFill>
            <a:schemeClr val="accent2"/>
          </a:solidFill>
          <a:ln w="9525">
            <a:solidFill>
              <a:schemeClr val="accent2"/>
            </a:solidFill>
            <a:prstDash val="solid"/>
          </a:ln>
        </p:spPr>
      </p:sp>
      <p:pic>
        <p:nvPicPr>
          <p:cNvPr id="10" name="Image 1" descr="trio 2 icon">    </p:cNvPr>
          <p:cNvPicPr>
            <a:picLocks noChangeAspect="1"/>
          </p:cNvPicPr>
          <p:nvPr/>
        </p:nvPicPr>
        <p:blipFill>
          <a:blip r:embed="rId2"/>
          <a:stretch>
            <a:fillRect/>
          </a:stretch>
        </p:blipFill>
        <p:spPr>
          <a:xfrm>
            <a:off x="4367174" y="1669694"/>
            <a:ext cx="409651" cy="409651"/>
          </a:xfrm>
          <a:prstGeom prst="rect">
            <a:avLst/>
          </a:prstGeom>
        </p:spPr>
      </p:pic>
      <p:sp>
        <p:nvSpPr>
          <p:cNvPr id="11" name="Text 7"/>
          <p:cNvSpPr txBox="1"/>
          <p:nvPr/>
        </p:nvSpPr>
        <p:spPr>
          <a:xfrm>
            <a:off x="3566160" y="2377440"/>
            <a:ext cx="2011680" cy="365760"/>
          </a:xfrm>
          <a:prstGeom prst="rect">
            <a:avLst/>
          </a:prstGeom>
          <a:noFill/>
          <a:ln/>
        </p:spPr>
        <p:txBody>
          <a:bodyPr wrap="square" lIns="0" tIns="0" rIns="0" bIns="0" rtlCol="0" anchor="t"/>
          <a:lstStyle/>
          <a:p>
            <a:pPr algn="ctr" indent="0" marL="0">
              <a:buNone/>
            </a:pPr>
            <a:r>
              <a:rPr lang="en-US" sz="2000" b="1" dirty="0">
                <a:solidFill>
                  <a:schemeClr val="tx2"/>
                </a:solidFill>
              </a:rPr>
              <a:t>The waiter</a:t>
            </a:r>
            <a:endParaRPr lang="en-US" sz="2000" dirty="0"/>
          </a:p>
        </p:txBody>
      </p:sp>
      <p:sp>
        <p:nvSpPr>
          <p:cNvPr id="12" name="Text 8"/>
          <p:cNvSpPr txBox="1"/>
          <p:nvPr/>
        </p:nvSpPr>
        <p:spPr>
          <a:xfrm>
            <a:off x="3566160" y="2743200"/>
            <a:ext cx="2011680" cy="320040"/>
          </a:xfrm>
          <a:prstGeom prst="rect">
            <a:avLst/>
          </a:prstGeom>
          <a:noFill/>
          <a:ln/>
        </p:spPr>
        <p:txBody>
          <a:bodyPr wrap="square" lIns="0" tIns="0" rIns="0" bIns="0" rtlCol="0" anchor="t"/>
          <a:lstStyle/>
          <a:p>
            <a:pPr algn="ctr" indent="0" marL="0">
              <a:buNone/>
            </a:pPr>
            <a:r>
              <a:rPr lang="en-US" sz="1400" dirty="0">
                <a:solidFill>
                  <a:schemeClr val="tx1"/>
                </a:solidFill>
              </a:rPr>
              <a:t>the API</a:t>
            </a:r>
            <a:endParaRPr lang="en-US" sz="1400" dirty="0"/>
          </a:p>
        </p:txBody>
      </p:sp>
      <p:sp>
        <p:nvSpPr>
          <p:cNvPr id="13" name="trio card 3"/>
          <p:cNvSpPr/>
          <p:nvPr/>
        </p:nvSpPr>
        <p:spPr>
          <a:xfrm>
            <a:off x="6492240" y="1325880"/>
            <a:ext cx="2194560" cy="1828800"/>
          </a:xfrm>
          <a:prstGeom prst="roundRect">
            <a:avLst>
              <a:gd name="adj" fmla="val 6000"/>
            </a:avLst>
          </a:prstGeom>
          <a:solidFill>
            <a:schemeClr val="bg2"/>
          </a:solidFill>
          <a:ln w="9525">
            <a:solidFill>
              <a:schemeClr val="bg2"/>
            </a:solidFill>
            <a:prstDash val="solid"/>
          </a:ln>
        </p:spPr>
      </p:sp>
      <p:sp>
        <p:nvSpPr>
          <p:cNvPr id="14" name="trio 3 circle"/>
          <p:cNvSpPr/>
          <p:nvPr/>
        </p:nvSpPr>
        <p:spPr>
          <a:xfrm>
            <a:off x="7223760" y="1508760"/>
            <a:ext cx="731520" cy="731520"/>
          </a:xfrm>
          <a:prstGeom prst="ellipse">
            <a:avLst/>
          </a:prstGeom>
          <a:solidFill>
            <a:schemeClr val="accent1"/>
          </a:solidFill>
          <a:ln w="9525">
            <a:solidFill>
              <a:schemeClr val="accent1"/>
            </a:solidFill>
            <a:prstDash val="solid"/>
          </a:ln>
        </p:spPr>
      </p:sp>
      <p:pic>
        <p:nvPicPr>
          <p:cNvPr id="15" name="Image 2" descr="trio 3 icon">    </p:cNvPr>
          <p:cNvPicPr>
            <a:picLocks noChangeAspect="1"/>
          </p:cNvPicPr>
          <p:nvPr/>
        </p:nvPicPr>
        <p:blipFill>
          <a:blip r:embed="rId3"/>
          <a:stretch>
            <a:fillRect/>
          </a:stretch>
        </p:blipFill>
        <p:spPr>
          <a:xfrm>
            <a:off x="7384694" y="1669694"/>
            <a:ext cx="409651" cy="409651"/>
          </a:xfrm>
          <a:prstGeom prst="rect">
            <a:avLst/>
          </a:prstGeom>
        </p:spPr>
      </p:pic>
      <p:sp>
        <p:nvSpPr>
          <p:cNvPr id="16" name="Text 11"/>
          <p:cNvSpPr txBox="1"/>
          <p:nvPr/>
        </p:nvSpPr>
        <p:spPr>
          <a:xfrm>
            <a:off x="6583680" y="2377440"/>
            <a:ext cx="2011680" cy="365760"/>
          </a:xfrm>
          <a:prstGeom prst="rect">
            <a:avLst/>
          </a:prstGeom>
          <a:noFill/>
          <a:ln/>
        </p:spPr>
        <p:txBody>
          <a:bodyPr wrap="square" lIns="0" tIns="0" rIns="0" bIns="0" rtlCol="0" anchor="t"/>
          <a:lstStyle/>
          <a:p>
            <a:pPr algn="ctr" indent="0" marL="0">
              <a:buNone/>
            </a:pPr>
            <a:r>
              <a:rPr lang="en-US" sz="2000" b="1" dirty="0">
                <a:solidFill>
                  <a:schemeClr val="tx2"/>
                </a:solidFill>
              </a:rPr>
              <a:t>The kitchen</a:t>
            </a:r>
            <a:endParaRPr lang="en-US" sz="2000" dirty="0"/>
          </a:p>
        </p:txBody>
      </p:sp>
      <p:sp>
        <p:nvSpPr>
          <p:cNvPr id="17" name="Text 12"/>
          <p:cNvSpPr txBox="1"/>
          <p:nvPr/>
        </p:nvSpPr>
        <p:spPr>
          <a:xfrm>
            <a:off x="6583680" y="2743200"/>
            <a:ext cx="2011680" cy="320040"/>
          </a:xfrm>
          <a:prstGeom prst="rect">
            <a:avLst/>
          </a:prstGeom>
          <a:noFill/>
          <a:ln/>
        </p:spPr>
        <p:txBody>
          <a:bodyPr wrap="square" lIns="0" tIns="0" rIns="0" bIns="0" rtlCol="0" anchor="t"/>
          <a:lstStyle/>
          <a:p>
            <a:pPr algn="ctr" indent="0" marL="0">
              <a:buNone/>
            </a:pPr>
            <a:r>
              <a:rPr lang="en-US" sz="1400" dirty="0">
                <a:solidFill>
                  <a:schemeClr val="tx1"/>
                </a:solidFill>
              </a:rPr>
              <a:t>the AI</a:t>
            </a:r>
            <a:endParaRPr lang="en-US" sz="1400" dirty="0"/>
          </a:p>
        </p:txBody>
      </p:sp>
      <p:sp>
        <p:nvSpPr>
          <p:cNvPr id="18" name="Text 13"/>
          <p:cNvSpPr txBox="1"/>
          <p:nvPr/>
        </p:nvSpPr>
        <p:spPr>
          <a:xfrm>
            <a:off x="2651760" y="1737360"/>
            <a:ext cx="822960" cy="274320"/>
          </a:xfrm>
          <a:prstGeom prst="rect">
            <a:avLst/>
          </a:prstGeom>
          <a:noFill/>
          <a:ln/>
        </p:spPr>
        <p:txBody>
          <a:bodyPr wrap="square" lIns="0" tIns="0" rIns="0" bIns="0" rtlCol="0" anchor="t"/>
          <a:lstStyle/>
          <a:p>
            <a:pPr algn="ctr" indent="0" marL="0">
              <a:buNone/>
            </a:pPr>
            <a:r>
              <a:rPr lang="en-US" sz="1200" dirty="0">
                <a:solidFill>
                  <a:schemeClr val="tx1"/>
                </a:solidFill>
              </a:rPr>
              <a:t>order</a:t>
            </a:r>
            <a:endParaRPr lang="en-US" sz="1200" dirty="0"/>
          </a:p>
        </p:txBody>
      </p:sp>
      <p:sp>
        <p:nvSpPr>
          <p:cNvPr id="19" name="arrow"/>
          <p:cNvSpPr/>
          <p:nvPr/>
        </p:nvSpPr>
        <p:spPr>
          <a:xfrm>
            <a:off x="2788920" y="2103120"/>
            <a:ext cx="548640" cy="0"/>
          </a:xfrm>
          <a:prstGeom prst="line">
            <a:avLst/>
          </a:prstGeom>
          <a:noFill/>
          <a:ln w="31750">
            <a:solidFill>
              <a:schemeClr val="accent1"/>
            </a:solidFill>
            <a:prstDash val="solid"/>
            <a:tailEnd type="triangle"/>
          </a:ln>
        </p:spPr>
      </p:sp>
      <p:sp>
        <p:nvSpPr>
          <p:cNvPr id="20" name="arrow"/>
          <p:cNvSpPr/>
          <p:nvPr/>
        </p:nvSpPr>
        <p:spPr>
          <a:xfrm flipH="1">
            <a:off x="2788920" y="2651760"/>
            <a:ext cx="548640" cy="0"/>
          </a:xfrm>
          <a:prstGeom prst="line">
            <a:avLst/>
          </a:prstGeom>
          <a:noFill/>
          <a:ln w="31750">
            <a:solidFill>
              <a:schemeClr val="accent2"/>
            </a:solidFill>
            <a:prstDash val="solid"/>
            <a:tailEnd type="triangle"/>
          </a:ln>
        </p:spPr>
      </p:sp>
      <p:sp>
        <p:nvSpPr>
          <p:cNvPr id="21" name="Text 16"/>
          <p:cNvSpPr txBox="1"/>
          <p:nvPr/>
        </p:nvSpPr>
        <p:spPr>
          <a:xfrm>
            <a:off x="2651760" y="2743200"/>
            <a:ext cx="822960" cy="274320"/>
          </a:xfrm>
          <a:prstGeom prst="rect">
            <a:avLst/>
          </a:prstGeom>
          <a:noFill/>
          <a:ln/>
        </p:spPr>
        <p:txBody>
          <a:bodyPr wrap="square" lIns="0" tIns="0" rIns="0" bIns="0" rtlCol="0" anchor="t"/>
          <a:lstStyle/>
          <a:p>
            <a:pPr algn="ctr" indent="0" marL="0">
              <a:buNone/>
            </a:pPr>
            <a:r>
              <a:rPr lang="en-US" sz="1200" dirty="0">
                <a:solidFill>
                  <a:schemeClr val="tx1"/>
                </a:solidFill>
              </a:rPr>
              <a:t>answer</a:t>
            </a:r>
            <a:endParaRPr lang="en-US" sz="1200" dirty="0"/>
          </a:p>
        </p:txBody>
      </p:sp>
      <p:sp>
        <p:nvSpPr>
          <p:cNvPr id="22" name="Text 17"/>
          <p:cNvSpPr txBox="1"/>
          <p:nvPr/>
        </p:nvSpPr>
        <p:spPr>
          <a:xfrm>
            <a:off x="5669280" y="1737360"/>
            <a:ext cx="822960" cy="274320"/>
          </a:xfrm>
          <a:prstGeom prst="rect">
            <a:avLst/>
          </a:prstGeom>
          <a:noFill/>
          <a:ln/>
        </p:spPr>
        <p:txBody>
          <a:bodyPr wrap="square" lIns="0" tIns="0" rIns="0" bIns="0" rtlCol="0" anchor="t"/>
          <a:lstStyle/>
          <a:p>
            <a:pPr algn="ctr" indent="0" marL="0">
              <a:buNone/>
            </a:pPr>
            <a:r>
              <a:rPr lang="en-US" sz="1200" dirty="0">
                <a:solidFill>
                  <a:schemeClr val="tx1"/>
                </a:solidFill>
              </a:rPr>
              <a:t>order</a:t>
            </a:r>
            <a:endParaRPr lang="en-US" sz="1200" dirty="0"/>
          </a:p>
        </p:txBody>
      </p:sp>
      <p:sp>
        <p:nvSpPr>
          <p:cNvPr id="23" name="arrow"/>
          <p:cNvSpPr/>
          <p:nvPr/>
        </p:nvSpPr>
        <p:spPr>
          <a:xfrm>
            <a:off x="5806440" y="2103120"/>
            <a:ext cx="548640" cy="0"/>
          </a:xfrm>
          <a:prstGeom prst="line">
            <a:avLst/>
          </a:prstGeom>
          <a:noFill/>
          <a:ln w="31750">
            <a:solidFill>
              <a:schemeClr val="accent1"/>
            </a:solidFill>
            <a:prstDash val="solid"/>
            <a:tailEnd type="triangle"/>
          </a:ln>
        </p:spPr>
      </p:sp>
      <p:sp>
        <p:nvSpPr>
          <p:cNvPr id="24" name="arrow"/>
          <p:cNvSpPr/>
          <p:nvPr/>
        </p:nvSpPr>
        <p:spPr>
          <a:xfrm flipH="1">
            <a:off x="5806440" y="2651760"/>
            <a:ext cx="548640" cy="0"/>
          </a:xfrm>
          <a:prstGeom prst="line">
            <a:avLst/>
          </a:prstGeom>
          <a:noFill/>
          <a:ln w="31750">
            <a:solidFill>
              <a:schemeClr val="accent2"/>
            </a:solidFill>
            <a:prstDash val="solid"/>
            <a:tailEnd type="triangle"/>
          </a:ln>
        </p:spPr>
      </p:sp>
      <p:sp>
        <p:nvSpPr>
          <p:cNvPr id="25" name="Text 20"/>
          <p:cNvSpPr txBox="1"/>
          <p:nvPr/>
        </p:nvSpPr>
        <p:spPr>
          <a:xfrm>
            <a:off x="5669280" y="2743200"/>
            <a:ext cx="822960" cy="274320"/>
          </a:xfrm>
          <a:prstGeom prst="rect">
            <a:avLst/>
          </a:prstGeom>
          <a:noFill/>
          <a:ln/>
        </p:spPr>
        <p:txBody>
          <a:bodyPr wrap="square" lIns="0" tIns="0" rIns="0" bIns="0" rtlCol="0" anchor="t"/>
          <a:lstStyle/>
          <a:p>
            <a:pPr algn="ctr" indent="0" marL="0">
              <a:buNone/>
            </a:pPr>
            <a:r>
              <a:rPr lang="en-US" sz="1200" dirty="0">
                <a:solidFill>
                  <a:schemeClr val="tx1"/>
                </a:solidFill>
              </a:rPr>
              <a:t>answer</a:t>
            </a:r>
            <a:endParaRPr lang="en-US" sz="1200" dirty="0"/>
          </a:p>
        </p:txBody>
      </p:sp>
      <p:sp>
        <p:nvSpPr>
          <p:cNvPr id="26" name="Text 21"/>
          <p:cNvSpPr txBox="1"/>
          <p:nvPr/>
        </p:nvSpPr>
        <p:spPr>
          <a:xfrm>
            <a:off x="457200" y="3474720"/>
            <a:ext cx="8229600" cy="731520"/>
          </a:xfrm>
          <a:prstGeom prst="rect">
            <a:avLst/>
          </a:prstGeom>
          <a:noFill/>
          <a:ln/>
        </p:spPr>
        <p:txBody>
          <a:bodyPr wrap="square" lIns="0" tIns="0" rIns="0" bIns="0" rtlCol="0" anchor="t"/>
          <a:lstStyle/>
          <a:p>
            <a:pPr indent="0" marL="0">
              <a:buNone/>
            </a:pPr>
            <a:r>
              <a:rPr lang="en-US" sz="1800" dirty="0">
                <a:solidFill>
                  <a:schemeClr val="tx1"/>
                </a:solidFill>
              </a:rPr>
              <a:t>An API is the waiter: it carries your order to the kitchen and brings the food back. You never walk into the kitchen yourself.</a:t>
            </a:r>
            <a:endParaRPr lang="en-US" sz="1800" dirty="0"/>
          </a:p>
        </p:txBody>
      </p:sp>
      <p:sp>
        <p:nvSpPr>
          <p:cNvPr id="27" name="Text 22"/>
          <p:cNvSpPr txBox="1"/>
          <p:nvPr/>
        </p:nvSpPr>
        <p:spPr>
          <a:xfrm>
            <a:off x="457200" y="4206240"/>
            <a:ext cx="8229600" cy="365760"/>
          </a:xfrm>
          <a:prstGeom prst="rect">
            <a:avLst/>
          </a:prstGeom>
          <a:noFill/>
          <a:ln/>
        </p:spPr>
        <p:txBody>
          <a:bodyPr wrap="square" lIns="0" tIns="0" rIns="0" bIns="0" rtlCol="0" anchor="t"/>
          <a:lstStyle/>
          <a:p>
            <a:pPr indent="0" marL="0">
              <a:buNone/>
            </a:pPr>
            <a:r>
              <a:rPr lang="en-US" sz="1400" b="1" dirty="0">
                <a:solidFill>
                  <a:schemeClr val="tx2"/>
                </a:solidFill>
              </a:rPr>
              <a:t>That is how your own programs can use an AI, not just the chat window.</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600" b="1" dirty="0">
                <a:solidFill>
                  <a:schemeClr val="tx2"/>
                </a:solidFill>
              </a:rPr>
              <a:t>Every order has four parts</a:t>
            </a:r>
            <a:endParaRPr lang="en-US" sz="3600" dirty="0"/>
          </a:p>
        </p:txBody>
      </p:sp>
      <p:sp>
        <p:nvSpPr>
          <p:cNvPr id="3" name="part card 1"/>
          <p:cNvSpPr/>
          <p:nvPr/>
        </p:nvSpPr>
        <p:spPr>
          <a:xfrm>
            <a:off x="457200" y="1234440"/>
            <a:ext cx="3977640" cy="1508760"/>
          </a:xfrm>
          <a:prstGeom prst="roundRect">
            <a:avLst>
              <a:gd name="adj" fmla="val 7273"/>
            </a:avLst>
          </a:prstGeom>
          <a:solidFill>
            <a:schemeClr val="bg2"/>
          </a:solidFill>
          <a:ln w="9525">
            <a:solidFill>
              <a:schemeClr val="bg2"/>
            </a:solidFill>
            <a:prstDash val="solid"/>
          </a:ln>
        </p:spPr>
      </p:sp>
      <p:sp>
        <p:nvSpPr>
          <p:cNvPr id="4" name="part 1 circle"/>
          <p:cNvSpPr/>
          <p:nvPr/>
        </p:nvSpPr>
        <p:spPr>
          <a:xfrm>
            <a:off x="685800" y="1645920"/>
            <a:ext cx="640080" cy="640080"/>
          </a:xfrm>
          <a:prstGeom prst="ellipse">
            <a:avLst/>
          </a:prstGeom>
          <a:solidFill>
            <a:schemeClr val="accent1"/>
          </a:solidFill>
          <a:ln w="9525">
            <a:solidFill>
              <a:schemeClr val="accent1"/>
            </a:solidFill>
            <a:prstDash val="solid"/>
          </a:ln>
        </p:spPr>
      </p:sp>
      <p:pic>
        <p:nvPicPr>
          <p:cNvPr id="5" name="Image 0" descr="part 1 icon">    </p:cNvPr>
          <p:cNvPicPr>
            <a:picLocks noChangeAspect="1"/>
          </p:cNvPicPr>
          <p:nvPr/>
        </p:nvPicPr>
        <p:blipFill>
          <a:blip r:embed="rId1"/>
          <a:stretch>
            <a:fillRect/>
          </a:stretch>
        </p:blipFill>
        <p:spPr>
          <a:xfrm>
            <a:off x="826618" y="1786738"/>
            <a:ext cx="358445" cy="358445"/>
          </a:xfrm>
          <a:prstGeom prst="rect">
            <a:avLst/>
          </a:prstGeom>
        </p:spPr>
      </p:pic>
      <p:sp>
        <p:nvSpPr>
          <p:cNvPr id="6" name="Text 3"/>
          <p:cNvSpPr txBox="1"/>
          <p:nvPr/>
        </p:nvSpPr>
        <p:spPr>
          <a:xfrm>
            <a:off x="1508760" y="1417320"/>
            <a:ext cx="2743200" cy="320040"/>
          </a:xfrm>
          <a:prstGeom prst="rect">
            <a:avLst/>
          </a:prstGeom>
          <a:noFill/>
          <a:ln/>
        </p:spPr>
        <p:txBody>
          <a:bodyPr wrap="square" lIns="0" tIns="0" rIns="0" bIns="0" rtlCol="0" anchor="t"/>
          <a:lstStyle/>
          <a:p>
            <a:pPr indent="0" marL="0">
              <a:buNone/>
            </a:pPr>
            <a:r>
              <a:rPr lang="en-US" sz="1800" b="1" dirty="0">
                <a:solidFill>
                  <a:schemeClr val="tx2"/>
                </a:solidFill>
              </a:rPr>
              <a:t>Address (endpoint)</a:t>
            </a:r>
            <a:endParaRPr lang="en-US" sz="1800" dirty="0"/>
          </a:p>
        </p:txBody>
      </p:sp>
      <p:sp>
        <p:nvSpPr>
          <p:cNvPr id="7" name="Text 4"/>
          <p:cNvSpPr txBox="1"/>
          <p:nvPr/>
        </p:nvSpPr>
        <p:spPr>
          <a:xfrm>
            <a:off x="1508760" y="1783080"/>
            <a:ext cx="2743200" cy="868680"/>
          </a:xfrm>
          <a:prstGeom prst="rect">
            <a:avLst/>
          </a:prstGeom>
          <a:noFill/>
          <a:ln/>
        </p:spPr>
        <p:txBody>
          <a:bodyPr wrap="square" lIns="0" tIns="0" rIns="0" bIns="0" rtlCol="0" anchor="t"/>
          <a:lstStyle/>
          <a:p>
            <a:pPr indent="0" marL="0">
              <a:buNone/>
            </a:pPr>
            <a:r>
              <a:rPr lang="en-US" sz="1400" dirty="0">
                <a:solidFill>
                  <a:schemeClr val="tx1"/>
                </a:solidFill>
              </a:rPr>
              <a:t>Where the order goes: the web address of the AI service.</a:t>
            </a:r>
            <a:endParaRPr lang="en-US" sz="1400" dirty="0"/>
          </a:p>
        </p:txBody>
      </p:sp>
      <p:sp>
        <p:nvSpPr>
          <p:cNvPr id="8" name="part card 2"/>
          <p:cNvSpPr/>
          <p:nvPr/>
        </p:nvSpPr>
        <p:spPr>
          <a:xfrm>
            <a:off x="4709160" y="1234440"/>
            <a:ext cx="3977640" cy="1508760"/>
          </a:xfrm>
          <a:prstGeom prst="roundRect">
            <a:avLst>
              <a:gd name="adj" fmla="val 7273"/>
            </a:avLst>
          </a:prstGeom>
          <a:solidFill>
            <a:schemeClr val="bg2"/>
          </a:solidFill>
          <a:ln w="9525">
            <a:solidFill>
              <a:schemeClr val="bg2"/>
            </a:solidFill>
            <a:prstDash val="solid"/>
          </a:ln>
        </p:spPr>
      </p:sp>
      <p:sp>
        <p:nvSpPr>
          <p:cNvPr id="9" name="part 2 circle"/>
          <p:cNvSpPr/>
          <p:nvPr/>
        </p:nvSpPr>
        <p:spPr>
          <a:xfrm>
            <a:off x="4937760" y="1645920"/>
            <a:ext cx="640080" cy="640080"/>
          </a:xfrm>
          <a:prstGeom prst="ellipse">
            <a:avLst/>
          </a:prstGeom>
          <a:solidFill>
            <a:schemeClr val="accent1"/>
          </a:solidFill>
          <a:ln w="9525">
            <a:solidFill>
              <a:schemeClr val="accent1"/>
            </a:solidFill>
            <a:prstDash val="solid"/>
          </a:ln>
        </p:spPr>
      </p:sp>
      <p:pic>
        <p:nvPicPr>
          <p:cNvPr id="10" name="Image 1" descr="part 2 icon">    </p:cNvPr>
          <p:cNvPicPr>
            <a:picLocks noChangeAspect="1"/>
          </p:cNvPicPr>
          <p:nvPr/>
        </p:nvPicPr>
        <p:blipFill>
          <a:blip r:embed="rId2"/>
          <a:stretch>
            <a:fillRect/>
          </a:stretch>
        </p:blipFill>
        <p:spPr>
          <a:xfrm>
            <a:off x="5078578" y="1786738"/>
            <a:ext cx="358445" cy="358445"/>
          </a:xfrm>
          <a:prstGeom prst="rect">
            <a:avLst/>
          </a:prstGeom>
        </p:spPr>
      </p:pic>
      <p:sp>
        <p:nvSpPr>
          <p:cNvPr id="11" name="Text 7"/>
          <p:cNvSpPr txBox="1"/>
          <p:nvPr/>
        </p:nvSpPr>
        <p:spPr>
          <a:xfrm>
            <a:off x="5760720" y="1417320"/>
            <a:ext cx="2743200" cy="320040"/>
          </a:xfrm>
          <a:prstGeom prst="rect">
            <a:avLst/>
          </a:prstGeom>
          <a:noFill/>
          <a:ln/>
        </p:spPr>
        <p:txBody>
          <a:bodyPr wrap="square" lIns="0" tIns="0" rIns="0" bIns="0" rtlCol="0" anchor="t"/>
          <a:lstStyle/>
          <a:p>
            <a:pPr indent="0" marL="0">
              <a:buNone/>
            </a:pPr>
            <a:r>
              <a:rPr lang="en-US" sz="1800" b="1" dirty="0">
                <a:solidFill>
                  <a:schemeClr val="tx2"/>
                </a:solidFill>
              </a:rPr>
              <a:t>Action (method)</a:t>
            </a:r>
            <a:endParaRPr lang="en-US" sz="1800" dirty="0"/>
          </a:p>
        </p:txBody>
      </p:sp>
      <p:sp>
        <p:nvSpPr>
          <p:cNvPr id="12" name="Text 8"/>
          <p:cNvSpPr txBox="1"/>
          <p:nvPr/>
        </p:nvSpPr>
        <p:spPr>
          <a:xfrm>
            <a:off x="5760720" y="1783080"/>
            <a:ext cx="2743200" cy="868680"/>
          </a:xfrm>
          <a:prstGeom prst="rect">
            <a:avLst/>
          </a:prstGeom>
          <a:noFill/>
          <a:ln/>
        </p:spPr>
        <p:txBody>
          <a:bodyPr wrap="square" lIns="0" tIns="0" rIns="0" bIns="0" rtlCol="0" anchor="t"/>
          <a:lstStyle/>
          <a:p>
            <a:pPr indent="0" marL="0">
              <a:buNone/>
            </a:pPr>
            <a:r>
              <a:rPr lang="en-US" sz="1400" dirty="0">
                <a:solidFill>
                  <a:schemeClr val="tx1"/>
                </a:solidFill>
              </a:rPr>
              <a:t>GET = ask for something. POST = hand over an order. Talking to an AI uses POST.</a:t>
            </a:r>
            <a:endParaRPr lang="en-US" sz="1400" dirty="0"/>
          </a:p>
        </p:txBody>
      </p:sp>
      <p:sp>
        <p:nvSpPr>
          <p:cNvPr id="13" name="part card 3"/>
          <p:cNvSpPr/>
          <p:nvPr/>
        </p:nvSpPr>
        <p:spPr>
          <a:xfrm>
            <a:off x="457200" y="2926080"/>
            <a:ext cx="3977640" cy="1508760"/>
          </a:xfrm>
          <a:prstGeom prst="roundRect">
            <a:avLst>
              <a:gd name="adj" fmla="val 7273"/>
            </a:avLst>
          </a:prstGeom>
          <a:solidFill>
            <a:schemeClr val="bg2"/>
          </a:solidFill>
          <a:ln w="9525">
            <a:solidFill>
              <a:schemeClr val="bg2"/>
            </a:solidFill>
            <a:prstDash val="solid"/>
          </a:ln>
        </p:spPr>
      </p:sp>
      <p:sp>
        <p:nvSpPr>
          <p:cNvPr id="14" name="part 3 circle"/>
          <p:cNvSpPr/>
          <p:nvPr/>
        </p:nvSpPr>
        <p:spPr>
          <a:xfrm>
            <a:off x="685800" y="3337560"/>
            <a:ext cx="640080" cy="640080"/>
          </a:xfrm>
          <a:prstGeom prst="ellipse">
            <a:avLst/>
          </a:prstGeom>
          <a:solidFill>
            <a:schemeClr val="accent2"/>
          </a:solidFill>
          <a:ln w="9525">
            <a:solidFill>
              <a:schemeClr val="accent2"/>
            </a:solidFill>
            <a:prstDash val="solid"/>
          </a:ln>
        </p:spPr>
      </p:sp>
      <p:pic>
        <p:nvPicPr>
          <p:cNvPr id="15" name="Image 2" descr="part 3 icon">    </p:cNvPr>
          <p:cNvPicPr>
            <a:picLocks noChangeAspect="1"/>
          </p:cNvPicPr>
          <p:nvPr/>
        </p:nvPicPr>
        <p:blipFill>
          <a:blip r:embed="rId3"/>
          <a:stretch>
            <a:fillRect/>
          </a:stretch>
        </p:blipFill>
        <p:spPr>
          <a:xfrm>
            <a:off x="826618" y="3478378"/>
            <a:ext cx="358445" cy="358445"/>
          </a:xfrm>
          <a:prstGeom prst="rect">
            <a:avLst/>
          </a:prstGeom>
        </p:spPr>
      </p:pic>
      <p:sp>
        <p:nvSpPr>
          <p:cNvPr id="16" name="Text 11"/>
          <p:cNvSpPr txBox="1"/>
          <p:nvPr/>
        </p:nvSpPr>
        <p:spPr>
          <a:xfrm>
            <a:off x="1508760" y="3108960"/>
            <a:ext cx="2743200" cy="320040"/>
          </a:xfrm>
          <a:prstGeom prst="rect">
            <a:avLst/>
          </a:prstGeom>
          <a:noFill/>
          <a:ln/>
        </p:spPr>
        <p:txBody>
          <a:bodyPr wrap="square" lIns="0" tIns="0" rIns="0" bIns="0" rtlCol="0" anchor="t"/>
          <a:lstStyle/>
          <a:p>
            <a:pPr indent="0" marL="0">
              <a:buNone/>
            </a:pPr>
            <a:r>
              <a:rPr lang="en-US" sz="1800" b="1" dirty="0">
                <a:solidFill>
                  <a:schemeClr val="tx2"/>
                </a:solidFill>
              </a:rPr>
              <a:t>ID card (API key)</a:t>
            </a:r>
            <a:endParaRPr lang="en-US" sz="1800" dirty="0"/>
          </a:p>
        </p:txBody>
      </p:sp>
      <p:sp>
        <p:nvSpPr>
          <p:cNvPr id="17" name="Text 12"/>
          <p:cNvSpPr txBox="1"/>
          <p:nvPr/>
        </p:nvSpPr>
        <p:spPr>
          <a:xfrm>
            <a:off x="1508760" y="3474720"/>
            <a:ext cx="2743200" cy="868680"/>
          </a:xfrm>
          <a:prstGeom prst="rect">
            <a:avLst/>
          </a:prstGeom>
          <a:noFill/>
          <a:ln/>
        </p:spPr>
        <p:txBody>
          <a:bodyPr wrap="square" lIns="0" tIns="0" rIns="0" bIns="0" rtlCol="0" anchor="t"/>
          <a:lstStyle/>
          <a:p>
            <a:pPr indent="0" marL="0">
              <a:buNone/>
            </a:pPr>
            <a:r>
              <a:rPr lang="en-US" sz="1400" dirty="0">
                <a:solidFill>
                  <a:schemeClr val="tx1"/>
                </a:solidFill>
              </a:rPr>
              <a:t>A secret password that proves it is you. Never share it or post it online.</a:t>
            </a:r>
            <a:endParaRPr lang="en-US" sz="1400" dirty="0"/>
          </a:p>
        </p:txBody>
      </p:sp>
      <p:sp>
        <p:nvSpPr>
          <p:cNvPr id="18" name="part card 4"/>
          <p:cNvSpPr/>
          <p:nvPr/>
        </p:nvSpPr>
        <p:spPr>
          <a:xfrm>
            <a:off x="4709160" y="2926080"/>
            <a:ext cx="3977640" cy="1508760"/>
          </a:xfrm>
          <a:prstGeom prst="roundRect">
            <a:avLst>
              <a:gd name="adj" fmla="val 7273"/>
            </a:avLst>
          </a:prstGeom>
          <a:solidFill>
            <a:schemeClr val="bg2"/>
          </a:solidFill>
          <a:ln w="9525">
            <a:solidFill>
              <a:schemeClr val="bg2"/>
            </a:solidFill>
            <a:prstDash val="solid"/>
          </a:ln>
        </p:spPr>
      </p:sp>
      <p:sp>
        <p:nvSpPr>
          <p:cNvPr id="19" name="part 4 circle"/>
          <p:cNvSpPr/>
          <p:nvPr/>
        </p:nvSpPr>
        <p:spPr>
          <a:xfrm>
            <a:off x="4937760" y="3337560"/>
            <a:ext cx="640080" cy="640080"/>
          </a:xfrm>
          <a:prstGeom prst="ellipse">
            <a:avLst/>
          </a:prstGeom>
          <a:solidFill>
            <a:schemeClr val="accent1"/>
          </a:solidFill>
          <a:ln w="9525">
            <a:solidFill>
              <a:schemeClr val="accent1"/>
            </a:solidFill>
            <a:prstDash val="solid"/>
          </a:ln>
        </p:spPr>
      </p:sp>
      <p:pic>
        <p:nvPicPr>
          <p:cNvPr id="20" name="Image 3" descr="part 4 icon">    </p:cNvPr>
          <p:cNvPicPr>
            <a:picLocks noChangeAspect="1"/>
          </p:cNvPicPr>
          <p:nvPr/>
        </p:nvPicPr>
        <p:blipFill>
          <a:blip r:embed="rId4"/>
          <a:stretch>
            <a:fillRect/>
          </a:stretch>
        </p:blipFill>
        <p:spPr>
          <a:xfrm>
            <a:off x="5078578" y="3478378"/>
            <a:ext cx="358445" cy="358445"/>
          </a:xfrm>
          <a:prstGeom prst="rect">
            <a:avLst/>
          </a:prstGeom>
        </p:spPr>
      </p:pic>
      <p:sp>
        <p:nvSpPr>
          <p:cNvPr id="21" name="Text 15"/>
          <p:cNvSpPr txBox="1"/>
          <p:nvPr/>
        </p:nvSpPr>
        <p:spPr>
          <a:xfrm>
            <a:off x="5760720" y="3108960"/>
            <a:ext cx="2743200" cy="320040"/>
          </a:xfrm>
          <a:prstGeom prst="rect">
            <a:avLst/>
          </a:prstGeom>
          <a:noFill/>
          <a:ln/>
        </p:spPr>
        <p:txBody>
          <a:bodyPr wrap="square" lIns="0" tIns="0" rIns="0" bIns="0" rtlCol="0" anchor="t"/>
          <a:lstStyle/>
          <a:p>
            <a:pPr indent="0" marL="0">
              <a:buNone/>
            </a:pPr>
            <a:r>
              <a:rPr lang="en-US" sz="1800" b="1" dirty="0">
                <a:solidFill>
                  <a:schemeClr val="tx2"/>
                </a:solidFill>
              </a:rPr>
              <a:t>The order (body)</a:t>
            </a:r>
            <a:endParaRPr lang="en-US" sz="1800" dirty="0"/>
          </a:p>
        </p:txBody>
      </p:sp>
      <p:sp>
        <p:nvSpPr>
          <p:cNvPr id="22" name="Text 16"/>
          <p:cNvSpPr txBox="1"/>
          <p:nvPr/>
        </p:nvSpPr>
        <p:spPr>
          <a:xfrm>
            <a:off x="5760720" y="3474720"/>
            <a:ext cx="2743200" cy="868680"/>
          </a:xfrm>
          <a:prstGeom prst="rect">
            <a:avLst/>
          </a:prstGeom>
          <a:noFill/>
          <a:ln/>
        </p:spPr>
        <p:txBody>
          <a:bodyPr wrap="square" lIns="0" tIns="0" rIns="0" bIns="0" rtlCol="0" anchor="t"/>
          <a:lstStyle/>
          <a:p>
            <a:pPr indent="0" marL="0">
              <a:buNone/>
            </a:pPr>
            <a:r>
              <a:rPr lang="en-US" sz="1400" dirty="0">
                <a:solidFill>
                  <a:schemeClr val="tx1"/>
                </a:solidFill>
              </a:rPr>
              <a:t>What you want, written as a neat form called JSON.</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600" b="1" dirty="0">
                <a:solidFill>
                  <a:schemeClr val="tx2"/>
                </a:solidFill>
              </a:rPr>
              <a:t>JSON: the tidy order form</a:t>
            </a:r>
            <a:endParaRPr lang="en-US" sz="3600" dirty="0"/>
          </a:p>
        </p:txBody>
      </p:sp>
      <p:sp>
        <p:nvSpPr>
          <p:cNvPr id="3" name="paper form"/>
          <p:cNvSpPr/>
          <p:nvPr/>
        </p:nvSpPr>
        <p:spPr>
          <a:xfrm>
            <a:off x="457200" y="1280160"/>
            <a:ext cx="3840480" cy="2194560"/>
          </a:xfrm>
          <a:prstGeom prst="roundRect">
            <a:avLst>
              <a:gd name="adj" fmla="val 5000"/>
            </a:avLst>
          </a:prstGeom>
          <a:solidFill>
            <a:schemeClr val="bg2"/>
          </a:solidFill>
          <a:ln w="9525">
            <a:solidFill>
              <a:schemeClr val="bg2"/>
            </a:solidFill>
            <a:prstDash val="solid"/>
          </a:ln>
        </p:spPr>
      </p:sp>
      <p:sp>
        <p:nvSpPr>
          <p:cNvPr id="4" name="Text 2"/>
          <p:cNvSpPr txBox="1"/>
          <p:nvPr/>
        </p:nvSpPr>
        <p:spPr>
          <a:xfrm>
            <a:off x="685800" y="1417320"/>
            <a:ext cx="3383280" cy="274320"/>
          </a:xfrm>
          <a:prstGeom prst="rect">
            <a:avLst/>
          </a:prstGeom>
          <a:noFill/>
          <a:ln/>
        </p:spPr>
        <p:txBody>
          <a:bodyPr wrap="square" lIns="0" tIns="0" rIns="0" bIns="0" rtlCol="0" anchor="t"/>
          <a:lstStyle/>
          <a:p>
            <a:pPr indent="0" marL="0">
              <a:buNone/>
            </a:pPr>
            <a:r>
              <a:rPr lang="en-US" sz="1200" b="1" dirty="0">
                <a:solidFill>
                  <a:schemeClr val="accent1"/>
                </a:solidFill>
              </a:rPr>
              <a:t>LIKE A PAPER FORM</a:t>
            </a:r>
            <a:endParaRPr lang="en-US" sz="1200" dirty="0"/>
          </a:p>
        </p:txBody>
      </p:sp>
      <p:sp>
        <p:nvSpPr>
          <p:cNvPr id="5" name="Text 3"/>
          <p:cNvSpPr txBox="1"/>
          <p:nvPr/>
        </p:nvSpPr>
        <p:spPr>
          <a:xfrm>
            <a:off x="685800" y="1874520"/>
            <a:ext cx="3383280" cy="1371600"/>
          </a:xfrm>
          <a:prstGeom prst="rect">
            <a:avLst/>
          </a:prstGeom>
          <a:noFill/>
          <a:ln/>
        </p:spPr>
        <p:txBody>
          <a:bodyPr wrap="square" lIns="0" tIns="0" rIns="0" bIns="0" rtlCol="0" anchor="t"/>
          <a:lstStyle/>
          <a:p>
            <a:pPr indent="0" marL="0">
              <a:spcAft>
                <a:spcPts val="800"/>
              </a:spcAft>
              <a:buNone/>
            </a:pPr>
            <a:r>
              <a:rPr lang="en-US" sz="2000" dirty="0">
                <a:solidFill>
                  <a:schemeClr val="tx1"/>
                </a:solidFill>
              </a:rPr>
              <a:t>Name:   Wanjiru</a:t>
            </a:r>
            <a:endParaRPr lang="en-US" sz="2000" dirty="0"/>
          </a:p>
          <a:p>
            <a:pPr indent="0" marL="0">
              <a:spcAft>
                <a:spcPts val="800"/>
              </a:spcAft>
              <a:buNone/>
            </a:pPr>
            <a:r>
              <a:rPr lang="en-US" sz="2000" dirty="0">
                <a:solidFill>
                  <a:schemeClr val="tx1"/>
                </a:solidFill>
              </a:rPr>
              <a:t>Drink:   tea</a:t>
            </a:r>
            <a:endParaRPr lang="en-US" sz="2000" dirty="0"/>
          </a:p>
          <a:p>
            <a:pPr indent="0" marL="0">
              <a:spcAft>
                <a:spcPts val="800"/>
              </a:spcAft>
              <a:buNone/>
            </a:pPr>
            <a:r>
              <a:rPr lang="en-US" sz="2000" dirty="0">
                <a:solidFill>
                  <a:schemeClr val="tx1"/>
                </a:solidFill>
              </a:rPr>
              <a:t>Sugar:   yes</a:t>
            </a:r>
            <a:endParaRPr lang="en-US" sz="2000" dirty="0"/>
          </a:p>
        </p:txBody>
      </p:sp>
      <p:sp>
        <p:nvSpPr>
          <p:cNvPr id="6" name="json box"/>
          <p:cNvSpPr/>
          <p:nvPr/>
        </p:nvSpPr>
        <p:spPr>
          <a:xfrm>
            <a:off x="4572000" y="1280160"/>
            <a:ext cx="4114800" cy="2194560"/>
          </a:xfrm>
          <a:prstGeom prst="roundRect">
            <a:avLst>
              <a:gd name="adj" fmla="val 5000"/>
            </a:avLst>
          </a:prstGeom>
          <a:solidFill>
            <a:schemeClr val="tx1"/>
          </a:solidFill>
          <a:ln w="9525">
            <a:solidFill>
              <a:schemeClr val="tx1"/>
            </a:solidFill>
            <a:prstDash val="solid"/>
          </a:ln>
        </p:spPr>
      </p:sp>
      <p:sp>
        <p:nvSpPr>
          <p:cNvPr id="7" name="Text 5"/>
          <p:cNvSpPr txBox="1"/>
          <p:nvPr/>
        </p:nvSpPr>
        <p:spPr>
          <a:xfrm>
            <a:off x="4800600" y="1417320"/>
            <a:ext cx="3657600" cy="274320"/>
          </a:xfrm>
          <a:prstGeom prst="rect">
            <a:avLst/>
          </a:prstGeom>
          <a:noFill/>
          <a:ln/>
        </p:spPr>
        <p:txBody>
          <a:bodyPr wrap="square" lIns="0" tIns="0" rIns="0" bIns="0" rtlCol="0" anchor="t"/>
          <a:lstStyle/>
          <a:p>
            <a:pPr indent="0" marL="0">
              <a:buNone/>
            </a:pPr>
            <a:r>
              <a:rPr lang="en-US" sz="1200" b="1" dirty="0">
                <a:solidFill>
                  <a:schemeClr val="accent3"/>
                </a:solidFill>
              </a:rPr>
              <a:t>THE SAME THING IN JSON</a:t>
            </a:r>
            <a:endParaRPr lang="en-US" sz="1200" dirty="0"/>
          </a:p>
        </p:txBody>
      </p:sp>
      <p:sp>
        <p:nvSpPr>
          <p:cNvPr id="8" name="Text 6"/>
          <p:cNvSpPr txBox="1"/>
          <p:nvPr/>
        </p:nvSpPr>
        <p:spPr>
          <a:xfrm>
            <a:off x="4800600" y="1783080"/>
            <a:ext cx="3657600" cy="1554480"/>
          </a:xfrm>
          <a:prstGeom prst="rect">
            <a:avLst/>
          </a:prstGeom>
          <a:noFill/>
          <a:ln/>
        </p:spPr>
        <p:txBody>
          <a:bodyPr wrap="square" lIns="0" tIns="0" rIns="0" bIns="0" rtlCol="0" anchor="t"/>
          <a:lstStyle/>
          <a:p>
            <a:pPr indent="0" marL="0">
              <a:lnSpc>
                <a:spcPct val="100000"/>
              </a:lnSpc>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a:p>
            <a:pPr indent="0" marL="0">
              <a:lnSpc>
                <a:spcPct val="100000"/>
              </a:lnSpc>
              <a:buNone/>
            </a:pPr>
            <a:r>
              <a:rPr lang="en-US" sz="1300" dirty="0">
                <a:solidFill>
                  <a:schemeClr val="bg1"/>
                </a:solidFill>
                <a:latin typeface="Courier New" pitchFamily="34" charset="0"/>
                <a:ea typeface="Courier New" pitchFamily="34" charset="-122"/>
                <a:cs typeface="Courier New" pitchFamily="34" charset="-120"/>
              </a:rPr>
              <a:t>  "name": "Wanjiru",</a:t>
            </a:r>
            <a:endParaRPr lang="en-US" sz="1300" dirty="0"/>
          </a:p>
          <a:p>
            <a:pPr indent="0" marL="0">
              <a:lnSpc>
                <a:spcPct val="100000"/>
              </a:lnSpc>
              <a:buNone/>
            </a:pPr>
            <a:r>
              <a:rPr lang="en-US" sz="1300" dirty="0">
                <a:solidFill>
                  <a:schemeClr val="bg1"/>
                </a:solidFill>
                <a:latin typeface="Courier New" pitchFamily="34" charset="0"/>
                <a:ea typeface="Courier New" pitchFamily="34" charset="-122"/>
                <a:cs typeface="Courier New" pitchFamily="34" charset="-120"/>
              </a:rPr>
              <a:t>  "drink": "tea",</a:t>
            </a:r>
            <a:endParaRPr lang="en-US" sz="1300" dirty="0"/>
          </a:p>
          <a:p>
            <a:pPr indent="0" marL="0">
              <a:lnSpc>
                <a:spcPct val="100000"/>
              </a:lnSpc>
              <a:buNone/>
            </a:pPr>
            <a:r>
              <a:rPr lang="en-US" sz="1300" dirty="0">
                <a:solidFill>
                  <a:schemeClr val="bg1"/>
                </a:solidFill>
                <a:latin typeface="Courier New" pitchFamily="34" charset="0"/>
                <a:ea typeface="Courier New" pitchFamily="34" charset="-122"/>
                <a:cs typeface="Courier New" pitchFamily="34" charset="-120"/>
              </a:rPr>
              <a:t>  "sugar": true</a:t>
            </a:r>
            <a:endParaRPr lang="en-US" sz="1300" dirty="0"/>
          </a:p>
          <a:p>
            <a:pPr indent="0" marL="0">
              <a:lnSpc>
                <a:spcPct val="100000"/>
              </a:lnSpc>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p:txBody>
      </p:sp>
      <p:sp>
        <p:nvSpPr>
          <p:cNvPr id="9" name="rule card 1"/>
          <p:cNvSpPr/>
          <p:nvPr/>
        </p:nvSpPr>
        <p:spPr>
          <a:xfrm>
            <a:off x="457200" y="3657600"/>
            <a:ext cx="1920240" cy="868680"/>
          </a:xfrm>
          <a:prstGeom prst="roundRect">
            <a:avLst>
              <a:gd name="adj" fmla="val 12632"/>
            </a:avLst>
          </a:prstGeom>
          <a:solidFill>
            <a:schemeClr val="bg2"/>
          </a:solidFill>
          <a:ln w="9525">
            <a:solidFill>
              <a:schemeClr val="bg2"/>
            </a:solidFill>
            <a:prstDash val="solid"/>
          </a:ln>
        </p:spPr>
      </p:sp>
      <p:sp>
        <p:nvSpPr>
          <p:cNvPr id="10" name="Text 8"/>
          <p:cNvSpPr txBox="1"/>
          <p:nvPr/>
        </p:nvSpPr>
        <p:spPr>
          <a:xfrm>
            <a:off x="566928" y="3657600"/>
            <a:ext cx="1700784" cy="868680"/>
          </a:xfrm>
          <a:prstGeom prst="rect">
            <a:avLst/>
          </a:prstGeom>
          <a:noFill/>
          <a:ln/>
        </p:spPr>
        <p:txBody>
          <a:bodyPr wrap="square" lIns="0" tIns="0" rIns="0" bIns="0" rtlCol="0" anchor="ctr"/>
          <a:lstStyle/>
          <a:p>
            <a:pPr algn="ctr" indent="0" marL="0">
              <a:buNone/>
            </a:pPr>
            <a:r>
              <a:rPr lang="en-US" sz="1400" dirty="0">
                <a:solidFill>
                  <a:schemeClr val="tx1"/>
                </a:solidFill>
              </a:rPr>
              <a:t>Words in “double quotes”</a:t>
            </a:r>
            <a:endParaRPr lang="en-US" sz="1400" dirty="0"/>
          </a:p>
        </p:txBody>
      </p:sp>
      <p:sp>
        <p:nvSpPr>
          <p:cNvPr id="11" name="rule card 2"/>
          <p:cNvSpPr/>
          <p:nvPr/>
        </p:nvSpPr>
        <p:spPr>
          <a:xfrm>
            <a:off x="2560320" y="3657600"/>
            <a:ext cx="1920240" cy="868680"/>
          </a:xfrm>
          <a:prstGeom prst="roundRect">
            <a:avLst>
              <a:gd name="adj" fmla="val 12632"/>
            </a:avLst>
          </a:prstGeom>
          <a:solidFill>
            <a:schemeClr val="bg2"/>
          </a:solidFill>
          <a:ln w="9525">
            <a:solidFill>
              <a:schemeClr val="bg2"/>
            </a:solidFill>
            <a:prstDash val="solid"/>
          </a:ln>
        </p:spPr>
      </p:sp>
      <p:sp>
        <p:nvSpPr>
          <p:cNvPr id="12" name="Text 10"/>
          <p:cNvSpPr txBox="1"/>
          <p:nvPr/>
        </p:nvSpPr>
        <p:spPr>
          <a:xfrm>
            <a:off x="2670048" y="3657600"/>
            <a:ext cx="1700784" cy="868680"/>
          </a:xfrm>
          <a:prstGeom prst="rect">
            <a:avLst/>
          </a:prstGeom>
          <a:noFill/>
          <a:ln/>
        </p:spPr>
        <p:txBody>
          <a:bodyPr wrap="square" lIns="0" tIns="0" rIns="0" bIns="0" rtlCol="0" anchor="ctr"/>
          <a:lstStyle/>
          <a:p>
            <a:pPr algn="ctr" indent="0" marL="0">
              <a:buNone/>
            </a:pPr>
            <a:r>
              <a:rPr lang="en-US" sz="1400" dirty="0">
                <a:solidFill>
                  <a:schemeClr val="tx1"/>
                </a:solidFill>
              </a:rPr>
              <a:t>Curly braces { } around it all</a:t>
            </a:r>
            <a:endParaRPr lang="en-US" sz="1400" dirty="0"/>
          </a:p>
        </p:txBody>
      </p:sp>
      <p:sp>
        <p:nvSpPr>
          <p:cNvPr id="13" name="rule card 3"/>
          <p:cNvSpPr/>
          <p:nvPr/>
        </p:nvSpPr>
        <p:spPr>
          <a:xfrm>
            <a:off x="4663440" y="3657600"/>
            <a:ext cx="1920240" cy="868680"/>
          </a:xfrm>
          <a:prstGeom prst="roundRect">
            <a:avLst>
              <a:gd name="adj" fmla="val 12632"/>
            </a:avLst>
          </a:prstGeom>
          <a:solidFill>
            <a:schemeClr val="bg2"/>
          </a:solidFill>
          <a:ln w="9525">
            <a:solidFill>
              <a:schemeClr val="bg2"/>
            </a:solidFill>
            <a:prstDash val="solid"/>
          </a:ln>
        </p:spPr>
      </p:sp>
      <p:sp>
        <p:nvSpPr>
          <p:cNvPr id="14" name="Text 12"/>
          <p:cNvSpPr txBox="1"/>
          <p:nvPr/>
        </p:nvSpPr>
        <p:spPr>
          <a:xfrm>
            <a:off x="4773168" y="3657600"/>
            <a:ext cx="1700784" cy="868680"/>
          </a:xfrm>
          <a:prstGeom prst="rect">
            <a:avLst/>
          </a:prstGeom>
          <a:noFill/>
          <a:ln/>
        </p:spPr>
        <p:txBody>
          <a:bodyPr wrap="square" lIns="0" tIns="0" rIns="0" bIns="0" rtlCol="0" anchor="ctr"/>
          <a:lstStyle/>
          <a:p>
            <a:pPr algn="ctr" indent="0" marL="0">
              <a:buNone/>
            </a:pPr>
            <a:r>
              <a:rPr lang="en-US" sz="1400" dirty="0">
                <a:solidFill>
                  <a:schemeClr val="tx1"/>
                </a:solidFill>
              </a:rPr>
              <a:t>true and false in lowercase</a:t>
            </a:r>
            <a:endParaRPr lang="en-US" sz="1400" dirty="0"/>
          </a:p>
        </p:txBody>
      </p:sp>
      <p:sp>
        <p:nvSpPr>
          <p:cNvPr id="15" name="rule card 4"/>
          <p:cNvSpPr/>
          <p:nvPr/>
        </p:nvSpPr>
        <p:spPr>
          <a:xfrm>
            <a:off x="6766560" y="3657600"/>
            <a:ext cx="1920240" cy="868680"/>
          </a:xfrm>
          <a:prstGeom prst="roundRect">
            <a:avLst>
              <a:gd name="adj" fmla="val 12632"/>
            </a:avLst>
          </a:prstGeom>
          <a:solidFill>
            <a:schemeClr val="bg2"/>
          </a:solidFill>
          <a:ln w="9525">
            <a:solidFill>
              <a:schemeClr val="bg2"/>
            </a:solidFill>
            <a:prstDash val="solid"/>
          </a:ln>
        </p:spPr>
      </p:sp>
      <p:sp>
        <p:nvSpPr>
          <p:cNvPr id="16" name="Text 14"/>
          <p:cNvSpPr txBox="1"/>
          <p:nvPr/>
        </p:nvSpPr>
        <p:spPr>
          <a:xfrm>
            <a:off x="6876288" y="3657600"/>
            <a:ext cx="1700784" cy="868680"/>
          </a:xfrm>
          <a:prstGeom prst="rect">
            <a:avLst/>
          </a:prstGeom>
          <a:noFill/>
          <a:ln/>
        </p:spPr>
        <p:txBody>
          <a:bodyPr wrap="square" lIns="0" tIns="0" rIns="0" bIns="0" rtlCol="0" anchor="ctr"/>
          <a:lstStyle/>
          <a:p>
            <a:pPr algn="ctr" indent="0" marL="0">
              <a:buNone/>
            </a:pPr>
            <a:r>
              <a:rPr lang="en-US" sz="1400" dirty="0">
                <a:solidFill>
                  <a:schemeClr val="tx1"/>
                </a:solidFill>
              </a:rPr>
              <a:t>No comma after the last line</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600" b="1" dirty="0">
                <a:solidFill>
                  <a:schemeClr val="tx2"/>
                </a:solidFill>
              </a:rPr>
              <a:t>A real request and answer</a:t>
            </a:r>
            <a:endParaRPr lang="en-US" sz="3600" dirty="0"/>
          </a:p>
        </p:txBody>
      </p:sp>
      <p:sp>
        <p:nvSpPr>
          <p:cNvPr id="3" name="request box"/>
          <p:cNvSpPr/>
          <p:nvPr/>
        </p:nvSpPr>
        <p:spPr>
          <a:xfrm>
            <a:off x="457200" y="1234440"/>
            <a:ext cx="3977640" cy="2697480"/>
          </a:xfrm>
          <a:prstGeom prst="roundRect">
            <a:avLst>
              <a:gd name="adj" fmla="val 4068"/>
            </a:avLst>
          </a:prstGeom>
          <a:solidFill>
            <a:schemeClr val="tx1"/>
          </a:solidFill>
          <a:ln w="9525">
            <a:solidFill>
              <a:schemeClr val="tx1"/>
            </a:solidFill>
            <a:prstDash val="solid"/>
          </a:ln>
        </p:spPr>
      </p:sp>
      <p:sp>
        <p:nvSpPr>
          <p:cNvPr id="4" name="Text 2"/>
          <p:cNvSpPr txBox="1"/>
          <p:nvPr/>
        </p:nvSpPr>
        <p:spPr>
          <a:xfrm>
            <a:off x="685800" y="1371600"/>
            <a:ext cx="3520440" cy="274320"/>
          </a:xfrm>
          <a:prstGeom prst="rect">
            <a:avLst/>
          </a:prstGeom>
          <a:noFill/>
          <a:ln/>
        </p:spPr>
        <p:txBody>
          <a:bodyPr wrap="square" lIns="0" tIns="0" rIns="0" bIns="0" rtlCol="0" anchor="t"/>
          <a:lstStyle/>
          <a:p>
            <a:pPr indent="0" marL="0">
              <a:buNone/>
            </a:pPr>
            <a:r>
              <a:rPr lang="en-US" sz="1200" b="1" dirty="0">
                <a:solidFill>
                  <a:schemeClr val="accent3"/>
                </a:solidFill>
              </a:rPr>
              <a:t>WHAT YOU SEND</a:t>
            </a:r>
            <a:endParaRPr lang="en-US" sz="1200" dirty="0"/>
          </a:p>
        </p:txBody>
      </p:sp>
      <p:sp>
        <p:nvSpPr>
          <p:cNvPr id="5" name="Text 3"/>
          <p:cNvSpPr txBox="1"/>
          <p:nvPr/>
        </p:nvSpPr>
        <p:spPr>
          <a:xfrm>
            <a:off x="685800" y="1737360"/>
            <a:ext cx="3520440" cy="2057400"/>
          </a:xfrm>
          <a:prstGeom prst="rect">
            <a:avLst/>
          </a:prstGeom>
          <a:noFill/>
          <a:ln/>
        </p:spPr>
        <p:txBody>
          <a:bodyPr wrap="square" lIns="0" tIns="0" rIns="0" bIns="0" rtlCol="0" anchor="t"/>
          <a:lstStyle/>
          <a:p>
            <a:pPr indent="0" marL="0">
              <a:lnSpc>
                <a:spcPct val="100000"/>
              </a:lnSpc>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a:p>
            <a:pPr indent="0" marL="0">
              <a:lnSpc>
                <a:spcPct val="100000"/>
              </a:lnSpc>
              <a:buNone/>
            </a:pPr>
            <a:r>
              <a:rPr lang="en-US" sz="1300" dirty="0">
                <a:solidFill>
                  <a:schemeClr val="bg1"/>
                </a:solidFill>
                <a:latin typeface="Courier New" pitchFamily="34" charset="0"/>
                <a:ea typeface="Courier New" pitchFamily="34" charset="-122"/>
                <a:cs typeface="Courier New" pitchFamily="34" charset="-120"/>
              </a:rPr>
              <a:t>  "model": "some-ai-model",</a:t>
            </a:r>
            <a:endParaRPr lang="en-US" sz="1300" dirty="0"/>
          </a:p>
          <a:p>
            <a:pPr indent="0" marL="0">
              <a:lnSpc>
                <a:spcPct val="100000"/>
              </a:lnSpc>
              <a:buNone/>
            </a:pPr>
            <a:r>
              <a:rPr lang="en-US" sz="1300" dirty="0">
                <a:solidFill>
                  <a:schemeClr val="bg1"/>
                </a:solidFill>
                <a:latin typeface="Courier New" pitchFamily="34" charset="0"/>
                <a:ea typeface="Courier New" pitchFamily="34" charset="-122"/>
                <a:cs typeface="Courier New" pitchFamily="34" charset="-120"/>
              </a:rPr>
              <a:t>  "messages": [{</a:t>
            </a:r>
            <a:endParaRPr lang="en-US" sz="1300" dirty="0"/>
          </a:p>
          <a:p>
            <a:pPr indent="0" marL="0">
              <a:lnSpc>
                <a:spcPct val="100000"/>
              </a:lnSpc>
              <a:buNone/>
            </a:pPr>
            <a:r>
              <a:rPr lang="en-US" sz="1300" dirty="0">
                <a:solidFill>
                  <a:schemeClr val="bg1"/>
                </a:solidFill>
                <a:latin typeface="Courier New" pitchFamily="34" charset="0"/>
                <a:ea typeface="Courier New" pitchFamily="34" charset="-122"/>
                <a:cs typeface="Courier New" pitchFamily="34" charset="-120"/>
              </a:rPr>
              <a:t>    "role": "user",</a:t>
            </a:r>
            <a:endParaRPr lang="en-US" sz="1300" dirty="0"/>
          </a:p>
          <a:p>
            <a:pPr indent="0" marL="0">
              <a:lnSpc>
                <a:spcPct val="100000"/>
              </a:lnSpc>
              <a:buNone/>
            </a:pPr>
            <a:r>
              <a:rPr lang="en-US" sz="1300" dirty="0">
                <a:solidFill>
                  <a:schemeClr val="bg1"/>
                </a:solidFill>
                <a:latin typeface="Courier New" pitchFamily="34" charset="0"/>
                <a:ea typeface="Courier New" pitchFamily="34" charset="-122"/>
                <a:cs typeface="Courier New" pitchFamily="34" charset="-120"/>
              </a:rPr>
              <a:t>    "content": "What is an API?"</a:t>
            </a:r>
            <a:endParaRPr lang="en-US" sz="1300" dirty="0"/>
          </a:p>
          <a:p>
            <a:pPr indent="0" marL="0">
              <a:lnSpc>
                <a:spcPct val="100000"/>
              </a:lnSpc>
              <a:buNone/>
            </a:pPr>
            <a:r>
              <a:rPr lang="en-US" sz="1300" dirty="0">
                <a:solidFill>
                  <a:schemeClr val="bg1"/>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p:txBody>
      </p:sp>
      <p:sp>
        <p:nvSpPr>
          <p:cNvPr id="6" name="response box"/>
          <p:cNvSpPr/>
          <p:nvPr/>
        </p:nvSpPr>
        <p:spPr>
          <a:xfrm>
            <a:off x="4709160" y="1234440"/>
            <a:ext cx="3977640" cy="2697480"/>
          </a:xfrm>
          <a:prstGeom prst="roundRect">
            <a:avLst>
              <a:gd name="adj" fmla="val 4068"/>
            </a:avLst>
          </a:prstGeom>
          <a:solidFill>
            <a:schemeClr val="tx1"/>
          </a:solidFill>
          <a:ln w="9525">
            <a:solidFill>
              <a:schemeClr val="tx1"/>
            </a:solidFill>
            <a:prstDash val="solid"/>
          </a:ln>
        </p:spPr>
      </p:sp>
      <p:sp>
        <p:nvSpPr>
          <p:cNvPr id="7" name="Text 5"/>
          <p:cNvSpPr txBox="1"/>
          <p:nvPr/>
        </p:nvSpPr>
        <p:spPr>
          <a:xfrm>
            <a:off x="4937760" y="1371600"/>
            <a:ext cx="3520440" cy="274320"/>
          </a:xfrm>
          <a:prstGeom prst="rect">
            <a:avLst/>
          </a:prstGeom>
          <a:noFill/>
          <a:ln/>
        </p:spPr>
        <p:txBody>
          <a:bodyPr wrap="square" lIns="0" tIns="0" rIns="0" bIns="0" rtlCol="0" anchor="t"/>
          <a:lstStyle/>
          <a:p>
            <a:pPr indent="0" marL="0">
              <a:buNone/>
            </a:pPr>
            <a:r>
              <a:rPr lang="en-US" sz="1200" b="1" dirty="0">
                <a:solidFill>
                  <a:schemeClr val="accent3"/>
                </a:solidFill>
              </a:rPr>
              <a:t>WHAT COMES BACK</a:t>
            </a:r>
            <a:endParaRPr lang="en-US" sz="1200" dirty="0"/>
          </a:p>
        </p:txBody>
      </p:sp>
      <p:sp>
        <p:nvSpPr>
          <p:cNvPr id="8" name="Text 6"/>
          <p:cNvSpPr txBox="1"/>
          <p:nvPr/>
        </p:nvSpPr>
        <p:spPr>
          <a:xfrm>
            <a:off x="4937760" y="1737360"/>
            <a:ext cx="3520440" cy="2057400"/>
          </a:xfrm>
          <a:prstGeom prst="rect">
            <a:avLst/>
          </a:prstGeom>
          <a:noFill/>
          <a:ln/>
        </p:spPr>
        <p:txBody>
          <a:bodyPr wrap="square" lIns="0" tIns="0" rIns="0" bIns="0" rtlCol="0" anchor="t"/>
          <a:lstStyle/>
          <a:p>
            <a:pPr indent="0" marL="0">
              <a:lnSpc>
                <a:spcPct val="100000"/>
              </a:lnSpc>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a:p>
            <a:pPr indent="0" marL="0">
              <a:lnSpc>
                <a:spcPct val="100000"/>
              </a:lnSpc>
              <a:buNone/>
            </a:pPr>
            <a:r>
              <a:rPr lang="en-US" sz="1300" dirty="0">
                <a:solidFill>
                  <a:schemeClr val="bg1"/>
                </a:solidFill>
                <a:latin typeface="Courier New" pitchFamily="34" charset="0"/>
                <a:ea typeface="Courier New" pitchFamily="34" charset="-122"/>
                <a:cs typeface="Courier New" pitchFamily="34" charset="-120"/>
              </a:rPr>
              <a:t>  "choices": [{</a:t>
            </a:r>
            <a:endParaRPr lang="en-US" sz="1300" dirty="0"/>
          </a:p>
          <a:p>
            <a:pPr indent="0" marL="0">
              <a:lnSpc>
                <a:spcPct val="100000"/>
              </a:lnSpc>
              <a:buNone/>
            </a:pPr>
            <a:r>
              <a:rPr lang="en-US" sz="1300" dirty="0">
                <a:solidFill>
                  <a:schemeClr val="bg1"/>
                </a:solidFill>
                <a:latin typeface="Courier New" pitchFamily="34" charset="0"/>
                <a:ea typeface="Courier New" pitchFamily="34" charset="-122"/>
                <a:cs typeface="Courier New" pitchFamily="34" charset="-120"/>
              </a:rPr>
              <a:t>    "message": {</a:t>
            </a:r>
            <a:endParaRPr lang="en-US" sz="1300" dirty="0"/>
          </a:p>
          <a:p>
            <a:pPr indent="0" marL="0">
              <a:lnSpc>
                <a:spcPct val="100000"/>
              </a:lnSpc>
              <a:buNone/>
            </a:pPr>
            <a:r>
              <a:rPr lang="en-US" sz="1300" dirty="0">
                <a:solidFill>
                  <a:schemeClr val="bg1"/>
                </a:solidFill>
                <a:latin typeface="Courier New" pitchFamily="34" charset="0"/>
                <a:ea typeface="Courier New" pitchFamily="34" charset="-122"/>
                <a:cs typeface="Courier New" pitchFamily="34" charset="-120"/>
              </a:rPr>
              <a:t>      "content": "A waiter!"</a:t>
            </a:r>
            <a:endParaRPr lang="en-US" sz="1300" dirty="0"/>
          </a:p>
          <a:p>
            <a:pPr indent="0" marL="0">
              <a:lnSpc>
                <a:spcPct val="100000"/>
              </a:lnSpc>
              <a:buNone/>
            </a:pPr>
            <a:r>
              <a:rPr lang="en-US" sz="1300" dirty="0">
                <a:solidFill>
                  <a:schemeClr val="bg1"/>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chemeClr val="bg1"/>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chemeClr val="bg1"/>
                </a:solidFill>
                <a:latin typeface="Courier New" pitchFamily="34" charset="0"/>
                <a:ea typeface="Courier New" pitchFamily="34" charset="-122"/>
                <a:cs typeface="Courier New" pitchFamily="34" charset="-120"/>
              </a:rPr>
              <a:t>  "usage": {"total_tokens": 50}</a:t>
            </a:r>
            <a:endParaRPr lang="en-US" sz="1300" dirty="0"/>
          </a:p>
          <a:p>
            <a:pPr indent="0" marL="0">
              <a:lnSpc>
                <a:spcPct val="100000"/>
              </a:lnSpc>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p:txBody>
      </p:sp>
      <p:sp>
        <p:nvSpPr>
          <p:cNvPr id="9" name="callout 1"/>
          <p:cNvSpPr/>
          <p:nvPr/>
        </p:nvSpPr>
        <p:spPr>
          <a:xfrm>
            <a:off x="457200" y="4069080"/>
            <a:ext cx="2651760" cy="594360"/>
          </a:xfrm>
          <a:prstGeom prst="roundRect">
            <a:avLst>
              <a:gd name="adj" fmla="val 18462"/>
            </a:avLst>
          </a:prstGeom>
          <a:solidFill>
            <a:schemeClr val="bg2"/>
          </a:solidFill>
          <a:ln w="9525">
            <a:solidFill>
              <a:schemeClr val="bg2"/>
            </a:solidFill>
            <a:prstDash val="solid"/>
          </a:ln>
        </p:spPr>
      </p:sp>
      <p:sp>
        <p:nvSpPr>
          <p:cNvPr id="10" name="Text 8"/>
          <p:cNvSpPr txBox="1"/>
          <p:nvPr/>
        </p:nvSpPr>
        <p:spPr>
          <a:xfrm>
            <a:off x="566928" y="4069080"/>
            <a:ext cx="2432304" cy="594360"/>
          </a:xfrm>
          <a:prstGeom prst="rect">
            <a:avLst/>
          </a:prstGeom>
          <a:noFill/>
          <a:ln/>
        </p:spPr>
        <p:txBody>
          <a:bodyPr wrap="square" lIns="0" tIns="0" rIns="0" bIns="0" rtlCol="0" anchor="ctr"/>
          <a:lstStyle/>
          <a:p>
            <a:pPr algn="ctr" indent="0" marL="0">
              <a:buNone/>
            </a:pPr>
            <a:r>
              <a:rPr lang="en-US" sz="1300" dirty="0">
                <a:solidFill>
                  <a:schemeClr val="tx1"/>
                </a:solidFill>
              </a:rPr>
              <a:t>Your question goes in “content”</a:t>
            </a:r>
            <a:endParaRPr lang="en-US" sz="1300" dirty="0"/>
          </a:p>
        </p:txBody>
      </p:sp>
      <p:sp>
        <p:nvSpPr>
          <p:cNvPr id="11" name="callout 2"/>
          <p:cNvSpPr/>
          <p:nvPr/>
        </p:nvSpPr>
        <p:spPr>
          <a:xfrm>
            <a:off x="3246120" y="4069080"/>
            <a:ext cx="2651760" cy="594360"/>
          </a:xfrm>
          <a:prstGeom prst="roundRect">
            <a:avLst>
              <a:gd name="adj" fmla="val 18462"/>
            </a:avLst>
          </a:prstGeom>
          <a:solidFill>
            <a:schemeClr val="bg2"/>
          </a:solidFill>
          <a:ln w="9525">
            <a:solidFill>
              <a:schemeClr val="bg2"/>
            </a:solidFill>
            <a:prstDash val="solid"/>
          </a:ln>
        </p:spPr>
      </p:sp>
      <p:sp>
        <p:nvSpPr>
          <p:cNvPr id="12" name="Text 10"/>
          <p:cNvSpPr txBox="1"/>
          <p:nvPr/>
        </p:nvSpPr>
        <p:spPr>
          <a:xfrm>
            <a:off x="3355848" y="4069080"/>
            <a:ext cx="2432304" cy="594360"/>
          </a:xfrm>
          <a:prstGeom prst="rect">
            <a:avLst/>
          </a:prstGeom>
          <a:noFill/>
          <a:ln/>
        </p:spPr>
        <p:txBody>
          <a:bodyPr wrap="square" lIns="0" tIns="0" rIns="0" bIns="0" rtlCol="0" anchor="ctr"/>
          <a:lstStyle/>
          <a:p>
            <a:pPr algn="ctr" indent="0" marL="0">
              <a:buNone/>
            </a:pPr>
            <a:r>
              <a:rPr lang="en-US" sz="1300" dirty="0">
                <a:solidFill>
                  <a:schemeClr val="tx1"/>
                </a:solidFill>
              </a:rPr>
              <a:t>The answer comes back in “content”</a:t>
            </a:r>
            <a:endParaRPr lang="en-US" sz="1300" dirty="0"/>
          </a:p>
        </p:txBody>
      </p:sp>
      <p:sp>
        <p:nvSpPr>
          <p:cNvPr id="13" name="callout 3"/>
          <p:cNvSpPr/>
          <p:nvPr/>
        </p:nvSpPr>
        <p:spPr>
          <a:xfrm>
            <a:off x="6035040" y="4069080"/>
            <a:ext cx="2651760" cy="594360"/>
          </a:xfrm>
          <a:prstGeom prst="roundRect">
            <a:avLst>
              <a:gd name="adj" fmla="val 18462"/>
            </a:avLst>
          </a:prstGeom>
          <a:solidFill>
            <a:schemeClr val="bg2"/>
          </a:solidFill>
          <a:ln w="9525">
            <a:solidFill>
              <a:schemeClr val="bg2"/>
            </a:solidFill>
            <a:prstDash val="solid"/>
          </a:ln>
        </p:spPr>
      </p:sp>
      <p:sp>
        <p:nvSpPr>
          <p:cNvPr id="14" name="Text 12"/>
          <p:cNvSpPr txBox="1"/>
          <p:nvPr/>
        </p:nvSpPr>
        <p:spPr>
          <a:xfrm>
            <a:off x="6144768" y="4069080"/>
            <a:ext cx="2432304" cy="594360"/>
          </a:xfrm>
          <a:prstGeom prst="rect">
            <a:avLst/>
          </a:prstGeom>
          <a:noFill/>
          <a:ln/>
        </p:spPr>
        <p:txBody>
          <a:bodyPr wrap="square" lIns="0" tIns="0" rIns="0" bIns="0" rtlCol="0" anchor="ctr"/>
          <a:lstStyle/>
          <a:p>
            <a:pPr algn="ctr" indent="0" marL="0">
              <a:buNone/>
            </a:pPr>
            <a:r>
              <a:rPr lang="en-US" sz="1300" dirty="0">
                <a:solidFill>
                  <a:schemeClr val="tx1"/>
                </a:solidFill>
              </a:rPr>
              <a:t>“usage” counts the text used. It sets the price</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600" b="1" dirty="0">
                <a:solidFill>
                  <a:schemeClr val="tx2"/>
                </a:solidFill>
              </a:rPr>
              <a:t>What does it cost?</a:t>
            </a:r>
            <a:endParaRPr lang="en-US" sz="3600" dirty="0"/>
          </a:p>
        </p:txBody>
      </p:sp>
      <p:sp>
        <p:nvSpPr>
          <p:cNvPr id="3" name="cost row 1"/>
          <p:cNvSpPr/>
          <p:nvPr/>
        </p:nvSpPr>
        <p:spPr>
          <a:xfrm>
            <a:off x="457200" y="1234440"/>
            <a:ext cx="8229600" cy="1005840"/>
          </a:xfrm>
          <a:prstGeom prst="roundRect">
            <a:avLst>
              <a:gd name="adj" fmla="val 10909"/>
            </a:avLst>
          </a:prstGeom>
          <a:solidFill>
            <a:schemeClr val="bg2"/>
          </a:solidFill>
          <a:ln w="9525">
            <a:solidFill>
              <a:schemeClr val="bg2"/>
            </a:solidFill>
            <a:prstDash val="solid"/>
          </a:ln>
        </p:spPr>
      </p:sp>
      <p:sp>
        <p:nvSpPr>
          <p:cNvPr id="4" name="cost 1 circle"/>
          <p:cNvSpPr/>
          <p:nvPr/>
        </p:nvSpPr>
        <p:spPr>
          <a:xfrm>
            <a:off x="731520" y="1417320"/>
            <a:ext cx="640080" cy="640080"/>
          </a:xfrm>
          <a:prstGeom prst="ellipse">
            <a:avLst/>
          </a:prstGeom>
          <a:solidFill>
            <a:schemeClr val="accent1"/>
          </a:solidFill>
          <a:ln w="9525">
            <a:solidFill>
              <a:schemeClr val="accent1"/>
            </a:solidFill>
            <a:prstDash val="solid"/>
          </a:ln>
        </p:spPr>
      </p:sp>
      <p:pic>
        <p:nvPicPr>
          <p:cNvPr id="5" name="Image 0" descr="cost 1 icon">    </p:cNvPr>
          <p:cNvPicPr>
            <a:picLocks noChangeAspect="1"/>
          </p:cNvPicPr>
          <p:nvPr/>
        </p:nvPicPr>
        <p:blipFill>
          <a:blip r:embed="rId1"/>
          <a:stretch>
            <a:fillRect/>
          </a:stretch>
        </p:blipFill>
        <p:spPr>
          <a:xfrm>
            <a:off x="872338" y="1558138"/>
            <a:ext cx="358445" cy="358445"/>
          </a:xfrm>
          <a:prstGeom prst="rect">
            <a:avLst/>
          </a:prstGeom>
        </p:spPr>
      </p:pic>
      <p:sp>
        <p:nvSpPr>
          <p:cNvPr id="6" name="Text 3"/>
          <p:cNvSpPr txBox="1"/>
          <p:nvPr/>
        </p:nvSpPr>
        <p:spPr>
          <a:xfrm>
            <a:off x="1645920" y="1344168"/>
            <a:ext cx="6766560" cy="320040"/>
          </a:xfrm>
          <a:prstGeom prst="rect">
            <a:avLst/>
          </a:prstGeom>
          <a:noFill/>
          <a:ln/>
        </p:spPr>
        <p:txBody>
          <a:bodyPr wrap="square" lIns="0" tIns="0" rIns="0" bIns="0" rtlCol="0" anchor="t"/>
          <a:lstStyle/>
          <a:p>
            <a:pPr indent="0" marL="0">
              <a:buNone/>
            </a:pPr>
            <a:r>
              <a:rPr lang="en-US" sz="1800" b="1" dirty="0">
                <a:solidFill>
                  <a:schemeClr val="tx2"/>
                </a:solidFill>
              </a:rPr>
              <a:t>Pay for what you use</a:t>
            </a:r>
            <a:endParaRPr lang="en-US" sz="1800" dirty="0"/>
          </a:p>
        </p:txBody>
      </p:sp>
      <p:sp>
        <p:nvSpPr>
          <p:cNvPr id="7" name="Text 4"/>
          <p:cNvSpPr txBox="1"/>
          <p:nvPr/>
        </p:nvSpPr>
        <p:spPr>
          <a:xfrm>
            <a:off x="1645920" y="1691640"/>
            <a:ext cx="6766560" cy="502920"/>
          </a:xfrm>
          <a:prstGeom prst="rect">
            <a:avLst/>
          </a:prstGeom>
          <a:noFill/>
          <a:ln/>
        </p:spPr>
        <p:txBody>
          <a:bodyPr wrap="square" lIns="0" tIns="0" rIns="0" bIns="0" rtlCol="0" anchor="t"/>
          <a:lstStyle/>
          <a:p>
            <a:pPr indent="0" marL="0">
              <a:buNone/>
            </a:pPr>
            <a:r>
              <a:rPr lang="en-US" sz="1400" dirty="0">
                <a:solidFill>
                  <a:schemeClr val="tx1"/>
                </a:solidFill>
              </a:rPr>
              <a:t>Like airtime: you pay for the amount of text the AI reads and writes. Small per question, but it adds up.</a:t>
            </a:r>
            <a:endParaRPr lang="en-US" sz="1400" dirty="0"/>
          </a:p>
        </p:txBody>
      </p:sp>
      <p:sp>
        <p:nvSpPr>
          <p:cNvPr id="8" name="cost row 2"/>
          <p:cNvSpPr/>
          <p:nvPr/>
        </p:nvSpPr>
        <p:spPr>
          <a:xfrm>
            <a:off x="457200" y="2377440"/>
            <a:ext cx="8229600" cy="1005840"/>
          </a:xfrm>
          <a:prstGeom prst="roundRect">
            <a:avLst>
              <a:gd name="adj" fmla="val 10909"/>
            </a:avLst>
          </a:prstGeom>
          <a:solidFill>
            <a:schemeClr val="bg2"/>
          </a:solidFill>
          <a:ln w="9525">
            <a:solidFill>
              <a:schemeClr val="bg2"/>
            </a:solidFill>
            <a:prstDash val="solid"/>
          </a:ln>
        </p:spPr>
      </p:sp>
      <p:sp>
        <p:nvSpPr>
          <p:cNvPr id="9" name="cost 2 circle"/>
          <p:cNvSpPr/>
          <p:nvPr/>
        </p:nvSpPr>
        <p:spPr>
          <a:xfrm>
            <a:off x="731520" y="2560320"/>
            <a:ext cx="640080" cy="640080"/>
          </a:xfrm>
          <a:prstGeom prst="ellipse">
            <a:avLst/>
          </a:prstGeom>
          <a:solidFill>
            <a:schemeClr val="accent1"/>
          </a:solidFill>
          <a:ln w="9525">
            <a:solidFill>
              <a:schemeClr val="accent1"/>
            </a:solidFill>
            <a:prstDash val="solid"/>
          </a:ln>
        </p:spPr>
      </p:sp>
      <p:pic>
        <p:nvPicPr>
          <p:cNvPr id="10" name="Image 1" descr="cost 2 icon">    </p:cNvPr>
          <p:cNvPicPr>
            <a:picLocks noChangeAspect="1"/>
          </p:cNvPicPr>
          <p:nvPr/>
        </p:nvPicPr>
        <p:blipFill>
          <a:blip r:embed="rId2"/>
          <a:stretch>
            <a:fillRect/>
          </a:stretch>
        </p:blipFill>
        <p:spPr>
          <a:xfrm>
            <a:off x="872338" y="2701138"/>
            <a:ext cx="358445" cy="358445"/>
          </a:xfrm>
          <a:prstGeom prst="rect">
            <a:avLst/>
          </a:prstGeom>
        </p:spPr>
      </p:pic>
      <p:sp>
        <p:nvSpPr>
          <p:cNvPr id="11" name="Text 7"/>
          <p:cNvSpPr txBox="1"/>
          <p:nvPr/>
        </p:nvSpPr>
        <p:spPr>
          <a:xfrm>
            <a:off x="1645920" y="2487168"/>
            <a:ext cx="6766560" cy="320040"/>
          </a:xfrm>
          <a:prstGeom prst="rect">
            <a:avLst/>
          </a:prstGeom>
          <a:noFill/>
          <a:ln/>
        </p:spPr>
        <p:txBody>
          <a:bodyPr wrap="square" lIns="0" tIns="0" rIns="0" bIns="0" rtlCol="0" anchor="t"/>
          <a:lstStyle/>
          <a:p>
            <a:pPr indent="0" marL="0">
              <a:buNone/>
            </a:pPr>
            <a:r>
              <a:rPr lang="en-US" sz="1800" b="1" dirty="0">
                <a:solidFill>
                  <a:schemeClr val="tx2"/>
                </a:solidFill>
              </a:rPr>
              <a:t>Some models are free</a:t>
            </a:r>
            <a:endParaRPr lang="en-US" sz="1800" dirty="0"/>
          </a:p>
        </p:txBody>
      </p:sp>
      <p:sp>
        <p:nvSpPr>
          <p:cNvPr id="12" name="Text 8"/>
          <p:cNvSpPr txBox="1"/>
          <p:nvPr/>
        </p:nvSpPr>
        <p:spPr>
          <a:xfrm>
            <a:off x="1645920" y="2834640"/>
            <a:ext cx="6766560" cy="502920"/>
          </a:xfrm>
          <a:prstGeom prst="rect">
            <a:avLst/>
          </a:prstGeom>
          <a:noFill/>
          <a:ln/>
        </p:spPr>
        <p:txBody>
          <a:bodyPr wrap="square" lIns="0" tIns="0" rIns="0" bIns="0" rtlCol="0" anchor="t"/>
          <a:lstStyle/>
          <a:p>
            <a:pPr indent="0" marL="0">
              <a:buNone/>
            </a:pPr>
            <a:r>
              <a:rPr lang="en-US" sz="1400" dirty="0">
                <a:solidFill>
                  <a:schemeClr val="tx1"/>
                </a:solidFill>
              </a:rPr>
              <a:t>Free models exist, with limits such as slower speed or a daily cap.</a:t>
            </a:r>
            <a:endParaRPr lang="en-US" sz="1400" dirty="0"/>
          </a:p>
        </p:txBody>
      </p:sp>
      <p:sp>
        <p:nvSpPr>
          <p:cNvPr id="13" name="cost row 3"/>
          <p:cNvSpPr/>
          <p:nvPr/>
        </p:nvSpPr>
        <p:spPr>
          <a:xfrm>
            <a:off x="457200" y="3520440"/>
            <a:ext cx="8229600" cy="1005840"/>
          </a:xfrm>
          <a:prstGeom prst="roundRect">
            <a:avLst>
              <a:gd name="adj" fmla="val 10909"/>
            </a:avLst>
          </a:prstGeom>
          <a:solidFill>
            <a:schemeClr val="bg2"/>
          </a:solidFill>
          <a:ln w="9525">
            <a:solidFill>
              <a:schemeClr val="bg2"/>
            </a:solidFill>
            <a:prstDash val="solid"/>
          </a:ln>
        </p:spPr>
      </p:sp>
      <p:sp>
        <p:nvSpPr>
          <p:cNvPr id="14" name="cost 3 circle"/>
          <p:cNvSpPr/>
          <p:nvPr/>
        </p:nvSpPr>
        <p:spPr>
          <a:xfrm>
            <a:off x="731520" y="3703320"/>
            <a:ext cx="640080" cy="640080"/>
          </a:xfrm>
          <a:prstGeom prst="ellipse">
            <a:avLst/>
          </a:prstGeom>
          <a:solidFill>
            <a:schemeClr val="accent1"/>
          </a:solidFill>
          <a:ln w="9525">
            <a:solidFill>
              <a:schemeClr val="accent1"/>
            </a:solidFill>
            <a:prstDash val="solid"/>
          </a:ln>
        </p:spPr>
      </p:sp>
      <p:pic>
        <p:nvPicPr>
          <p:cNvPr id="15" name="Image 2" descr="cost 3 icon">    </p:cNvPr>
          <p:cNvPicPr>
            <a:picLocks noChangeAspect="1"/>
          </p:cNvPicPr>
          <p:nvPr/>
        </p:nvPicPr>
        <p:blipFill>
          <a:blip r:embed="rId3"/>
          <a:stretch>
            <a:fillRect/>
          </a:stretch>
        </p:blipFill>
        <p:spPr>
          <a:xfrm>
            <a:off x="872338" y="3844138"/>
            <a:ext cx="358445" cy="358445"/>
          </a:xfrm>
          <a:prstGeom prst="rect">
            <a:avLst/>
          </a:prstGeom>
        </p:spPr>
      </p:pic>
      <p:sp>
        <p:nvSpPr>
          <p:cNvPr id="16" name="Text 11"/>
          <p:cNvSpPr txBox="1"/>
          <p:nvPr/>
        </p:nvSpPr>
        <p:spPr>
          <a:xfrm>
            <a:off x="1645920" y="3630168"/>
            <a:ext cx="6766560" cy="320040"/>
          </a:xfrm>
          <a:prstGeom prst="rect">
            <a:avLst/>
          </a:prstGeom>
          <a:noFill/>
          <a:ln/>
        </p:spPr>
        <p:txBody>
          <a:bodyPr wrap="square" lIns="0" tIns="0" rIns="0" bIns="0" rtlCol="0" anchor="t"/>
          <a:lstStyle/>
          <a:p>
            <a:pPr indent="0" marL="0">
              <a:buNone/>
            </a:pPr>
            <a:r>
              <a:rPr lang="en-US" sz="1800" b="1" dirty="0">
                <a:solidFill>
                  <a:schemeClr val="tx2"/>
                </a:solidFill>
              </a:rPr>
              <a:t>One account, many AIs</a:t>
            </a:r>
            <a:endParaRPr lang="en-US" sz="1800" dirty="0"/>
          </a:p>
        </p:txBody>
      </p:sp>
      <p:sp>
        <p:nvSpPr>
          <p:cNvPr id="17" name="Text 12"/>
          <p:cNvSpPr txBox="1"/>
          <p:nvPr/>
        </p:nvSpPr>
        <p:spPr>
          <a:xfrm>
            <a:off x="1645920" y="3977640"/>
            <a:ext cx="6766560" cy="502920"/>
          </a:xfrm>
          <a:prstGeom prst="rect">
            <a:avLst/>
          </a:prstGeom>
          <a:noFill/>
          <a:ln/>
        </p:spPr>
        <p:txBody>
          <a:bodyPr wrap="square" lIns="0" tIns="0" rIns="0" bIns="0" rtlCol="0" anchor="t"/>
          <a:lstStyle/>
          <a:p>
            <a:pPr indent="0" marL="0">
              <a:buNone/>
            </a:pPr>
            <a:r>
              <a:rPr lang="en-US" sz="1400" dirty="0">
                <a:solidFill>
                  <a:schemeClr val="tx1"/>
                </a:solidFill>
              </a:rPr>
              <a:t>OpenRouter is like a market stall with many AIs. One account and one key lets you try them all.</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600" b="1" dirty="0">
                <a:solidFill>
                  <a:schemeClr val="tx2"/>
                </a:solidFill>
              </a:rPr>
              <a:t>Your turn: ask two AIs</a:t>
            </a:r>
            <a:endParaRPr lang="en-US" sz="3600" dirty="0"/>
          </a:p>
        </p:txBody>
      </p:sp>
      <p:graphicFrame>
        <p:nvGraphicFramePr>
          <p:cNvPr id="15" name="activity table"/>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2926080"/>
                <a:gridCol w="2651760"/>
                <a:gridCol w="2651760"/>
              </a:tblGrid>
              <a:tr h="475488">
                <a:tc>
                  <a:txBody>
                    <a:bodyPr/>
                    <a:lstStyle/>
                    <a:p>
                      <a:pPr algn="ctr" indent="0" marL="0">
                        <a:buNone/>
                      </a:pPr>
                      <a:endParaRPr lang="en-US" sz="1600" dirty="0"/>
                    </a:p>
                  </a:txBody>
                  <a:tcPr marL="73152" marR="73152" marT="73152" marB="7315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accent1"/>
                    </a:solidFill>
                  </a:tcPr>
                </a:tc>
                <a:tc>
                  <a:txBody>
                    <a:bodyPr/>
                    <a:lstStyle/>
                    <a:p>
                      <a:pPr algn="ctr" indent="0" marL="0">
                        <a:buNone/>
                      </a:pPr>
                      <a:r>
                        <a:rPr lang="en-US" sz="1600" b="1" dirty="0">
                          <a:solidFill>
                            <a:schemeClr val="bg1"/>
                          </a:solidFill>
                        </a:rPr>
                        <a:t>AI number 1</a:t>
                      </a:r>
                      <a:endParaRPr lang="en-US" sz="1600" dirty="0"/>
                    </a:p>
                  </a:txBody>
                  <a:tcPr marL="73152" marR="73152" marT="73152" marB="7315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accent1"/>
                    </a:solidFill>
                  </a:tcPr>
                </a:tc>
                <a:tc>
                  <a:txBody>
                    <a:bodyPr/>
                    <a:lstStyle/>
                    <a:p>
                      <a:pPr algn="ctr" indent="0" marL="0">
                        <a:buNone/>
                      </a:pPr>
                      <a:r>
                        <a:rPr lang="en-US" sz="1600" b="1" dirty="0">
                          <a:solidFill>
                            <a:schemeClr val="bg1"/>
                          </a:solidFill>
                        </a:rPr>
                        <a:t>AI number 2</a:t>
                      </a:r>
                      <a:endParaRPr lang="en-US" sz="1600" dirty="0"/>
                    </a:p>
                  </a:txBody>
                  <a:tcPr marL="73152" marR="73152" marT="73152" marB="7315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accent1"/>
                    </a:solidFill>
                  </a:tcPr>
                </a:tc>
              </a:tr>
              <a:tr h="475488">
                <a:tc>
                  <a:txBody>
                    <a:bodyPr/>
                    <a:lstStyle/>
                    <a:p>
                      <a:pPr indent="0" marL="0">
                        <a:buNone/>
                      </a:pPr>
                      <a:r>
                        <a:rPr lang="en-US" sz="1500" b="1" dirty="0">
                          <a:solidFill>
                            <a:schemeClr val="tx2"/>
                          </a:solidFill>
                        </a:rPr>
                        <a:t>Name of the model</a:t>
                      </a:r>
                      <a:endParaRPr lang="en-US" sz="1500" dirty="0"/>
                    </a:p>
                  </a:txBody>
                  <a:tcPr marL="73152" marR="73152" marT="73152" marB="7315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2"/>
                    </a:solidFill>
                  </a:tcPr>
                </a:tc>
                <a:tc>
                  <a:txBody>
                    <a:bodyPr/>
                    <a:lstStyle/>
                    <a:p>
                      <a:pPr indent="0" marL="0">
                        <a:buNone/>
                      </a:pPr>
                      <a:endParaRPr lang="en-US" sz="1200" dirty="0"/>
                    </a:p>
                  </a:txBody>
                  <a:tcPr marL="73152" marR="73152" marT="73152" marB="73152">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1"/>
                    </a:solidFill>
                  </a:tcPr>
                </a:tc>
                <a:tc>
                  <a:txBody>
                    <a:bodyPr/>
                    <a:lstStyle/>
                    <a:p>
                      <a:pPr indent="0" marL="0">
                        <a:buNone/>
                      </a:pPr>
                      <a:endParaRPr lang="en-US" sz="1200" dirty="0"/>
                    </a:p>
                  </a:txBody>
                  <a:tcPr marL="73152" marR="73152" marT="73152" marB="73152">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1"/>
                    </a:solidFill>
                  </a:tcPr>
                </a:tc>
              </a:tr>
              <a:tr h="475488">
                <a:tc>
                  <a:txBody>
                    <a:bodyPr/>
                    <a:lstStyle/>
                    <a:p>
                      <a:pPr indent="0" marL="0">
                        <a:buNone/>
                      </a:pPr>
                      <a:r>
                        <a:rPr lang="en-US" sz="1500" b="1" dirty="0">
                          <a:solidFill>
                            <a:schemeClr val="tx2"/>
                          </a:solidFill>
                        </a:rPr>
                        <a:t>Its answer, in one sentence</a:t>
                      </a:r>
                      <a:endParaRPr lang="en-US" sz="1500" dirty="0"/>
                    </a:p>
                  </a:txBody>
                  <a:tcPr marL="73152" marR="73152" marT="73152" marB="7315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2"/>
                    </a:solidFill>
                  </a:tcPr>
                </a:tc>
                <a:tc>
                  <a:txBody>
                    <a:bodyPr/>
                    <a:lstStyle/>
                    <a:p>
                      <a:pPr indent="0" marL="0">
                        <a:buNone/>
                      </a:pPr>
                      <a:endParaRPr lang="en-US" sz="1200" dirty="0"/>
                    </a:p>
                  </a:txBody>
                  <a:tcPr marL="73152" marR="73152" marT="73152" marB="73152">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1"/>
                    </a:solidFill>
                  </a:tcPr>
                </a:tc>
                <a:tc>
                  <a:txBody>
                    <a:bodyPr/>
                    <a:lstStyle/>
                    <a:p>
                      <a:pPr indent="0" marL="0">
                        <a:buNone/>
                      </a:pPr>
                      <a:endParaRPr lang="en-US" sz="1200" dirty="0"/>
                    </a:p>
                  </a:txBody>
                  <a:tcPr marL="73152" marR="73152" marT="73152" marB="73152">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1"/>
                    </a:solidFill>
                  </a:tcPr>
                </a:tc>
              </a:tr>
              <a:tr h="475488">
                <a:tc>
                  <a:txBody>
                    <a:bodyPr/>
                    <a:lstStyle/>
                    <a:p>
                      <a:pPr indent="0" marL="0">
                        <a:buNone/>
                      </a:pPr>
                      <a:r>
                        <a:rPr lang="en-US" sz="1500" b="1" dirty="0">
                          <a:solidFill>
                            <a:schemeClr val="tx2"/>
                          </a:solidFill>
                        </a:rPr>
                        <a:t>Seconds it took</a:t>
                      </a:r>
                      <a:endParaRPr lang="en-US" sz="1500" dirty="0"/>
                    </a:p>
                  </a:txBody>
                  <a:tcPr marL="73152" marR="73152" marT="73152" marB="7315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2"/>
                    </a:solidFill>
                  </a:tcPr>
                </a:tc>
                <a:tc>
                  <a:txBody>
                    <a:bodyPr/>
                    <a:lstStyle/>
                    <a:p>
                      <a:pPr indent="0" marL="0">
                        <a:buNone/>
                      </a:pPr>
                      <a:endParaRPr lang="en-US" sz="1200" dirty="0"/>
                    </a:p>
                  </a:txBody>
                  <a:tcPr marL="73152" marR="73152" marT="73152" marB="73152">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1"/>
                    </a:solidFill>
                  </a:tcPr>
                </a:tc>
                <a:tc>
                  <a:txBody>
                    <a:bodyPr/>
                    <a:lstStyle/>
                    <a:p>
                      <a:pPr indent="0" marL="0">
                        <a:buNone/>
                      </a:pPr>
                      <a:endParaRPr lang="en-US" sz="1200" dirty="0"/>
                    </a:p>
                  </a:txBody>
                  <a:tcPr marL="73152" marR="73152" marT="73152" marB="73152">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1"/>
                    </a:solidFill>
                  </a:tcPr>
                </a:tc>
              </a:tr>
              <a:tr h="475488">
                <a:tc>
                  <a:txBody>
                    <a:bodyPr/>
                    <a:lstStyle/>
                    <a:p>
                      <a:pPr indent="0" marL="0">
                        <a:buNone/>
                      </a:pPr>
                      <a:r>
                        <a:rPr lang="en-US" sz="1500" b="1" dirty="0">
                          <a:solidFill>
                            <a:schemeClr val="tx2"/>
                          </a:solidFill>
                        </a:rPr>
                        <a:t>Cost</a:t>
                      </a:r>
                      <a:endParaRPr lang="en-US" sz="1500" dirty="0"/>
                    </a:p>
                  </a:txBody>
                  <a:tcPr marL="73152" marR="73152" marT="73152" marB="7315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2"/>
                    </a:solidFill>
                  </a:tcPr>
                </a:tc>
                <a:tc>
                  <a:txBody>
                    <a:bodyPr/>
                    <a:lstStyle/>
                    <a:p>
                      <a:pPr indent="0" marL="0">
                        <a:buNone/>
                      </a:pPr>
                      <a:endParaRPr lang="en-US" sz="1200" dirty="0"/>
                    </a:p>
                  </a:txBody>
                  <a:tcPr marL="73152" marR="73152" marT="73152" marB="73152">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1"/>
                    </a:solidFill>
                  </a:tcPr>
                </a:tc>
                <a:tc>
                  <a:txBody>
                    <a:bodyPr/>
                    <a:lstStyle/>
                    <a:p>
                      <a:pPr indent="0" marL="0">
                        <a:buNone/>
                      </a:pPr>
                      <a:endParaRPr lang="en-US" sz="1200" dirty="0"/>
                    </a:p>
                  </a:txBody>
                  <a:tcPr marL="73152" marR="73152" marT="73152" marB="73152">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1"/>
                    </a:solidFill>
                  </a:tcPr>
                </a:tc>
              </a:tr>
              <a:tr h="475488">
                <a:tc>
                  <a:txBody>
                    <a:bodyPr/>
                    <a:lstStyle/>
                    <a:p>
                      <a:pPr indent="0" marL="0">
                        <a:buNone/>
                      </a:pPr>
                      <a:r>
                        <a:rPr lang="en-US" sz="1500" b="1" dirty="0">
                          <a:solidFill>
                            <a:schemeClr val="tx2"/>
                          </a:solidFill>
                        </a:rPr>
                        <a:t>Which would you pick, and why?</a:t>
                      </a:r>
                      <a:endParaRPr lang="en-US" sz="1500" dirty="0"/>
                    </a:p>
                  </a:txBody>
                  <a:tcPr marL="73152" marR="73152" marT="73152" marB="7315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2"/>
                    </a:solidFill>
                  </a:tcPr>
                </a:tc>
                <a:tc>
                  <a:txBody>
                    <a:bodyPr/>
                    <a:lstStyle/>
                    <a:p>
                      <a:pPr indent="0" marL="0">
                        <a:buNone/>
                      </a:pPr>
                      <a:endParaRPr lang="en-US" sz="1200" dirty="0"/>
                    </a:p>
                  </a:txBody>
                  <a:tcPr marL="73152" marR="73152" marT="73152" marB="73152">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1"/>
                    </a:solidFill>
                  </a:tcPr>
                </a:tc>
                <a:tc>
                  <a:txBody>
                    <a:bodyPr/>
                    <a:lstStyle/>
                    <a:p>
                      <a:pPr indent="0" marL="0">
                        <a:buNone/>
                      </a:pPr>
                      <a:endParaRPr lang="en-US" sz="1200" dirty="0"/>
                    </a:p>
                  </a:txBody>
                  <a:tcPr marL="73152" marR="73152" marT="73152" marB="73152">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457200" y="4297680"/>
            <a:ext cx="8229600" cy="365760"/>
          </a:xfrm>
          <a:prstGeom prst="rect">
            <a:avLst/>
          </a:prstGeom>
          <a:noFill/>
          <a:ln/>
        </p:spPr>
        <p:txBody>
          <a:bodyPr wrap="square" lIns="0" tIns="0" rIns="0" bIns="0" rtlCol="0" anchor="t"/>
          <a:lstStyle/>
          <a:p>
            <a:pPr indent="0" marL="0">
              <a:buNone/>
            </a:pPr>
            <a:r>
              <a:rPr lang="en-US" sz="1500" b="1" dirty="0">
                <a:solidFill>
                  <a:schemeClr val="tx2"/>
                </a:solidFill>
              </a:rPr>
              <a:t>Ask both: “Explain what an API is to a 12-year-old in three sentences.”</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600" b="1" dirty="0">
                <a:solidFill>
                  <a:schemeClr val="bg1"/>
                </a:solidFill>
              </a:rPr>
              <a:t>Remember these three things</a:t>
            </a:r>
            <a:endParaRPr lang="en-US" sz="3600" dirty="0"/>
          </a:p>
        </p:txBody>
      </p:sp>
      <p:sp>
        <p:nvSpPr>
          <p:cNvPr id="3" name="remember circle 1"/>
          <p:cNvSpPr/>
          <p:nvPr/>
        </p:nvSpPr>
        <p:spPr>
          <a:xfrm>
            <a:off x="457200" y="1417320"/>
            <a:ext cx="731520" cy="731520"/>
          </a:xfrm>
          <a:prstGeom prst="ellipse">
            <a:avLst/>
          </a:prstGeom>
          <a:solidFill>
            <a:schemeClr val="accent2"/>
          </a:solidFill>
          <a:ln w="9525">
            <a:solidFill>
              <a:schemeClr val="accent2"/>
            </a:solidFill>
            <a:prstDash val="solid"/>
          </a:ln>
        </p:spPr>
      </p:sp>
      <p:sp>
        <p:nvSpPr>
          <p:cNvPr id="4" name="Text 2"/>
          <p:cNvSpPr txBox="1"/>
          <p:nvPr/>
        </p:nvSpPr>
        <p:spPr>
          <a:xfrm>
            <a:off x="457200" y="1417320"/>
            <a:ext cx="731520" cy="731520"/>
          </a:xfrm>
          <a:prstGeom prst="rect">
            <a:avLst/>
          </a:prstGeom>
          <a:noFill/>
          <a:ln/>
        </p:spPr>
        <p:txBody>
          <a:bodyPr wrap="square" lIns="0" tIns="0" rIns="0" bIns="0" rtlCol="0" anchor="ctr"/>
          <a:lstStyle/>
          <a:p>
            <a:pPr algn="ctr" indent="0" marL="0">
              <a:buNone/>
            </a:pPr>
            <a:r>
              <a:rPr lang="en-US" sz="2800" b="1" dirty="0">
                <a:solidFill>
                  <a:schemeClr val="bg1"/>
                </a:solidFill>
              </a:rPr>
              <a:t>1</a:t>
            </a:r>
            <a:endParaRPr lang="en-US" sz="2800" dirty="0"/>
          </a:p>
        </p:txBody>
      </p:sp>
      <p:sp>
        <p:nvSpPr>
          <p:cNvPr id="5" name="Text 3"/>
          <p:cNvSpPr txBox="1"/>
          <p:nvPr/>
        </p:nvSpPr>
        <p:spPr>
          <a:xfrm>
            <a:off x="1463040" y="1325880"/>
            <a:ext cx="7223760" cy="914400"/>
          </a:xfrm>
          <a:prstGeom prst="rect">
            <a:avLst/>
          </a:prstGeom>
          <a:noFill/>
          <a:ln/>
        </p:spPr>
        <p:txBody>
          <a:bodyPr wrap="square" lIns="0" tIns="0" rIns="0" bIns="0" rtlCol="0" anchor="ctr"/>
          <a:lstStyle/>
          <a:p>
            <a:pPr indent="0" marL="0">
              <a:buNone/>
            </a:pPr>
            <a:r>
              <a:rPr lang="en-US" sz="1900" dirty="0">
                <a:solidFill>
                  <a:schemeClr val="bg1"/>
                </a:solidFill>
              </a:rPr>
              <a:t>An LLM guesses the next words, very well. It is not a search engine, and it is not a person.</a:t>
            </a:r>
            <a:endParaRPr lang="en-US" sz="1900" dirty="0"/>
          </a:p>
        </p:txBody>
      </p:sp>
      <p:sp>
        <p:nvSpPr>
          <p:cNvPr id="6" name="remember circle 2"/>
          <p:cNvSpPr/>
          <p:nvPr/>
        </p:nvSpPr>
        <p:spPr>
          <a:xfrm>
            <a:off x="457200" y="2514600"/>
            <a:ext cx="731520" cy="731520"/>
          </a:xfrm>
          <a:prstGeom prst="ellipse">
            <a:avLst/>
          </a:prstGeom>
          <a:solidFill>
            <a:schemeClr val="accent2"/>
          </a:solidFill>
          <a:ln w="9525">
            <a:solidFill>
              <a:schemeClr val="accent2"/>
            </a:solidFill>
            <a:prstDash val="solid"/>
          </a:ln>
        </p:spPr>
      </p:sp>
      <p:sp>
        <p:nvSpPr>
          <p:cNvPr id="7" name="Text 5"/>
          <p:cNvSpPr txBox="1"/>
          <p:nvPr/>
        </p:nvSpPr>
        <p:spPr>
          <a:xfrm>
            <a:off x="457200" y="2514600"/>
            <a:ext cx="731520" cy="731520"/>
          </a:xfrm>
          <a:prstGeom prst="rect">
            <a:avLst/>
          </a:prstGeom>
          <a:noFill/>
          <a:ln/>
        </p:spPr>
        <p:txBody>
          <a:bodyPr wrap="square" lIns="0" tIns="0" rIns="0" bIns="0" rtlCol="0" anchor="ctr"/>
          <a:lstStyle/>
          <a:p>
            <a:pPr algn="ctr" indent="0" marL="0">
              <a:buNone/>
            </a:pPr>
            <a:r>
              <a:rPr lang="en-US" sz="2800" b="1" dirty="0">
                <a:solidFill>
                  <a:schemeClr val="bg1"/>
                </a:solidFill>
              </a:rPr>
              <a:t>2</a:t>
            </a:r>
            <a:endParaRPr lang="en-US" sz="2800" dirty="0"/>
          </a:p>
        </p:txBody>
      </p:sp>
      <p:sp>
        <p:nvSpPr>
          <p:cNvPr id="8" name="Text 6"/>
          <p:cNvSpPr txBox="1"/>
          <p:nvPr/>
        </p:nvSpPr>
        <p:spPr>
          <a:xfrm>
            <a:off x="1463040" y="2423160"/>
            <a:ext cx="7223760" cy="914400"/>
          </a:xfrm>
          <a:prstGeom prst="rect">
            <a:avLst/>
          </a:prstGeom>
          <a:noFill/>
          <a:ln/>
        </p:spPr>
        <p:txBody>
          <a:bodyPr wrap="square" lIns="0" tIns="0" rIns="0" bIns="0" rtlCol="0" anchor="ctr"/>
          <a:lstStyle/>
          <a:p>
            <a:pPr indent="0" marL="0">
              <a:buNone/>
            </a:pPr>
            <a:r>
              <a:rPr lang="en-US" sz="1900" dirty="0">
                <a:solidFill>
                  <a:schemeClr val="bg1"/>
                </a:solidFill>
              </a:rPr>
              <a:t>GPT is a model. ChatGPT is an app. LLM is the whole category.</a:t>
            </a:r>
            <a:endParaRPr lang="en-US" sz="1900" dirty="0"/>
          </a:p>
        </p:txBody>
      </p:sp>
      <p:sp>
        <p:nvSpPr>
          <p:cNvPr id="9" name="remember circle 3"/>
          <p:cNvSpPr/>
          <p:nvPr/>
        </p:nvSpPr>
        <p:spPr>
          <a:xfrm>
            <a:off x="457200" y="3611880"/>
            <a:ext cx="731520" cy="731520"/>
          </a:xfrm>
          <a:prstGeom prst="ellipse">
            <a:avLst/>
          </a:prstGeom>
          <a:solidFill>
            <a:schemeClr val="accent2"/>
          </a:solidFill>
          <a:ln w="9525">
            <a:solidFill>
              <a:schemeClr val="accent2"/>
            </a:solidFill>
            <a:prstDash val="solid"/>
          </a:ln>
        </p:spPr>
      </p:sp>
      <p:sp>
        <p:nvSpPr>
          <p:cNvPr id="10" name="Text 8"/>
          <p:cNvSpPr txBox="1"/>
          <p:nvPr/>
        </p:nvSpPr>
        <p:spPr>
          <a:xfrm>
            <a:off x="457200" y="3611880"/>
            <a:ext cx="731520" cy="731520"/>
          </a:xfrm>
          <a:prstGeom prst="rect">
            <a:avLst/>
          </a:prstGeom>
          <a:noFill/>
          <a:ln/>
        </p:spPr>
        <p:txBody>
          <a:bodyPr wrap="square" lIns="0" tIns="0" rIns="0" bIns="0" rtlCol="0" anchor="ctr"/>
          <a:lstStyle/>
          <a:p>
            <a:pPr algn="ctr" indent="0" marL="0">
              <a:buNone/>
            </a:pPr>
            <a:r>
              <a:rPr lang="en-US" sz="2800" b="1" dirty="0">
                <a:solidFill>
                  <a:schemeClr val="bg1"/>
                </a:solidFill>
              </a:rPr>
              <a:t>3</a:t>
            </a:r>
            <a:endParaRPr lang="en-US" sz="2800" dirty="0"/>
          </a:p>
        </p:txBody>
      </p:sp>
      <p:sp>
        <p:nvSpPr>
          <p:cNvPr id="11" name="Text 9"/>
          <p:cNvSpPr txBox="1"/>
          <p:nvPr/>
        </p:nvSpPr>
        <p:spPr>
          <a:xfrm>
            <a:off x="1463040" y="3520440"/>
            <a:ext cx="7223760" cy="914400"/>
          </a:xfrm>
          <a:prstGeom prst="rect">
            <a:avLst/>
          </a:prstGeom>
          <a:noFill/>
          <a:ln/>
        </p:spPr>
        <p:txBody>
          <a:bodyPr wrap="square" lIns="0" tIns="0" rIns="0" bIns="0" rtlCol="0" anchor="ctr"/>
          <a:lstStyle/>
          <a:p>
            <a:pPr indent="0" marL="0">
              <a:buNone/>
            </a:pPr>
            <a:r>
              <a:rPr lang="en-US" sz="1900" dirty="0">
                <a:solidFill>
                  <a:schemeClr val="bg1"/>
                </a:solidFill>
              </a:rPr>
              <a:t>An API call = address + action + key + order, written as JSON.</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600" b="1" dirty="0">
                <a:solidFill>
                  <a:schemeClr val="tx2"/>
                </a:solidFill>
              </a:rPr>
              <a:t>Quick check</a:t>
            </a:r>
            <a:endParaRPr lang="en-US" sz="3600" dirty="0"/>
          </a:p>
        </p:txBody>
      </p:sp>
      <p:sp>
        <p:nvSpPr>
          <p:cNvPr id="3" name="question card 1"/>
          <p:cNvSpPr/>
          <p:nvPr/>
        </p:nvSpPr>
        <p:spPr>
          <a:xfrm>
            <a:off x="457200" y="1280160"/>
            <a:ext cx="2560320" cy="2468880"/>
          </a:xfrm>
          <a:prstGeom prst="roundRect">
            <a:avLst>
              <a:gd name="adj" fmla="val 4444"/>
            </a:avLst>
          </a:prstGeom>
          <a:solidFill>
            <a:schemeClr val="bg2"/>
          </a:solidFill>
          <a:ln w="9525">
            <a:solidFill>
              <a:schemeClr val="bg2"/>
            </a:solidFill>
            <a:prstDash val="solid"/>
          </a:ln>
        </p:spPr>
      </p:sp>
      <p:sp>
        <p:nvSpPr>
          <p:cNvPr id="4" name="Text 2"/>
          <p:cNvSpPr txBox="1"/>
          <p:nvPr/>
        </p:nvSpPr>
        <p:spPr>
          <a:xfrm>
            <a:off x="731520" y="1417320"/>
            <a:ext cx="914400" cy="822960"/>
          </a:xfrm>
          <a:prstGeom prst="rect">
            <a:avLst/>
          </a:prstGeom>
          <a:noFill/>
          <a:ln/>
        </p:spPr>
        <p:txBody>
          <a:bodyPr wrap="square" lIns="0" tIns="0" rIns="0" bIns="0" rtlCol="0" anchor="t"/>
          <a:lstStyle/>
          <a:p>
            <a:pPr indent="0" marL="0">
              <a:buNone/>
            </a:pPr>
            <a:r>
              <a:rPr lang="en-US" sz="4400" b="1" dirty="0">
                <a:solidFill>
                  <a:schemeClr val="accent2"/>
                </a:solidFill>
              </a:rPr>
              <a:t>1</a:t>
            </a:r>
            <a:endParaRPr lang="en-US" sz="4400" dirty="0"/>
          </a:p>
        </p:txBody>
      </p:sp>
      <p:sp>
        <p:nvSpPr>
          <p:cNvPr id="5" name="Text 3"/>
          <p:cNvSpPr txBox="1"/>
          <p:nvPr/>
        </p:nvSpPr>
        <p:spPr>
          <a:xfrm>
            <a:off x="731520" y="2377440"/>
            <a:ext cx="2103120" cy="1188720"/>
          </a:xfrm>
          <a:prstGeom prst="rect">
            <a:avLst/>
          </a:prstGeom>
          <a:noFill/>
          <a:ln/>
        </p:spPr>
        <p:txBody>
          <a:bodyPr wrap="square" lIns="0" tIns="0" rIns="0" bIns="0" rtlCol="0" anchor="t"/>
          <a:lstStyle/>
          <a:p>
            <a:pPr indent="0" marL="0">
              <a:buNone/>
            </a:pPr>
            <a:r>
              <a:rPr lang="en-US" sz="1800" dirty="0">
                <a:solidFill>
                  <a:schemeClr val="tx1"/>
                </a:solidFill>
              </a:rPr>
              <a:t>Is ChatGPT a model or an app?</a:t>
            </a:r>
            <a:endParaRPr lang="en-US" sz="1800" dirty="0"/>
          </a:p>
        </p:txBody>
      </p:sp>
      <p:sp>
        <p:nvSpPr>
          <p:cNvPr id="6" name="question card 2"/>
          <p:cNvSpPr/>
          <p:nvPr/>
        </p:nvSpPr>
        <p:spPr>
          <a:xfrm>
            <a:off x="3291840" y="1280160"/>
            <a:ext cx="2560320" cy="2468880"/>
          </a:xfrm>
          <a:prstGeom prst="roundRect">
            <a:avLst>
              <a:gd name="adj" fmla="val 4444"/>
            </a:avLst>
          </a:prstGeom>
          <a:solidFill>
            <a:schemeClr val="bg2"/>
          </a:solidFill>
          <a:ln w="9525">
            <a:solidFill>
              <a:schemeClr val="bg2"/>
            </a:solidFill>
            <a:prstDash val="solid"/>
          </a:ln>
        </p:spPr>
      </p:sp>
      <p:sp>
        <p:nvSpPr>
          <p:cNvPr id="7" name="Text 5"/>
          <p:cNvSpPr txBox="1"/>
          <p:nvPr/>
        </p:nvSpPr>
        <p:spPr>
          <a:xfrm>
            <a:off x="3566160" y="1417320"/>
            <a:ext cx="914400" cy="822960"/>
          </a:xfrm>
          <a:prstGeom prst="rect">
            <a:avLst/>
          </a:prstGeom>
          <a:noFill/>
          <a:ln/>
        </p:spPr>
        <p:txBody>
          <a:bodyPr wrap="square" lIns="0" tIns="0" rIns="0" bIns="0" rtlCol="0" anchor="t"/>
          <a:lstStyle/>
          <a:p>
            <a:pPr indent="0" marL="0">
              <a:buNone/>
            </a:pPr>
            <a:r>
              <a:rPr lang="en-US" sz="4400" b="1" dirty="0">
                <a:solidFill>
                  <a:schemeClr val="accent2"/>
                </a:solidFill>
              </a:rPr>
              <a:t>2</a:t>
            </a:r>
            <a:endParaRPr lang="en-US" sz="4400" dirty="0"/>
          </a:p>
        </p:txBody>
      </p:sp>
      <p:sp>
        <p:nvSpPr>
          <p:cNvPr id="8" name="Text 6"/>
          <p:cNvSpPr txBox="1"/>
          <p:nvPr/>
        </p:nvSpPr>
        <p:spPr>
          <a:xfrm>
            <a:off x="3566160" y="2377440"/>
            <a:ext cx="2103120" cy="1188720"/>
          </a:xfrm>
          <a:prstGeom prst="rect">
            <a:avLst/>
          </a:prstGeom>
          <a:noFill/>
          <a:ln/>
        </p:spPr>
        <p:txBody>
          <a:bodyPr wrap="square" lIns="0" tIns="0" rIns="0" bIns="0" rtlCol="0" anchor="t"/>
          <a:lstStyle/>
          <a:p>
            <a:pPr indent="0" marL="0">
              <a:buNone/>
            </a:pPr>
            <a:r>
              <a:rPr lang="en-US" sz="1800" dirty="0">
                <a:solidFill>
                  <a:schemeClr val="tx1"/>
                </a:solidFill>
              </a:rPr>
              <a:t>Which of the four parts proves who you are?</a:t>
            </a:r>
            <a:endParaRPr lang="en-US" sz="1800" dirty="0"/>
          </a:p>
        </p:txBody>
      </p:sp>
      <p:sp>
        <p:nvSpPr>
          <p:cNvPr id="9" name="question card 3"/>
          <p:cNvSpPr/>
          <p:nvPr/>
        </p:nvSpPr>
        <p:spPr>
          <a:xfrm>
            <a:off x="6126480" y="1280160"/>
            <a:ext cx="2560320" cy="2468880"/>
          </a:xfrm>
          <a:prstGeom prst="roundRect">
            <a:avLst>
              <a:gd name="adj" fmla="val 4444"/>
            </a:avLst>
          </a:prstGeom>
          <a:solidFill>
            <a:schemeClr val="bg2"/>
          </a:solidFill>
          <a:ln w="9525">
            <a:solidFill>
              <a:schemeClr val="bg2"/>
            </a:solidFill>
            <a:prstDash val="solid"/>
          </a:ln>
        </p:spPr>
      </p:sp>
      <p:sp>
        <p:nvSpPr>
          <p:cNvPr id="10" name="Text 8"/>
          <p:cNvSpPr txBox="1"/>
          <p:nvPr/>
        </p:nvSpPr>
        <p:spPr>
          <a:xfrm>
            <a:off x="6400800" y="1417320"/>
            <a:ext cx="914400" cy="822960"/>
          </a:xfrm>
          <a:prstGeom prst="rect">
            <a:avLst/>
          </a:prstGeom>
          <a:noFill/>
          <a:ln/>
        </p:spPr>
        <p:txBody>
          <a:bodyPr wrap="square" lIns="0" tIns="0" rIns="0" bIns="0" rtlCol="0" anchor="t"/>
          <a:lstStyle/>
          <a:p>
            <a:pPr indent="0" marL="0">
              <a:buNone/>
            </a:pPr>
            <a:r>
              <a:rPr lang="en-US" sz="4400" b="1" dirty="0">
                <a:solidFill>
                  <a:schemeClr val="accent2"/>
                </a:solidFill>
              </a:rPr>
              <a:t>3</a:t>
            </a:r>
            <a:endParaRPr lang="en-US" sz="4400" dirty="0"/>
          </a:p>
        </p:txBody>
      </p:sp>
      <p:sp>
        <p:nvSpPr>
          <p:cNvPr id="11" name="Text 9"/>
          <p:cNvSpPr txBox="1"/>
          <p:nvPr/>
        </p:nvSpPr>
        <p:spPr>
          <a:xfrm>
            <a:off x="6400800" y="2377440"/>
            <a:ext cx="2103120" cy="1188720"/>
          </a:xfrm>
          <a:prstGeom prst="rect">
            <a:avLst/>
          </a:prstGeom>
          <a:noFill/>
          <a:ln/>
        </p:spPr>
        <p:txBody>
          <a:bodyPr wrap="square" lIns="0" tIns="0" rIns="0" bIns="0" rtlCol="0" anchor="t"/>
          <a:lstStyle/>
          <a:p>
            <a:pPr indent="0" marL="0">
              <a:buNone/>
            </a:pPr>
            <a:r>
              <a:rPr lang="en-US" sz="1800" dirty="0">
                <a:solidFill>
                  <a:schemeClr val="tx1"/>
                </a:solidFill>
              </a:rPr>
              <a:t>Why should you double-check an AI's facts?</a:t>
            </a:r>
            <a:endParaRPr lang="en-US" sz="1800" dirty="0"/>
          </a:p>
        </p:txBody>
      </p:sp>
      <p:sp>
        <p:nvSpPr>
          <p:cNvPr id="12" name="Text 10"/>
          <p:cNvSpPr txBox="1"/>
          <p:nvPr/>
        </p:nvSpPr>
        <p:spPr>
          <a:xfrm>
            <a:off x="457200" y="4023360"/>
            <a:ext cx="8229600" cy="365760"/>
          </a:xfrm>
          <a:prstGeom prst="rect">
            <a:avLst/>
          </a:prstGeom>
          <a:noFill/>
          <a:ln/>
        </p:spPr>
        <p:txBody>
          <a:bodyPr wrap="square" lIns="0" tIns="0" rIns="0" bIns="0" rtlCol="0" anchor="t"/>
          <a:lstStyle/>
          <a:p>
            <a:pPr indent="0" marL="0">
              <a:buNone/>
            </a:pPr>
            <a:r>
              <a:rPr lang="en-US" sz="1600" b="1" dirty="0">
                <a:solidFill>
                  <a:schemeClr val="tx2"/>
                </a:solidFill>
              </a:rPr>
              <a:t>Say your answers out loud to the person next to you.</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Friendly Teal">
  <a:themeElements>
    <a:clrScheme name="Friendly Teal">
      <a:dk1>
        <a:srgbClr val="1B2B34"/>
      </a:dk1>
      <a:lt1>
        <a:srgbClr val="FFFFFF"/>
      </a:lt1>
      <a:dk2>
        <a:srgbClr val="0B4F5C"/>
      </a:dk2>
      <a:lt2>
        <a:srgbClr val="E8F3F2"/>
      </a:lt2>
      <a:accent1>
        <a:srgbClr val="0B7A75"/>
      </a:accent1>
      <a:accent2>
        <a:srgbClr val="F26B5B"/>
      </a:accent2>
      <a:accent3>
        <a:srgbClr val="F4B942"/>
      </a:accent3>
      <a:accent4>
        <a:srgbClr val="7C9CBF"/>
      </a:accent4>
      <a:accent5>
        <a:srgbClr val="2F6F8F"/>
      </a:accent5>
      <a:accent6>
        <a:srgbClr val="9BC5A8"/>
      </a:accent6>
      <a:hlink>
        <a:srgbClr val="0B7A75"/>
      </a:hlink>
      <a:folHlink>
        <a:srgbClr val="5B6B73"/>
      </a:folHlink>
    </a:clrScheme>
    <a:fontScheme name="Friendly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 Meet the AI that reads and writes</dc:title>
  <dc:subject>PptxGenJS Presentation</dc:subject>
  <dc:creator>Agentic AI Builder</dc:creator>
  <cp:lastModifiedBy>Agentic AI Builder</cp:lastModifiedBy>
  <cp:revision>1</cp:revision>
  <dcterms:created xsi:type="dcterms:W3CDTF">2026-10-28T13:13:21Z</dcterms:created>
  <dcterms:modified xsi:type="dcterms:W3CDTF">2026-10-28T13:13:21Z</dcterms:modified>
</cp:coreProperties>
</file>