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7062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13. It takes about 45 minutes. How an AI answers from your own documents instead of guessing.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language model only knows what it learned in training. It has never seen your price list, your policies or your product sheets. If you ask, it may guess, and a confident guess is the worst kind of wrong answer.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computer cannot compare meaning directly. So we turn each piece of text into a long list of numbers called an embedding. Texts with similar meaning get similar numbers. To find relevant text, we turn the question into a pin too, and fetch the nearest pins. This is called similarity search. Try it: Real embeddings have hundreds or thousands of numbers, not two, but the idea is the same: close together means similar meaning.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search whole documents. You cut them into chunks, short passages, and give each one an embedding. Too big: a chunk covers many topics, so the match is vague. Too small: a chunk loses its context, such as a price with no product name. Good starting point: a few sentences or one short section, often with a small overlap between neighbours.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a customer asks, “Compare the Basic and Pro blender, and tell me which is quieter.” An agentic system searches for Basic, then searches for Pro, then compares. A one-shot system may only retrieve one of them.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such rules the model happily fills gaps from its own memory, which is exactly what you were trying to stop.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lesson page on the course site and use the interactive demo together. Let students suggest the inputs.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It looks up relevant text from your documents before answering. Retrieval-Augmented Generation means retrieve first, then generate the answer. 2. A list of numbers that represents the meaning of a piece of text. Similar meanings give similar numbers. 3. So the search can find short, specific passages. Chunks are like index cards: quick to find and focused on one idea. 4. The embedding model. A different embedding model means a different map, so the search no longer works. 5. The agent decides whether, what and how many times to search. In agentic RAG the search is a tool the agent chooses to use.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3  ·  LESSON 13</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RAG and agentic RAG</a:t>
            </a:r>
            <a:endParaRPr lang="en-US" sz="38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How an AI answers from your own documents instead of guessing.</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AI Builder</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RAG stands for Retrieval-Augmented Generation. In plain words: before the AI answers, it looks up the right pages in your documents, then answers using only those pages.</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Explain embeddings, chunking and similarity search in simple terms.</a:t>
            </a:r>
            <a:endParaRPr lang="en-US" sz="1700" dirty="0"/>
          </a:p>
        </p:txBody>
      </p:sp>
      <p:sp>
        <p:nvSpPr>
          <p:cNvPr id="9" name="Shape 5"/>
          <p:cNvSpPr/>
          <p:nvPr/>
        </p:nvSpPr>
        <p:spPr>
          <a:xfrm>
            <a:off x="329184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352044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3661258" y="1741018"/>
            <a:ext cx="358445" cy="358445"/>
          </a:xfrm>
          <a:prstGeom prst="rect">
            <a:avLst/>
          </a:prstGeom>
        </p:spPr>
      </p:pic>
      <p:sp>
        <p:nvSpPr>
          <p:cNvPr id="12" name="Text 7"/>
          <p:cNvSpPr/>
          <p:nvPr/>
        </p:nvSpPr>
        <p:spPr>
          <a:xfrm>
            <a:off x="352044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Describe the two phases of RAG: ingestion and answering.</a:t>
            </a:r>
            <a:endParaRPr lang="en-US" sz="1700" dirty="0"/>
          </a:p>
        </p:txBody>
      </p:sp>
      <p:sp>
        <p:nvSpPr>
          <p:cNvPr id="13" name="Shape 8"/>
          <p:cNvSpPr/>
          <p:nvPr/>
        </p:nvSpPr>
        <p:spPr>
          <a:xfrm>
            <a:off x="608076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630936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6450178" y="1741018"/>
            <a:ext cx="358445" cy="358445"/>
          </a:xfrm>
          <a:prstGeom prst="rect">
            <a:avLst/>
          </a:prstGeom>
        </p:spPr>
      </p:pic>
      <p:sp>
        <p:nvSpPr>
          <p:cNvPr id="16" name="Text 10"/>
          <p:cNvSpPr/>
          <p:nvPr/>
        </p:nvSpPr>
        <p:spPr>
          <a:xfrm>
            <a:off x="630936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Explain how agentic RAG differs from standard RAG.</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5"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8"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An open-book exam</a:t>
            </a:r>
            <a:endParaRPr lang="en-US" sz="2200" dirty="0"/>
          </a:p>
        </p:txBody>
      </p:sp>
      <p:sp>
        <p:nvSpPr>
          <p:cNvPr id="9"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2000" dirty="0">
                <a:solidFill>
                  <a:srgbClr val="1B2B34"/>
                </a:solidFill>
                <a:latin typeface="Calibri" pitchFamily="34" charset="0"/>
                <a:ea typeface="Calibri" pitchFamily="34" charset="-122"/>
                <a:cs typeface="Calibri" pitchFamily="34" charset="-120"/>
              </a:rPr>
              <a:t>A closed-book exam tests memory. An open-book exam lets the student find the right page, then answer from it. RAG turns your AI into an open-book student, and the book is your documents.</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5"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8"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A map</a:t>
            </a:r>
            <a:endParaRPr lang="en-US" sz="2200" dirty="0"/>
          </a:p>
        </p:txBody>
      </p:sp>
      <p:sp>
        <p:nvSpPr>
          <p:cNvPr id="9"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Imagine a map where every sentence is a pin. “How do I return shoes?” and “What is your refund policy?” land close together. “Best pizza in town” lands far away. The numbers are the pin's coordinates.</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Chunking: cutting documents into pieces</a:t>
            </a:r>
            <a:endParaRPr lang="en-US" sz="26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Too big: a chunk covers many topics, so the match is vague.</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Too small: a chunk loses its context, such as a price with no product name.</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Good starting point: a few sentences or one short section, often with a small overlap between neighbours.</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Index cards</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2000" dirty="0">
                <a:solidFill>
                  <a:srgbClr val="1B2B34"/>
                </a:solidFill>
                <a:latin typeface="Calibri" pitchFamily="34" charset="0"/>
                <a:ea typeface="Calibri" pitchFamily="34" charset="-122"/>
                <a:cs typeface="Calibri" pitchFamily="34" charset="-120"/>
              </a:rPr>
              <a:t>Instead of handing someone a whole textbook, you write each idea on its own index card. Finding the right card is quick. But a card that just says “KES 450” is useless.</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two phases</a:t>
            </a:r>
            <a:endParaRPr lang="en-US" sz="3000" dirty="0"/>
          </a:p>
        </p:txBody>
      </p:sp>
      <p:sp>
        <p:nvSpPr>
          <p:cNvPr id="4" name="Shape 2"/>
          <p:cNvSpPr/>
          <p:nvPr/>
        </p:nvSpPr>
        <p:spPr>
          <a:xfrm>
            <a:off x="502920" y="1280160"/>
            <a:ext cx="8138160" cy="3474720"/>
          </a:xfrm>
          <a:prstGeom prst="roundRect">
            <a:avLst>
              <a:gd name="adj" fmla="val 2632"/>
            </a:avLst>
          </a:prstGeom>
          <a:solidFill>
            <a:srgbClr val="FFFFFF"/>
          </a:solidFill>
          <a:ln w="12700">
            <a:solidFill>
              <a:srgbClr val="CFE3E1"/>
            </a:solidFill>
            <a:prstDash val="solid"/>
          </a:ln>
        </p:spPr>
        <p:txBody>
          <a:bodyPr/>
          <a:lstStyle/>
          <a:p>
            <a:endParaRPr lang="en-US"/>
          </a:p>
        </p:txBody>
      </p:sp>
      <p:pic>
        <p:nvPicPr>
          <p:cNvPr id="5" name="Image 0" descr="Ingestion fills the filing cabinet. Answering looks things up in it."/>
          <p:cNvPicPr>
            <a:picLocks noChangeAspect="1"/>
          </p:cNvPicPr>
          <p:nvPr/>
        </p:nvPicPr>
        <p:blipFill>
          <a:blip r:embed="rId3"/>
          <a:stretch>
            <a:fillRect/>
          </a:stretch>
        </p:blipFill>
        <p:spPr>
          <a:xfrm>
            <a:off x="1114634" y="1417320"/>
            <a:ext cx="6914733" cy="3200400"/>
          </a:xfrm>
          <a:prstGeom prst="rect">
            <a:avLst/>
          </a:prstGeom>
        </p:spPr>
      </p:pic>
      <p:sp>
        <p:nvSpPr>
          <p:cNvPr id="6" name="Text 3"/>
          <p:cNvSpPr/>
          <p:nvPr/>
        </p:nvSpPr>
        <p:spPr>
          <a:xfrm>
            <a:off x="502920" y="4892040"/>
            <a:ext cx="8138160" cy="274320"/>
          </a:xfrm>
          <a:prstGeom prst="rect">
            <a:avLst/>
          </a:prstGeom>
          <a:noFill/>
          <a:ln/>
        </p:spPr>
        <p:txBody>
          <a:bodyPr wrap="square" lIns="0" tIns="0" rIns="0" bIns="0" rtlCol="0" anchor="t"/>
          <a:lstStyle/>
          <a:p>
            <a:pPr marL="0" indent="0" algn="ctr">
              <a:buNone/>
            </a:pPr>
            <a:r>
              <a:rPr lang="en-US" sz="1400" i="1" dirty="0">
                <a:solidFill>
                  <a:srgbClr val="5B6B73"/>
                </a:solidFill>
                <a:latin typeface="Calibri" pitchFamily="34" charset="0"/>
                <a:ea typeface="Calibri" pitchFamily="34" charset="-122"/>
                <a:cs typeface="Calibri" pitchFamily="34" charset="-120"/>
              </a:rPr>
              <a:t>Ingestion fills the filing cabinet. Answering looks things up in it.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One rule that catches everyone</a:t>
            </a:r>
            <a:endParaRPr lang="en-US" sz="30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2200" dirty="0">
                <a:solidFill>
                  <a:srgbClr val="1B2B34"/>
                </a:solidFill>
                <a:latin typeface="Calibri" pitchFamily="34" charset="0"/>
                <a:ea typeface="Calibri" pitchFamily="34" charset="-122"/>
                <a:cs typeface="Calibri" pitchFamily="34" charset="-120"/>
              </a:rPr>
              <a:t>The question and the documents must be embedded with the same model. Mix them and the map no longer lines up, so the search returns nonsense.</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Standard RAG and agentic RAG</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Standard RAG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Agentic RAG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Who decides to search?</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system. It always searches once, then answers.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agent. It chooses whether to search, what to search for…</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Number of searches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Exactly one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Zero, one or several</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Good for</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Simple, predictable questions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Vague or multi-part questions, small talk, comparing two items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Cost and speed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Faster and cheaper</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Slower and costlier, more flexible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Two librarians</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The first librarian always walks to one shelf and brings back whatever is there. The second thinks first: “Do I need a book? Which shelf? Is this enough, or should I check another?” That second librarian is agentic RAG. In n8n, the search is simply a tool you give the agent, as in Lesson 4.</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Grounding rules for the prompt</a:t>
            </a:r>
            <a:endParaRPr lang="en-US" sz="3000" dirty="0"/>
          </a:p>
        </p:txBody>
      </p:sp>
      <p:sp>
        <p:nvSpPr>
          <p:cNvPr id="5" name="Shape 2"/>
          <p:cNvSpPr/>
          <p:nvPr/>
        </p:nvSpPr>
        <p:spPr>
          <a:xfrm>
            <a:off x="502920" y="1280160"/>
            <a:ext cx="8138160" cy="3337560"/>
          </a:xfrm>
          <a:prstGeom prst="roundRect">
            <a:avLst>
              <a:gd name="adj" fmla="val 3288"/>
            </a:avLst>
          </a:prstGeom>
          <a:solidFill>
            <a:srgbClr val="1B2B34"/>
          </a:solidFill>
          <a:ln w="9525">
            <a:solidFill>
              <a:srgbClr val="1B2B34"/>
            </a:solidFill>
            <a:prstDash val="solid"/>
          </a:ln>
        </p:spPr>
        <p:txBody>
          <a:bodyPr/>
          <a:lstStyle/>
          <a:p>
            <a:endParaRPr lang="en-US"/>
          </a:p>
        </p:txBody>
      </p:sp>
      <p:sp>
        <p:nvSpPr>
          <p:cNvPr id="6" name="Text 3"/>
          <p:cNvSpPr/>
          <p:nvPr/>
        </p:nvSpPr>
        <p:spPr>
          <a:xfrm>
            <a:off x="777240" y="1417320"/>
            <a:ext cx="7589520" cy="274320"/>
          </a:xfrm>
          <a:prstGeom prst="rect">
            <a:avLst/>
          </a:prstGeom>
          <a:noFill/>
          <a:ln/>
        </p:spPr>
        <p:txBody>
          <a:bodyPr wrap="square" lIns="0" tIns="0" rIns="0" bIns="0" rtlCol="0" anchor="t"/>
          <a:lstStyle/>
          <a:p>
            <a:pPr marL="0" indent="0">
              <a:buNone/>
            </a:pPr>
            <a:r>
              <a:rPr lang="en-US" sz="1200" b="1" dirty="0">
                <a:solidFill>
                  <a:srgbClr val="F4B942"/>
                </a:solidFill>
                <a:latin typeface="Calibri" pitchFamily="34" charset="0"/>
                <a:ea typeface="Calibri" pitchFamily="34" charset="-122"/>
                <a:cs typeface="Calibri" pitchFamily="34" charset="-120"/>
              </a:rPr>
              <a:t>GROUNDING RULES FOR THE PROMPT</a:t>
            </a:r>
            <a:endParaRPr lang="en-US" sz="1200" dirty="0"/>
          </a:p>
        </p:txBody>
      </p:sp>
      <p:sp>
        <p:nvSpPr>
          <p:cNvPr id="7" name="Text 4"/>
          <p:cNvSpPr/>
          <p:nvPr/>
        </p:nvSpPr>
        <p:spPr>
          <a:xfrm>
            <a:off x="777240" y="1783080"/>
            <a:ext cx="7589520" cy="2743200"/>
          </a:xfrm>
          <a:prstGeom prst="rect">
            <a:avLst/>
          </a:prstGeom>
          <a:noFill/>
          <a:ln/>
        </p:spPr>
        <p:txBody>
          <a:bodyPr wrap="square" lIns="0" tIns="0" rIns="0" bIns="0" rtlCol="0" anchor="t"/>
          <a:lstStyle/>
          <a:p>
            <a:pPr marL="0" indent="0">
              <a:buNone/>
            </a:pPr>
            <a:r>
              <a:rPr lang="en-US" sz="1400" dirty="0">
                <a:solidFill>
                  <a:srgbClr val="FFFFFF"/>
                </a:solidFill>
                <a:latin typeface="Consolas" pitchFamily="34" charset="0"/>
                <a:ea typeface="Consolas" pitchFamily="34" charset="-122"/>
                <a:cs typeface="Consolas" pitchFamily="34" charset="-120"/>
              </a:rPr>
              <a:t>Answer only using the information returned by the search tool.</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If the search results do not contain the answer, say "I don't have that information" and offer to take a message.</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Never use outside knowledge for prices, specifications or policies.</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When you give a price or a specification, say which product it belongs to.</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Try it live</a:t>
            </a:r>
            <a:endParaRPr lang="en-US" sz="3000" dirty="0"/>
          </a:p>
        </p:txBody>
      </p:sp>
      <p:sp>
        <p:nvSpPr>
          <p:cNvPr id="5" name="Shape 2"/>
          <p:cNvSpPr/>
          <p:nvPr/>
        </p:nvSpPr>
        <p:spPr>
          <a:xfrm>
            <a:off x="502920" y="1371600"/>
            <a:ext cx="8138160" cy="256032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822960" y="1737360"/>
            <a:ext cx="822960" cy="82296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04011" y="1918411"/>
            <a:ext cx="460858" cy="460858"/>
          </a:xfrm>
          <a:prstGeom prst="rect">
            <a:avLst/>
          </a:prstGeom>
        </p:spPr>
      </p:pic>
      <p:sp>
        <p:nvSpPr>
          <p:cNvPr id="8" name="Text 4"/>
          <p:cNvSpPr/>
          <p:nvPr/>
        </p:nvSpPr>
        <p:spPr>
          <a:xfrm>
            <a:off x="1920240" y="1691640"/>
            <a:ext cx="6400800" cy="91440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Open this lesson's page on the course site and play with the interactive demo.</a:t>
            </a:r>
            <a:endParaRPr lang="en-US" sz="2200" dirty="0"/>
          </a:p>
        </p:txBody>
      </p:sp>
      <p:sp>
        <p:nvSpPr>
          <p:cNvPr id="9" name="Text 5"/>
          <p:cNvSpPr/>
          <p:nvPr/>
        </p:nvSpPr>
        <p:spPr>
          <a:xfrm>
            <a:off x="1920240" y="2743200"/>
            <a:ext cx="6400800" cy="91440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Change the inputs, watch what happens, and say out loud what you think will change before you click.</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1188720"/>
            <a:ext cx="8046720" cy="868680"/>
          </a:xfrm>
          <a:prstGeom prst="rect">
            <a:avLst/>
          </a:prstGeom>
          <a:noFill/>
          <a:ln/>
        </p:spPr>
        <p:txBody>
          <a:bodyPr wrap="square" lIns="0" tIns="0" rIns="0" bIns="0" rtlCol="0" anchor="t"/>
          <a:lstStyle/>
          <a:p>
            <a:pPr marL="0" indent="0">
              <a:buNone/>
            </a:pPr>
            <a:r>
              <a:rPr lang="en-US" sz="1700" dirty="0">
                <a:solidFill>
                  <a:srgbClr val="5B6B73"/>
                </a:solidFill>
                <a:latin typeface="Calibri" pitchFamily="34" charset="0"/>
                <a:ea typeface="Calibri" pitchFamily="34" charset="-122"/>
                <a:cs typeface="Calibri" pitchFamily="34" charset="-120"/>
              </a:rPr>
              <a:t>On paper or in a document, plan a RAG system for a small business before building anything. Lesson 14 builds the real thing.</a:t>
            </a:r>
            <a:endParaRPr lang="en-US" sz="1700" dirty="0"/>
          </a:p>
        </p:txBody>
      </p:sp>
      <p:sp>
        <p:nvSpPr>
          <p:cNvPr id="6" name="Text 3"/>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DONE WHEN…</a:t>
            </a:r>
            <a:endParaRPr lang="en-US" sz="1200" dirty="0"/>
          </a:p>
        </p:txBody>
      </p:sp>
      <p:sp>
        <p:nvSpPr>
          <p:cNvPr id="7" name="Text 4"/>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I can explain an embedding using the map comparison</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I can name the two phases and what happens in each</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I can explain standard versus agentic RAG in one sentence</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1.  What does RAG add to a language model?</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2.  What is an embedding?</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3.  Why do we cut documents into chunks?</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4.  What must stay the same between ingestion and answering?</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5.  What makes RAG agentic?</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RAG</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Retrieval-Augmented Generation. Look up relevant text first, then answer from it.</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Embedding</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list of numbers that stands for the meaning of a piece of text.</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Chunk</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short passage cut from a larger document, searched and retrieved on its own.</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Similarity search</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Finding the stored chunks whose embeddings are closest to the question's.</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Vector store</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database that holds embeddings and can search them by closeness.</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Ingestion</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one-off preparation phase: cut documents into chunks, embed them, store them.</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RAG lets the AI answer from your documents: look up the right chunks first, then answer using only them.</a:t>
            </a:r>
            <a:endParaRPr lang="en-US" sz="1800" dirty="0"/>
          </a:p>
        </p:txBody>
      </p:sp>
      <p:sp>
        <p:nvSpPr>
          <p:cNvPr id="8" name="Shape 4"/>
          <p:cNvSpPr/>
          <p:nvPr/>
        </p:nvSpPr>
        <p:spPr>
          <a:xfrm>
            <a:off x="548640" y="23469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Embeddings turn meaning into numbers. Similarity search finds the nearest chunks. Use the same embedding model in both phases.</a:t>
            </a:r>
            <a:endParaRPr lang="en-US" sz="1800" dirty="0"/>
          </a:p>
        </p:txBody>
      </p:sp>
      <p:sp>
        <p:nvSpPr>
          <p:cNvPr id="11" name="Shape 6"/>
          <p:cNvSpPr/>
          <p:nvPr/>
        </p:nvSpPr>
        <p:spPr>
          <a:xfrm>
            <a:off x="548640" y="34137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Ingestion happens ahead of time. Answering happens on every question. Agentic RAG lets the agent decide when to search.</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14, Supabase vectors and data ingest: build the real filing cabinet and load your product data into it.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1537</Words>
  <Application>Microsoft Office PowerPoint</Application>
  <PresentationFormat>On-screen Show (16:9)</PresentationFormat>
  <Paragraphs>132</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13: RAG and agentic RAG</dc:title>
  <dc:subject>PptxGenJS Presentation</dc:subject>
  <dc:creator>Agentic AI Builder</dc:creator>
  <cp:lastModifiedBy>DEV DOMINIC</cp:lastModifiedBy>
  <cp:revision>2</cp:revision>
  <dcterms:created xsi:type="dcterms:W3CDTF">2026-10-28T23:53:08Z</dcterms:created>
  <dcterms:modified xsi:type="dcterms:W3CDTF">2026-10-29T00:01:28Z</dcterms:modified>
</cp:coreProperties>
</file>