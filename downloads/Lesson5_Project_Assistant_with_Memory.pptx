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9753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This is Lesson 5. It takes about 40 minutes. Build a small assistant, test it honestly, and report what failed. Remind students they can reread the notes on the course site afterwards.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brings together everything from Week 1: how an AI reads text, how to write instructions, how memory really works, and how tools work. You also practise the habit that separates builders from demo-makers: testing.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Tick each box as you finish it. Your ticks are saved in this browser. Target: at least 80% of the 20 prompts pass (16 or more).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build everything at once. Finish each stage and test it before moving on. A chat that remembers. Re-send the history each turn, exactly as in Lesson 4. Test with a name and a favourite colour. A system prompt. Write the role and the rules, using the five-part recipe from Lesson 3. Include a rule such as “Do not call a tool when you can answer directly.” The calculator tool. Describe it clearly. Tell the AI to use it for any arithmetic. The second tool. A note-saver that stores a note, or a date tool that returns today's date. The test set. Run all 20 prompts, read the failures, improve the system prompt or tool descriptions, and run again. Change one thing at a time. Where to build: any chat tool that supports tool calls, or a short script. n8n arrives next week, so do not use it yet.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gives you the structure. The parts marked TODO are yours to finish. It is deliberately incomplete.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test set covers the different things your assistant must do. Aim for roughly this mix: Write each test before you run it, including the expected result. Here is a simple template you can copy into a spreadsheet: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to one page. Use this shape: A strong failure note looks like this: “Prompt 12, ‘What is 12.5% of 480?’ Expected the calculator. The assistant answered 60 without calling it. Likely cause: my system prompt said ‘use the calculator for maths’ but was not firm. Fix: changed it to ‘for ANY arithmetic, always call the calculator’. Pass rate went from 14 to 16 of 20.”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third tool, such as the current time. Summarise old messages instead of dropping them. Show how many tokens each reply used. Save the history to a file so the chat resumes tomorrow.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aloud before showing options. Answers: 1. Before you run the test. Deciding in advance keeps the score honest. 2. Make the system prompt firmer: for ANY arithmetic, always call the calculator. Unclear instructions are the usual cause. Fix the prompt, then re-run the same test. 3. What is the capital of Kenya? Expected: Nairobi, with no tool called. A good test set includes cases where the right move is to use no tool at all. 4. Read the failures, fix the likely cause, change one thing, and run again. 14 out of 20 is 70%. Improve the prompt or tools, then re-test honestly. 5. So a confused assistant cannot keep calling tools forever. A safety limit stops runaway loops, which waste money and time.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word as you say it. Ask students to explain two of them to the person beside them.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say each point back to you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what to prepare, for example an account to create or something to install, so the next lesson starts smoothly.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4F5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914400"/>
            <a:ext cx="6035040" cy="32004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WEEK 1  ·  LESSON 5</a:t>
            </a:r>
            <a:endParaRPr lang="en-US" sz="1600" dirty="0"/>
          </a:p>
        </p:txBody>
      </p:sp>
      <p:sp>
        <p:nvSpPr>
          <p:cNvPr id="3" name="Text 1"/>
          <p:cNvSpPr/>
          <p:nvPr/>
        </p:nvSpPr>
        <p:spPr>
          <a:xfrm>
            <a:off x="548640" y="1371600"/>
            <a:ext cx="5943600" cy="164592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Project: a tool-using assistant with memory</a:t>
            </a:r>
            <a:endParaRPr lang="en-US" sz="3200" dirty="0"/>
          </a:p>
        </p:txBody>
      </p:sp>
      <p:sp>
        <p:nvSpPr>
          <p:cNvPr id="4" name="Text 2"/>
          <p:cNvSpPr/>
          <p:nvPr/>
        </p:nvSpPr>
        <p:spPr>
          <a:xfrm>
            <a:off x="548640" y="3154680"/>
            <a:ext cx="5943600" cy="822960"/>
          </a:xfrm>
          <a:prstGeom prst="rect">
            <a:avLst/>
          </a:prstGeom>
          <a:noFill/>
          <a:ln/>
        </p:spPr>
        <p:txBody>
          <a:bodyPr wrap="square" lIns="0" tIns="0" rIns="0" bIns="0" rtlCol="0" anchor="t"/>
          <a:lstStyle/>
          <a:p>
            <a:pPr marL="0" indent="0">
              <a:buNone/>
            </a:pPr>
            <a:r>
              <a:rPr lang="en-US" sz="1800" dirty="0">
                <a:solidFill>
                  <a:srgbClr val="E8F3F2"/>
                </a:solidFill>
                <a:latin typeface="Calibri" pitchFamily="34" charset="0"/>
                <a:ea typeface="Calibri" pitchFamily="34" charset="-122"/>
                <a:cs typeface="Calibri" pitchFamily="34" charset="-120"/>
              </a:rPr>
              <a:t>Build a small assistant, test it honestly, and report what failed.</a:t>
            </a:r>
            <a:endParaRPr lang="en-US" sz="1800" dirty="0"/>
          </a:p>
        </p:txBody>
      </p:sp>
      <p:sp>
        <p:nvSpPr>
          <p:cNvPr id="5" name="Text 3"/>
          <p:cNvSpPr/>
          <p:nvPr/>
        </p:nvSpPr>
        <p:spPr>
          <a:xfrm>
            <a:off x="548640" y="4343400"/>
            <a:ext cx="5943600" cy="320040"/>
          </a:xfrm>
          <a:prstGeom prst="rect">
            <a:avLst/>
          </a:prstGeom>
          <a:noFill/>
          <a:ln/>
        </p:spPr>
        <p:txBody>
          <a:bodyPr wrap="square" lIns="0" tIns="0" rIns="0" bIns="0" rtlCol="0" anchor="t"/>
          <a:lstStyle/>
          <a:p>
            <a:pPr marL="0" indent="0">
              <a:buNone/>
            </a:pPr>
            <a:r>
              <a:rPr lang="en-US" sz="1400" dirty="0">
                <a:solidFill>
                  <a:srgbClr val="E8F3F2"/>
                </a:solidFill>
                <a:latin typeface="Calibri" pitchFamily="34" charset="0"/>
                <a:ea typeface="Calibri" pitchFamily="34" charset="-122"/>
                <a:cs typeface="Calibri" pitchFamily="34" charset="-120"/>
              </a:rPr>
              <a:t>Agentic AI Builder</a:t>
            </a:r>
            <a:endParaRPr lang="en-US" sz="1400" dirty="0"/>
          </a:p>
        </p:txBody>
      </p:sp>
      <p:sp>
        <p:nvSpPr>
          <p:cNvPr id="6" name="Shape 4"/>
          <p:cNvSpPr/>
          <p:nvPr/>
        </p:nvSpPr>
        <p:spPr>
          <a:xfrm>
            <a:off x="6858000" y="1463040"/>
            <a:ext cx="1737360" cy="1737360"/>
          </a:xfrm>
          <a:prstGeom prst="ellipse">
            <a:avLst/>
          </a:prstGeom>
          <a:solidFill>
            <a:srgbClr val="F26B5B"/>
          </a:solidFill>
          <a:ln w="9525">
            <a:solidFill>
              <a:srgbClr val="F26B5B"/>
            </a:solidFill>
            <a:prstDash val="solid"/>
          </a:ln>
        </p:spPr>
        <p:txBody>
          <a:bodyPr/>
          <a:lstStyle/>
          <a:p>
            <a:endParaRPr lang="en-US"/>
          </a:p>
        </p:txBody>
      </p:sp>
      <p:pic>
        <p:nvPicPr>
          <p:cNvPr id="7" name="Image 0" descr="Robot icon"/>
          <p:cNvPicPr>
            <a:picLocks noChangeAspect="1"/>
          </p:cNvPicPr>
          <p:nvPr/>
        </p:nvPicPr>
        <p:blipFill>
          <a:blip r:embed="rId3"/>
          <a:stretch>
            <a:fillRect/>
          </a:stretch>
        </p:blipFill>
        <p:spPr>
          <a:xfrm>
            <a:off x="7242048" y="1847088"/>
            <a:ext cx="969264" cy="969264"/>
          </a:xfrm>
          <a:prstGeom prst="rect">
            <a:avLst/>
          </a:prstGeom>
        </p:spPr>
      </p:pic>
      <p:sp>
        <p:nvSpPr>
          <p:cNvPr id="8" name="Shape 5"/>
          <p:cNvSpPr/>
          <p:nvPr/>
        </p:nvSpPr>
        <p:spPr>
          <a:xfrm>
            <a:off x="6858000" y="3429000"/>
            <a:ext cx="1737360" cy="411480"/>
          </a:xfrm>
          <a:prstGeom prst="roundRect">
            <a:avLst>
              <a:gd name="adj" fmla="val 22222"/>
            </a:avLst>
          </a:prstGeom>
          <a:solidFill>
            <a:srgbClr val="F4B942"/>
          </a:solidFill>
          <a:ln w="9525">
            <a:solidFill>
              <a:srgbClr val="F4B942"/>
            </a:solidFill>
            <a:prstDash val="solid"/>
          </a:ln>
        </p:spPr>
        <p:txBody>
          <a:bodyPr/>
          <a:lstStyle/>
          <a:p>
            <a:endParaRPr lang="en-US"/>
          </a:p>
        </p:txBody>
      </p:sp>
      <p:sp>
        <p:nvSpPr>
          <p:cNvPr id="9" name="Text 6"/>
          <p:cNvSpPr/>
          <p:nvPr/>
        </p:nvSpPr>
        <p:spPr>
          <a:xfrm>
            <a:off x="6858000" y="3429000"/>
            <a:ext cx="1737360" cy="411480"/>
          </a:xfrm>
          <a:prstGeom prst="rect">
            <a:avLst/>
          </a:prstGeom>
          <a:noFill/>
          <a:ln/>
        </p:spPr>
        <p:txBody>
          <a:bodyPr wrap="square" lIns="0" tIns="0" rIns="0" bIns="0" rtlCol="0" anchor="ctr"/>
          <a:lstStyle/>
          <a:p>
            <a:pPr marL="0" indent="0" algn="ctr">
              <a:buNone/>
            </a:pPr>
            <a:r>
              <a:rPr lang="en-US" sz="1600" b="1" dirty="0">
                <a:solidFill>
                  <a:srgbClr val="1B2B34"/>
                </a:solidFill>
                <a:latin typeface="Calibri" pitchFamily="34" charset="0"/>
                <a:ea typeface="Calibri" pitchFamily="34" charset="-122"/>
                <a:cs typeface="Calibri" pitchFamily="34" charset="-120"/>
              </a:rPr>
              <a:t>PROJECT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The brief</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This project brings together everything from Week 1: how an AI reads text, how to write instructions, how memory really works, and how tools work.</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What you must hand in</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Tick each box as you finish it. Your ticks are saved in this browser.</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Target: at least 80% of the 20 prompts pass (16 or more).</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2600" b="1" dirty="0">
                <a:solidFill>
                  <a:srgbClr val="0B4F5C"/>
                </a:solidFill>
                <a:latin typeface="Cambria" pitchFamily="34" charset="0"/>
                <a:ea typeface="Cambria" pitchFamily="34" charset="-122"/>
                <a:cs typeface="Cambria" pitchFamily="34" charset="-120"/>
              </a:rPr>
              <a:t>How to build it, one stage at a time</a:t>
            </a:r>
            <a:endParaRPr lang="en-US" sz="2600" dirty="0"/>
          </a:p>
        </p:txBody>
      </p:sp>
      <p:sp>
        <p:nvSpPr>
          <p:cNvPr id="5" name="Shape 2"/>
          <p:cNvSpPr/>
          <p:nvPr/>
        </p:nvSpPr>
        <p:spPr>
          <a:xfrm>
            <a:off x="548640" y="1280160"/>
            <a:ext cx="411480" cy="411480"/>
          </a:xfrm>
          <a:prstGeom prst="ellipse">
            <a:avLst/>
          </a:prstGeom>
          <a:solidFill>
            <a:srgbClr val="F26B5B"/>
          </a:solidFill>
          <a:ln w="9525">
            <a:solidFill>
              <a:srgbClr val="F26B5B"/>
            </a:solidFill>
            <a:prstDash val="solid"/>
          </a:ln>
        </p:spPr>
        <p:txBody>
          <a:bodyPr/>
          <a:lstStyle/>
          <a:p>
            <a:endParaRPr lang="en-US"/>
          </a:p>
        </p:txBody>
      </p:sp>
      <p:sp>
        <p:nvSpPr>
          <p:cNvPr id="6"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p:nvPr/>
        </p:nvSpPr>
        <p:spPr>
          <a:xfrm>
            <a:off x="1143000" y="1261872"/>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A chat that remembers. Re-send the history each turn, exactly as in Lesson 4. Test with a name and a favourite colour.</a:t>
            </a:r>
            <a:endParaRPr lang="en-US" sz="1600" dirty="0"/>
          </a:p>
        </p:txBody>
      </p:sp>
      <p:sp>
        <p:nvSpPr>
          <p:cNvPr id="8" name="Shape 5"/>
          <p:cNvSpPr/>
          <p:nvPr/>
        </p:nvSpPr>
        <p:spPr>
          <a:xfrm>
            <a:off x="548640" y="1938528"/>
            <a:ext cx="411480" cy="411480"/>
          </a:xfrm>
          <a:prstGeom prst="ellipse">
            <a:avLst/>
          </a:prstGeom>
          <a:solidFill>
            <a:srgbClr val="F26B5B"/>
          </a:solidFill>
          <a:ln w="9525">
            <a:solidFill>
              <a:srgbClr val="F26B5B"/>
            </a:solidFill>
            <a:prstDash val="solid"/>
          </a:ln>
        </p:spPr>
        <p:txBody>
          <a:bodyPr/>
          <a:lstStyle/>
          <a:p>
            <a:endParaRPr lang="en-US"/>
          </a:p>
        </p:txBody>
      </p:sp>
      <p:sp>
        <p:nvSpPr>
          <p:cNvPr id="9" name="Text 6"/>
          <p:cNvSpPr/>
          <p:nvPr/>
        </p:nvSpPr>
        <p:spPr>
          <a:xfrm>
            <a:off x="548640" y="193852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7"/>
          <p:cNvSpPr/>
          <p:nvPr/>
        </p:nvSpPr>
        <p:spPr>
          <a:xfrm>
            <a:off x="1143000" y="1920240"/>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A system prompt.</a:t>
            </a:r>
            <a:endParaRPr lang="en-US" sz="1600" dirty="0"/>
          </a:p>
        </p:txBody>
      </p:sp>
      <p:sp>
        <p:nvSpPr>
          <p:cNvPr id="11" name="Shape 8"/>
          <p:cNvSpPr/>
          <p:nvPr/>
        </p:nvSpPr>
        <p:spPr>
          <a:xfrm>
            <a:off x="548640" y="2596896"/>
            <a:ext cx="411480" cy="411480"/>
          </a:xfrm>
          <a:prstGeom prst="ellipse">
            <a:avLst/>
          </a:prstGeom>
          <a:solidFill>
            <a:srgbClr val="F26B5B"/>
          </a:solidFill>
          <a:ln w="9525">
            <a:solidFill>
              <a:srgbClr val="F26B5B"/>
            </a:solidFill>
            <a:prstDash val="solid"/>
          </a:ln>
        </p:spPr>
        <p:txBody>
          <a:bodyPr/>
          <a:lstStyle/>
          <a:p>
            <a:endParaRPr lang="en-US"/>
          </a:p>
        </p:txBody>
      </p:sp>
      <p:sp>
        <p:nvSpPr>
          <p:cNvPr id="12" name="Text 9"/>
          <p:cNvSpPr/>
          <p:nvPr/>
        </p:nvSpPr>
        <p:spPr>
          <a:xfrm>
            <a:off x="548640" y="259689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0"/>
          <p:cNvSpPr/>
          <p:nvPr/>
        </p:nvSpPr>
        <p:spPr>
          <a:xfrm>
            <a:off x="1143000" y="2578608"/>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The calculator tool. Describe it clearly. Tell the AI to use it for any arithmetic.</a:t>
            </a:r>
            <a:endParaRPr lang="en-US" sz="1600" dirty="0"/>
          </a:p>
        </p:txBody>
      </p:sp>
      <p:sp>
        <p:nvSpPr>
          <p:cNvPr id="14" name="Shape 11"/>
          <p:cNvSpPr/>
          <p:nvPr/>
        </p:nvSpPr>
        <p:spPr>
          <a:xfrm>
            <a:off x="548640" y="3255264"/>
            <a:ext cx="411480" cy="411480"/>
          </a:xfrm>
          <a:prstGeom prst="ellipse">
            <a:avLst/>
          </a:prstGeom>
          <a:solidFill>
            <a:srgbClr val="F26B5B"/>
          </a:solidFill>
          <a:ln w="9525">
            <a:solidFill>
              <a:srgbClr val="F26B5B"/>
            </a:solidFill>
            <a:prstDash val="solid"/>
          </a:ln>
        </p:spPr>
        <p:txBody>
          <a:bodyPr/>
          <a:lstStyle/>
          <a:p>
            <a:endParaRPr lang="en-US"/>
          </a:p>
        </p:txBody>
      </p:sp>
      <p:sp>
        <p:nvSpPr>
          <p:cNvPr id="15" name="Text 12"/>
          <p:cNvSpPr/>
          <p:nvPr/>
        </p:nvSpPr>
        <p:spPr>
          <a:xfrm>
            <a:off x="548640" y="3255264"/>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6" name="Text 13"/>
          <p:cNvSpPr/>
          <p:nvPr/>
        </p:nvSpPr>
        <p:spPr>
          <a:xfrm>
            <a:off x="1143000" y="3236976"/>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The second tool. A note-saver that stores a note, or a date tool that returns today's date.</a:t>
            </a:r>
            <a:endParaRPr lang="en-US" sz="1600" dirty="0"/>
          </a:p>
        </p:txBody>
      </p:sp>
      <p:sp>
        <p:nvSpPr>
          <p:cNvPr id="17" name="Shape 14"/>
          <p:cNvSpPr/>
          <p:nvPr/>
        </p:nvSpPr>
        <p:spPr>
          <a:xfrm>
            <a:off x="548640" y="3913632"/>
            <a:ext cx="411480" cy="411480"/>
          </a:xfrm>
          <a:prstGeom prst="ellipse">
            <a:avLst/>
          </a:prstGeom>
          <a:solidFill>
            <a:srgbClr val="F26B5B"/>
          </a:solidFill>
          <a:ln w="9525">
            <a:solidFill>
              <a:srgbClr val="F26B5B"/>
            </a:solidFill>
            <a:prstDash val="solid"/>
          </a:ln>
        </p:spPr>
        <p:txBody>
          <a:bodyPr/>
          <a:lstStyle/>
          <a:p>
            <a:endParaRPr lang="en-US"/>
          </a:p>
        </p:txBody>
      </p:sp>
      <p:sp>
        <p:nvSpPr>
          <p:cNvPr id="18" name="Text 15"/>
          <p:cNvSpPr/>
          <p:nvPr/>
        </p:nvSpPr>
        <p:spPr>
          <a:xfrm>
            <a:off x="548640" y="3913632"/>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9" name="Text 16"/>
          <p:cNvSpPr/>
          <p:nvPr/>
        </p:nvSpPr>
        <p:spPr>
          <a:xfrm>
            <a:off x="1143000" y="3895344"/>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The test set.</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Optional starter skeleton (for script builders)</a:t>
            </a:r>
            <a:endParaRPr lang="en-US" sz="22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This gives you the structure. The parts marked TODO are yours to finish. It is deliberately incomplete.</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Building your 20-prompt test set</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2034540">
                  <a:extLst>
                    <a:ext uri="{9D8B030D-6E8A-4147-A177-3AD203B41FA5}">
                      <a16:colId xmlns:a16="http://schemas.microsoft.com/office/drawing/2014/main" val="20000"/>
                    </a:ext>
                  </a:extLst>
                </a:gridCol>
                <a:gridCol w="2034540">
                  <a:extLst>
                    <a:ext uri="{9D8B030D-6E8A-4147-A177-3AD203B41FA5}">
                      <a16:colId xmlns:a16="http://schemas.microsoft.com/office/drawing/2014/main" val="20001"/>
                    </a:ext>
                  </a:extLst>
                </a:gridCol>
                <a:gridCol w="2034540">
                  <a:extLst>
                    <a:ext uri="{9D8B030D-6E8A-4147-A177-3AD203B41FA5}">
                      <a16:colId xmlns:a16="http://schemas.microsoft.com/office/drawing/2014/main" val="20002"/>
                    </a:ext>
                  </a:extLst>
                </a:gridCol>
                <a:gridCol w="2034540">
                  <a:extLst>
                    <a:ext uri="{9D8B030D-6E8A-4147-A177-3AD203B41FA5}">
                      <a16:colId xmlns:a16="http://schemas.microsoft.com/office/drawing/2014/main" val="20003"/>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Group</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How many</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Example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it proves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Needs the calculator</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7 or 8</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“What is 15% of 2400?” Expected: 360, with the calculator called</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The tool works and the answer is right</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Needs no tool</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“What is the capital of Kenya?” Expected: Nairobi, with no tool called</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The assistant does not over-use tools</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Needs your second tool</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3 or 4</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“Save a note: buy paper on Friday.” Expected: note saved</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The second tool works</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Memory recall</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3 or 4</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After telling it your name earlier: “What is my name?”</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Facts survive across turns</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4"/>
                  </a:ext>
                </a:extLst>
              </a:tr>
              <a:tr h="0">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Edge case</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1 or 2</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“What is 10 divided by 0?” Expected: a sensible explanation, no crash</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200" dirty="0">
                          <a:solidFill>
                            <a:srgbClr val="1B2B34"/>
                          </a:solidFill>
                          <a:latin typeface="Calibri" pitchFamily="34" charset="0"/>
                          <a:ea typeface="Calibri" pitchFamily="34" charset="-122"/>
                          <a:cs typeface="Calibri" pitchFamily="34" charset="-120"/>
                        </a:rPr>
                        <a:t>It handles trouble gracefully</a:t>
                      </a:r>
                      <a:endParaRPr lang="en-US" sz="12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Be honest with your scores</a:t>
            </a:r>
            <a:endParaRPr lang="en-US" sz="3000" dirty="0"/>
          </a:p>
        </p:txBody>
      </p:sp>
      <p:sp>
        <p:nvSpPr>
          <p:cNvPr id="4" name="Shape 2"/>
          <p:cNvSpPr/>
          <p:nvPr/>
        </p:nvSpPr>
        <p:spPr>
          <a:xfrm>
            <a:off x="502920" y="1280160"/>
            <a:ext cx="8138160" cy="2743200"/>
          </a:xfrm>
          <a:prstGeom prst="roundRect">
            <a:avLst>
              <a:gd name="adj" fmla="val 4000"/>
            </a:avLst>
          </a:prstGeom>
          <a:solidFill>
            <a:srgbClr val="FDECEA"/>
          </a:solidFill>
          <a:ln w="9525">
            <a:solidFill>
              <a:srgbClr val="FDECEA"/>
            </a:solidFill>
            <a:prstDash val="solid"/>
          </a:ln>
        </p:spPr>
        <p:txBody>
          <a:bodyPr/>
          <a:lstStyle/>
          <a:p>
            <a:endParaRPr lang="en-US"/>
          </a:p>
        </p:txBody>
      </p:sp>
      <p:sp>
        <p:nvSpPr>
          <p:cNvPr id="5" name="Shape 3"/>
          <p:cNvSpPr/>
          <p:nvPr/>
        </p:nvSpPr>
        <p:spPr>
          <a:xfrm>
            <a:off x="502920" y="1280160"/>
            <a:ext cx="109728" cy="2743200"/>
          </a:xfrm>
          <a:prstGeom prst="rect">
            <a:avLst/>
          </a:prstGeom>
          <a:solidFill>
            <a:srgbClr val="F26B5B"/>
          </a:solidFill>
          <a:ln w="12700">
            <a:solidFill>
              <a:srgbClr val="F26B5B"/>
            </a:solidFill>
            <a:prstDash val="solid"/>
          </a:ln>
        </p:spPr>
        <p:txBody>
          <a:bodyPr/>
          <a:lstStyle/>
          <a:p>
            <a:endParaRPr lang="en-US"/>
          </a:p>
        </p:txBody>
      </p:sp>
      <p:sp>
        <p:nvSpPr>
          <p:cNvPr id="6" name="Shape 4"/>
          <p:cNvSpPr/>
          <p:nvPr/>
        </p:nvSpPr>
        <p:spPr>
          <a:xfrm>
            <a:off x="868680" y="1600200"/>
            <a:ext cx="685800" cy="685800"/>
          </a:xfrm>
          <a:prstGeom prst="ellipse">
            <a:avLst/>
          </a:prstGeom>
          <a:solidFill>
            <a:srgbClr val="F26B5B"/>
          </a:solidFill>
          <a:ln w="9525">
            <a:solidFill>
              <a:srgbClr val="F26B5B"/>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1019556" y="1751076"/>
            <a:ext cx="384048" cy="384048"/>
          </a:xfrm>
          <a:prstGeom prst="rect">
            <a:avLst/>
          </a:prstGeom>
        </p:spPr>
      </p:pic>
      <p:sp>
        <p:nvSpPr>
          <p:cNvPr id="8" name="Text 5"/>
          <p:cNvSpPr/>
          <p:nvPr/>
        </p:nvSpPr>
        <p:spPr>
          <a:xfrm>
            <a:off x="1828800" y="1600200"/>
            <a:ext cx="6583680" cy="2286000"/>
          </a:xfrm>
          <a:prstGeom prst="rect">
            <a:avLst/>
          </a:prstGeom>
          <a:noFill/>
          <a:ln/>
        </p:spPr>
        <p:txBody>
          <a:bodyPr wrap="square" lIns="0" tIns="0" rIns="0" bIns="0" rtlCol="0" anchor="ctr"/>
          <a:lstStyle/>
          <a:p>
            <a:pPr marL="0" indent="0">
              <a:buNone/>
            </a:pPr>
            <a:r>
              <a:rPr lang="en-US" sz="1900" dirty="0">
                <a:solidFill>
                  <a:srgbClr val="1B2B34"/>
                </a:solidFill>
                <a:latin typeface="Calibri" pitchFamily="34" charset="0"/>
                <a:ea typeface="Calibri" pitchFamily="34" charset="-122"/>
                <a:cs typeface="Calibri" pitchFamily="34" charset="-120"/>
              </a:rPr>
              <a:t>Decide what counts as a pass before you run the test. Changing the expected answers afterwards to make your score look better defeats the point. An honest 70% with a good failure report beats a suspicious 100%.</a:t>
            </a:r>
            <a:endParaRPr lang="en-US" sz="19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Report template</a:t>
            </a:r>
            <a:endParaRPr lang="en-US" sz="3000" dirty="0"/>
          </a:p>
        </p:txBody>
      </p:sp>
      <p:sp>
        <p:nvSpPr>
          <p:cNvPr id="5" name="Shape 2"/>
          <p:cNvSpPr/>
          <p:nvPr/>
        </p:nvSpPr>
        <p:spPr>
          <a:xfrm>
            <a:off x="502920" y="1280160"/>
            <a:ext cx="8138160" cy="3337560"/>
          </a:xfrm>
          <a:prstGeom prst="roundRect">
            <a:avLst>
              <a:gd name="adj" fmla="val 3288"/>
            </a:avLst>
          </a:prstGeom>
          <a:solidFill>
            <a:srgbClr val="1B2B34"/>
          </a:solidFill>
          <a:ln w="9525">
            <a:solidFill>
              <a:srgbClr val="1B2B34"/>
            </a:solidFill>
            <a:prstDash val="solid"/>
          </a:ln>
        </p:spPr>
        <p:txBody>
          <a:bodyPr/>
          <a:lstStyle/>
          <a:p>
            <a:endParaRPr lang="en-US"/>
          </a:p>
        </p:txBody>
      </p:sp>
      <p:sp>
        <p:nvSpPr>
          <p:cNvPr id="6" name="Text 3"/>
          <p:cNvSpPr/>
          <p:nvPr/>
        </p:nvSpPr>
        <p:spPr>
          <a:xfrm>
            <a:off x="777240" y="1417320"/>
            <a:ext cx="7589520" cy="274320"/>
          </a:xfrm>
          <a:prstGeom prst="rect">
            <a:avLst/>
          </a:prstGeom>
          <a:noFill/>
          <a:ln/>
        </p:spPr>
        <p:txBody>
          <a:bodyPr wrap="square" lIns="0" tIns="0" rIns="0" bIns="0" rtlCol="0" anchor="t"/>
          <a:lstStyle/>
          <a:p>
            <a:pPr marL="0" indent="0">
              <a:buNone/>
            </a:pPr>
            <a:r>
              <a:rPr lang="en-US" sz="1200" b="1" dirty="0">
                <a:solidFill>
                  <a:srgbClr val="F4B942"/>
                </a:solidFill>
                <a:latin typeface="Calibri" pitchFamily="34" charset="0"/>
                <a:ea typeface="Calibri" pitchFamily="34" charset="-122"/>
                <a:cs typeface="Calibri" pitchFamily="34" charset="-120"/>
              </a:rPr>
              <a:t>REPORT TEMPLATE</a:t>
            </a:r>
            <a:endParaRPr lang="en-US" sz="1200" dirty="0"/>
          </a:p>
        </p:txBody>
      </p:sp>
      <p:sp>
        <p:nvSpPr>
          <p:cNvPr id="7" name="Text 4"/>
          <p:cNvSpPr/>
          <p:nvPr/>
        </p:nvSpPr>
        <p:spPr>
          <a:xfrm>
            <a:off x="777240" y="1783080"/>
            <a:ext cx="7589520" cy="2743200"/>
          </a:xfrm>
          <a:prstGeom prst="rect">
            <a:avLst/>
          </a:prstGeom>
          <a:noFill/>
          <a:ln/>
        </p:spPr>
        <p:txBody>
          <a:bodyPr wrap="square" lIns="0" tIns="0" rIns="0" bIns="0" rtlCol="0" anchor="t"/>
          <a:lstStyle/>
          <a:p>
            <a:pPr marL="0" indent="0">
              <a:buNone/>
            </a:pPr>
            <a:r>
              <a:rPr lang="en-US" sz="1400" dirty="0">
                <a:solidFill>
                  <a:srgbClr val="FFFFFF"/>
                </a:solidFill>
                <a:latin typeface="Consolas" pitchFamily="34" charset="0"/>
                <a:ea typeface="Consolas" pitchFamily="34" charset="-122"/>
                <a:cs typeface="Consolas" pitchFamily="34" charset="-120"/>
              </a:rPr>
              <a:t>Pass rate: __ out of 20 (__%)</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What my assistant can do: (one or two sentences)</a:t>
            </a:r>
            <a:endParaRPr lang="en-US" sz="1400" dirty="0"/>
          </a:p>
          <a:p>
            <a:pPr marL="0" indent="0">
              <a:buNone/>
            </a:pP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Failure 1: the prompt, what I expected, what happened, the likely cause, and my fix.</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Failure 2: the same.</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Failure 3: the same.</a:t>
            </a:r>
            <a:endParaRPr lang="en-US" sz="1400" dirty="0"/>
          </a:p>
          <a:p>
            <a:pPr marL="0" indent="0">
              <a:buNone/>
            </a:pP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What I would improve next:</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How the project is marked</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2712720">
                  <a:extLst>
                    <a:ext uri="{9D8B030D-6E8A-4147-A177-3AD203B41FA5}">
                      <a16:colId xmlns:a16="http://schemas.microsoft.com/office/drawing/2014/main" val="20000"/>
                    </a:ext>
                  </a:extLst>
                </a:gridCol>
                <a:gridCol w="2712720">
                  <a:extLst>
                    <a:ext uri="{9D8B030D-6E8A-4147-A177-3AD203B41FA5}">
                      <a16:colId xmlns:a16="http://schemas.microsoft.com/office/drawing/2014/main" val="20001"/>
                    </a:ext>
                  </a:extLst>
                </a:gridCol>
                <a:gridCol w="2712720">
                  <a:extLst>
                    <a:ext uri="{9D8B030D-6E8A-4147-A177-3AD203B41FA5}">
                      <a16:colId xmlns:a16="http://schemas.microsoft.com/office/drawing/2014/main" val="20002"/>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Area</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Points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Full marks when</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System prompt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States the role, the rules, and when not to use tools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Memory</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Recalls three or more user facts across ten turns…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Tools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25</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Two tools work, each called only when needed, errors handled</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Test set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25</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20 prompts with expected results, run honestly, pass rate reported</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Failure report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Three worst failures, each with a cause and a fix</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Troubleshooting</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2712720">
                  <a:extLst>
                    <a:ext uri="{9D8B030D-6E8A-4147-A177-3AD203B41FA5}">
                      <a16:colId xmlns:a16="http://schemas.microsoft.com/office/drawing/2014/main" val="20000"/>
                    </a:ext>
                  </a:extLst>
                </a:gridCol>
                <a:gridCol w="2712720">
                  <a:extLst>
                    <a:ext uri="{9D8B030D-6E8A-4147-A177-3AD203B41FA5}">
                      <a16:colId xmlns:a16="http://schemas.microsoft.com/office/drawing/2014/main" val="20001"/>
                    </a:ext>
                  </a:extLst>
                </a:gridCol>
                <a:gridCol w="2712720">
                  <a:extLst>
                    <a:ext uri="{9D8B030D-6E8A-4147-A177-3AD203B41FA5}">
                      <a16:colId xmlns:a16="http://schemas.microsoft.com/office/drawing/2014/main" val="20002"/>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Problem</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Likely cause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Try this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tool is never called</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model does not support tools, or the tool description is vague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Switch to a model that supports tools.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 tool is called for easy questions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prompt says nothing about restraint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Add “Do not call a tool when you can answer directly.”</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tool gets the wrong inputs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Unclear input descriptions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Add an example to the input description</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It forgets a fact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History was reset, or trimmed too much</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Print what is actually sent on each call</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An error after trimming history</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 tool result was sent without the message that asked for it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When trimming, start the window at a user message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If you finish early</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Add a third tool, such as the current time.</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Summarise old messages instead of dropping them.</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Show how many tokens each reply used.</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Save the history to a file so the chat resumes tomorrow.</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Quick check</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1.  When should you write the expected result for a test prompt?</a:t>
            </a:r>
            <a:endParaRPr lang="en-US" sz="1700" dirty="0"/>
          </a:p>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2.  Your assistant answers a simple sum without calling the calculator. What is the best first fix?</a:t>
            </a:r>
            <a:endParaRPr lang="en-US" sz="1700" dirty="0"/>
          </a:p>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3.  Which test prompt checks that the assistant does NOT over-use tools?</a:t>
            </a:r>
            <a:endParaRPr lang="en-US" sz="1700" dirty="0"/>
          </a:p>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4.  You scored 14 out of 20. The target is 80%. What do you do?</a:t>
            </a:r>
            <a:endParaRPr lang="en-US" sz="1700" dirty="0"/>
          </a:p>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5.  Why must the loop have a maximum number of rounds?</a:t>
            </a:r>
            <a:endParaRPr lang="en-US" sz="17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Words to know</a:t>
            </a:r>
            <a:endParaRPr lang="en-US" sz="3000" dirty="0"/>
          </a:p>
        </p:txBody>
      </p:sp>
      <p:sp>
        <p:nvSpPr>
          <p:cNvPr id="5" name="Shape 2"/>
          <p:cNvSpPr/>
          <p:nvPr/>
        </p:nvSpPr>
        <p:spPr>
          <a:xfrm>
            <a:off x="50292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6" name="Text 3"/>
          <p:cNvSpPr/>
          <p:nvPr/>
        </p:nvSpPr>
        <p:spPr>
          <a:xfrm>
            <a:off x="68580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Test set</a:t>
            </a:r>
            <a:endParaRPr lang="en-US" sz="1500" dirty="0"/>
          </a:p>
        </p:txBody>
      </p:sp>
      <p:sp>
        <p:nvSpPr>
          <p:cNvPr id="7" name="Text 4"/>
          <p:cNvSpPr/>
          <p:nvPr/>
        </p:nvSpPr>
        <p:spPr>
          <a:xfrm>
            <a:off x="68580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fixed list of prompts with expected results, used to score an assistant fairly.</a:t>
            </a:r>
            <a:endParaRPr lang="en-US" sz="1200" dirty="0"/>
          </a:p>
        </p:txBody>
      </p:sp>
      <p:sp>
        <p:nvSpPr>
          <p:cNvPr id="8" name="Shape 5"/>
          <p:cNvSpPr/>
          <p:nvPr/>
        </p:nvSpPr>
        <p:spPr>
          <a:xfrm>
            <a:off x="470916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9" name="Text 6"/>
          <p:cNvSpPr/>
          <p:nvPr/>
        </p:nvSpPr>
        <p:spPr>
          <a:xfrm>
            <a:off x="489204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Pass rate</a:t>
            </a:r>
            <a:endParaRPr lang="en-US" sz="1500" dirty="0"/>
          </a:p>
        </p:txBody>
      </p:sp>
      <p:sp>
        <p:nvSpPr>
          <p:cNvPr id="10" name="Text 7"/>
          <p:cNvSpPr/>
          <p:nvPr/>
        </p:nvSpPr>
        <p:spPr>
          <a:xfrm>
            <a:off x="489204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share of test prompts the assistant got right, for example 16 of 20 is 80%.</a:t>
            </a:r>
            <a:endParaRPr lang="en-US" sz="1200" dirty="0"/>
          </a:p>
        </p:txBody>
      </p:sp>
      <p:sp>
        <p:nvSpPr>
          <p:cNvPr id="11" name="Shape 8"/>
          <p:cNvSpPr/>
          <p:nvPr/>
        </p:nvSpPr>
        <p:spPr>
          <a:xfrm>
            <a:off x="50292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2" name="Text 9"/>
          <p:cNvSpPr/>
          <p:nvPr/>
        </p:nvSpPr>
        <p:spPr>
          <a:xfrm>
            <a:off x="68580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Expected result</a:t>
            </a:r>
            <a:endParaRPr lang="en-US" sz="1500" dirty="0"/>
          </a:p>
        </p:txBody>
      </p:sp>
      <p:sp>
        <p:nvSpPr>
          <p:cNvPr id="13" name="Text 10"/>
          <p:cNvSpPr/>
          <p:nvPr/>
        </p:nvSpPr>
        <p:spPr>
          <a:xfrm>
            <a:off x="68580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What you decided, before the test, would count as a correct answer.</a:t>
            </a:r>
            <a:endParaRPr lang="en-US" sz="1200" dirty="0"/>
          </a:p>
        </p:txBody>
      </p:sp>
      <p:sp>
        <p:nvSpPr>
          <p:cNvPr id="14" name="Shape 11"/>
          <p:cNvSpPr/>
          <p:nvPr/>
        </p:nvSpPr>
        <p:spPr>
          <a:xfrm>
            <a:off x="470916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5" name="Text 12"/>
          <p:cNvSpPr/>
          <p:nvPr/>
        </p:nvSpPr>
        <p:spPr>
          <a:xfrm>
            <a:off x="489204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Over-using tools</a:t>
            </a:r>
            <a:endParaRPr lang="en-US" sz="1500" dirty="0"/>
          </a:p>
        </p:txBody>
      </p:sp>
      <p:sp>
        <p:nvSpPr>
          <p:cNvPr id="16" name="Text 13"/>
          <p:cNvSpPr/>
          <p:nvPr/>
        </p:nvSpPr>
        <p:spPr>
          <a:xfrm>
            <a:off x="489204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Calling a tool when a direct answer would do.</a:t>
            </a:r>
            <a:endParaRPr lang="en-US" sz="1200" dirty="0"/>
          </a:p>
        </p:txBody>
      </p:sp>
      <p:sp>
        <p:nvSpPr>
          <p:cNvPr id="17" name="Shape 14"/>
          <p:cNvSpPr/>
          <p:nvPr/>
        </p:nvSpPr>
        <p:spPr>
          <a:xfrm>
            <a:off x="50292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8" name="Text 15"/>
          <p:cNvSpPr/>
          <p:nvPr/>
        </p:nvSpPr>
        <p:spPr>
          <a:xfrm>
            <a:off x="68580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Failure report</a:t>
            </a:r>
            <a:endParaRPr lang="en-US" sz="1500" dirty="0"/>
          </a:p>
        </p:txBody>
      </p:sp>
      <p:sp>
        <p:nvSpPr>
          <p:cNvPr id="19" name="Text 16"/>
          <p:cNvSpPr/>
          <p:nvPr/>
        </p:nvSpPr>
        <p:spPr>
          <a:xfrm>
            <a:off x="68580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short write-up of the worst test failures, their causes and the fixes.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Recap</a:t>
            </a:r>
            <a:endParaRPr lang="en-US" sz="3000" dirty="0"/>
          </a:p>
        </p:txBody>
      </p:sp>
      <p:sp>
        <p:nvSpPr>
          <p:cNvPr id="5" name="Shape 2"/>
          <p:cNvSpPr/>
          <p:nvPr/>
        </p:nvSpPr>
        <p:spPr>
          <a:xfrm>
            <a:off x="548640" y="1280160"/>
            <a:ext cx="457200" cy="457200"/>
          </a:xfrm>
          <a:prstGeom prst="ellipse">
            <a:avLst/>
          </a:prstGeom>
          <a:solidFill>
            <a:srgbClr val="F26B5B"/>
          </a:solidFill>
          <a:ln w="9525">
            <a:solidFill>
              <a:srgbClr val="F26B5B"/>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649224" y="1380744"/>
            <a:ext cx="256032" cy="256032"/>
          </a:xfrm>
          <a:prstGeom prst="rect">
            <a:avLst/>
          </a:prstGeom>
        </p:spPr>
      </p:pic>
      <p:sp>
        <p:nvSpPr>
          <p:cNvPr id="7" name="Text 3"/>
          <p:cNvSpPr/>
          <p:nvPr/>
        </p:nvSpPr>
        <p:spPr>
          <a:xfrm>
            <a:off x="1234440" y="12527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Build in stages: memory, then the system prompt, then each tool, then the test set.</a:t>
            </a:r>
            <a:endParaRPr lang="en-US" sz="1800" dirty="0"/>
          </a:p>
        </p:txBody>
      </p:sp>
      <p:sp>
        <p:nvSpPr>
          <p:cNvPr id="8" name="Shape 4"/>
          <p:cNvSpPr/>
          <p:nvPr/>
        </p:nvSpPr>
        <p:spPr>
          <a:xfrm>
            <a:off x="548640" y="2346960"/>
            <a:ext cx="457200" cy="457200"/>
          </a:xfrm>
          <a:prstGeom prst="ellipse">
            <a:avLst/>
          </a:prstGeom>
          <a:solidFill>
            <a:srgbClr val="F26B5B"/>
          </a:solidFill>
          <a:ln w="9525">
            <a:solidFill>
              <a:srgbClr val="F26B5B"/>
            </a:solidFill>
            <a:prstDash val="solid"/>
          </a:ln>
        </p:spPr>
        <p:txBody>
          <a:bodyPr/>
          <a:lstStyle/>
          <a:p>
            <a:endParaRPr lang="en-US"/>
          </a:p>
        </p:txBody>
      </p:sp>
      <p:pic>
        <p:nvPicPr>
          <p:cNvPr id="9" name="Image 1" descr="icon"/>
          <p:cNvPicPr>
            <a:picLocks noChangeAspect="1"/>
          </p:cNvPicPr>
          <p:nvPr/>
        </p:nvPicPr>
        <p:blipFill>
          <a:blip r:embed="rId3"/>
          <a:stretch>
            <a:fillRect/>
          </a:stretch>
        </p:blipFill>
        <p:spPr>
          <a:xfrm>
            <a:off x="649224" y="2447544"/>
            <a:ext cx="256032" cy="256032"/>
          </a:xfrm>
          <a:prstGeom prst="rect">
            <a:avLst/>
          </a:prstGeom>
        </p:spPr>
      </p:pic>
      <p:sp>
        <p:nvSpPr>
          <p:cNvPr id="10" name="Text 5"/>
          <p:cNvSpPr/>
          <p:nvPr/>
        </p:nvSpPr>
        <p:spPr>
          <a:xfrm>
            <a:off x="1234440" y="23195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Write every test and its expected result before running it, and score honestly.</a:t>
            </a:r>
            <a:endParaRPr lang="en-US" sz="1800" dirty="0"/>
          </a:p>
        </p:txBody>
      </p:sp>
      <p:sp>
        <p:nvSpPr>
          <p:cNvPr id="11" name="Shape 6"/>
          <p:cNvSpPr/>
          <p:nvPr/>
        </p:nvSpPr>
        <p:spPr>
          <a:xfrm>
            <a:off x="548640" y="3413760"/>
            <a:ext cx="457200" cy="457200"/>
          </a:xfrm>
          <a:prstGeom prst="ellipse">
            <a:avLst/>
          </a:prstGeom>
          <a:solidFill>
            <a:srgbClr val="F26B5B"/>
          </a:solidFill>
          <a:ln w="9525">
            <a:solidFill>
              <a:srgbClr val="F26B5B"/>
            </a:solidFill>
            <a:prstDash val="solid"/>
          </a:ln>
        </p:spPr>
        <p:txBody>
          <a:bodyPr/>
          <a:lstStyle/>
          <a:p>
            <a:endParaRPr lang="en-US"/>
          </a:p>
        </p:txBody>
      </p:sp>
      <p:pic>
        <p:nvPicPr>
          <p:cNvPr id="12" name="Image 2" descr="icon"/>
          <p:cNvPicPr>
            <a:picLocks noChangeAspect="1"/>
          </p:cNvPicPr>
          <p:nvPr/>
        </p:nvPicPr>
        <p:blipFill>
          <a:blip r:embed="rId3"/>
          <a:stretch>
            <a:fillRect/>
          </a:stretch>
        </p:blipFill>
        <p:spPr>
          <a:xfrm>
            <a:off x="649224" y="3514344"/>
            <a:ext cx="256032" cy="256032"/>
          </a:xfrm>
          <a:prstGeom prst="rect">
            <a:avLst/>
          </a:prstGeom>
        </p:spPr>
      </p:pic>
      <p:sp>
        <p:nvSpPr>
          <p:cNvPr id="13" name="Text 7"/>
          <p:cNvSpPr/>
          <p:nvPr/>
        </p:nvSpPr>
        <p:spPr>
          <a:xfrm>
            <a:off x="1234440" y="33863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Read the failures, change one thing at a time, and re-test. Report the three worst failures and what you did about them.</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31520" y="109728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NEXT TIME</a:t>
            </a:r>
            <a:endParaRPr lang="en-US" sz="1600" dirty="0"/>
          </a:p>
        </p:txBody>
      </p:sp>
      <p:sp>
        <p:nvSpPr>
          <p:cNvPr id="3" name="Text 1"/>
          <p:cNvSpPr/>
          <p:nvPr/>
        </p:nvSpPr>
        <p:spPr>
          <a:xfrm>
            <a:off x="731520" y="1645920"/>
            <a:ext cx="7680960" cy="2377440"/>
          </a:xfrm>
          <a:prstGeom prst="rect">
            <a:avLst/>
          </a:prstGeom>
          <a:noFill/>
          <a:ln/>
        </p:spPr>
        <p:txBody>
          <a:bodyPr wrap="square" lIns="0" tIns="0" rIns="0" bIns="0" rtlCol="0" anchor="t"/>
          <a:lstStyle/>
          <a:p>
            <a:pPr marL="0" indent="0">
              <a:buNone/>
            </a:pPr>
            <a:r>
              <a:rPr lang="en-US" sz="2400" dirty="0">
                <a:solidFill>
                  <a:srgbClr val="FFFFFF"/>
                </a:solidFill>
                <a:latin typeface="Cambria" pitchFamily="34" charset="0"/>
                <a:ea typeface="Cambria" pitchFamily="34" charset="-122"/>
                <a:cs typeface="Cambria" pitchFamily="34" charset="-120"/>
              </a:rPr>
              <a:t>Week 2 begins. In Lesson 6 you meet n8n and build your first AI agent without writing code: the same ideas, drawn as connected boxes.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1698</Words>
  <Application>Microsoft Office PowerPoint</Application>
  <PresentationFormat>On-screen Show (16:9)</PresentationFormat>
  <Paragraphs>166</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5: Project: a tool-using assistant with memory</dc:title>
  <dc:subject>PptxGenJS Presentation</dc:subject>
  <dc:creator>Agentic AI Builder</dc:creator>
  <cp:lastModifiedBy>DEV DOMINIC</cp:lastModifiedBy>
  <cp:revision>2</cp:revision>
  <dcterms:created xsi:type="dcterms:W3CDTF">2026-10-28T23:53:07Z</dcterms:created>
  <dcterms:modified xsi:type="dcterms:W3CDTF">2026-10-28T23:58:21Z</dcterms:modified>
</cp:coreProperties>
</file>