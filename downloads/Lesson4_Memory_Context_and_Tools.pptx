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38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This is Lesson 4. It takes about 50 minutes. Why a chat only seems to remember, and how an AI uses tools to act. Remind students they can reread the notes on the course site afterwards.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slowly in your own words, then ask: what is the one word that sticks out for you?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Come back to them in the recap and ask who can now do each 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chat with an AI, it feels like it remembers what you said ten messages ago. It does not. Here is what really happens on every turn: You type a new message. The app adds it to the whole conversation so far. The app sends everything to the AI. The AI reads it from the very top, then writes the next reply. The proof: if the app stops sending message 1, the AI has never heard of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lesson you met the context window, the maximum number of tokens in one call. Everything in the conversation counts against it: your instructions, every earlier message, tool results, and the reply being written. Two problems follow. If you go over the limit, the call fails or the oldest text is cut. And even below the limit, a desk piled with irrelevant papers can make answers less focused. More is not always better.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to ask for every piece of information: keep it, summarise it, or drop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its own an AI can only produce text. It cannot check a calendar, calculate reliably, look at a website or send an email. A tool fixes that. A tool is a small function in your app that you describe to the AI: its name, what it does, and what information it needs. The AI never runs a tool. It writes a structured request: call this tool with these inputs. Your app runs the tool and sends the result back. Then the AI writes the final answer using that result.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it together. An agent repeats four steps until the goal is met: Later in the course you will meet MCP (Lesson 18), a standard way to share tools between applications. It builds directly on this idea.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Thinking the AI learns from the chat. It does not change between calls. Trimming by message count while a few very long messages still overflow the desk. Cutting the system prompt when trimming. Always add it fresh. Believing the AI runs the tool itself. Forgetting a limit on how many loop rounds are allowed.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lesson page on the course site and use the interactive demo together. Let students suggest the inputs.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work. Walk around, and look at what they have rather than waiting for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aloud before showing options. Answers: 1. The app re-sends the whole conversation every turn. The AI is stateless. The app supplies the memory by re-sending the history. 2. Nothing. The AI only sees what is in the current call. 3. Ask the AI to remember it harder. Trimming, summarising and storing-and-retrieving are the three strategies. Memory is not something the AI can try harder at. 4. Your app. The model asks for a tool in a structured request. The app runs it and returns the result. 5. Decide, act with a tool, observe the result, continue until the goal is met. That four-step loop is the heart of every agent.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word as you say it. Ask students to explain two of them to the person beside them.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say each point back to you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what to prepare, for example an account to create or something to install, so the next lesson starts smoothly.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4F5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914400"/>
            <a:ext cx="6035040" cy="32004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WEEK 1  ·  LESSON 4</a:t>
            </a:r>
            <a:endParaRPr lang="en-US" sz="1600" dirty="0"/>
          </a:p>
        </p:txBody>
      </p:sp>
      <p:sp>
        <p:nvSpPr>
          <p:cNvPr id="3" name="Text 1"/>
          <p:cNvSpPr/>
          <p:nvPr/>
        </p:nvSpPr>
        <p:spPr>
          <a:xfrm>
            <a:off x="548640" y="1371600"/>
            <a:ext cx="5943600" cy="1645920"/>
          </a:xfrm>
          <a:prstGeom prst="rect">
            <a:avLst/>
          </a:prstGeom>
          <a:noFill/>
          <a:ln/>
        </p:spPr>
        <p:txBody>
          <a:bodyPr wrap="square" lIns="0" tIns="0" rIns="0" bIns="0"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Memory, context and tools: from chatbot to agent</a:t>
            </a:r>
            <a:endParaRPr lang="en-US" sz="3200" dirty="0"/>
          </a:p>
        </p:txBody>
      </p:sp>
      <p:sp>
        <p:nvSpPr>
          <p:cNvPr id="4" name="Text 2"/>
          <p:cNvSpPr/>
          <p:nvPr/>
        </p:nvSpPr>
        <p:spPr>
          <a:xfrm>
            <a:off x="548640" y="3154680"/>
            <a:ext cx="5943600" cy="822960"/>
          </a:xfrm>
          <a:prstGeom prst="rect">
            <a:avLst/>
          </a:prstGeom>
          <a:noFill/>
          <a:ln/>
        </p:spPr>
        <p:txBody>
          <a:bodyPr wrap="square" lIns="0" tIns="0" rIns="0" bIns="0" rtlCol="0" anchor="t"/>
          <a:lstStyle/>
          <a:p>
            <a:pPr marL="0" indent="0">
              <a:buNone/>
            </a:pPr>
            <a:r>
              <a:rPr lang="en-US" sz="1800" dirty="0">
                <a:solidFill>
                  <a:srgbClr val="E8F3F2"/>
                </a:solidFill>
                <a:latin typeface="Calibri" pitchFamily="34" charset="0"/>
                <a:ea typeface="Calibri" pitchFamily="34" charset="-122"/>
                <a:cs typeface="Calibri" pitchFamily="34" charset="-120"/>
              </a:rPr>
              <a:t>Why a chat only seems to remember, and how an AI uses tools to act.</a:t>
            </a:r>
            <a:endParaRPr lang="en-US" sz="1800" dirty="0"/>
          </a:p>
        </p:txBody>
      </p:sp>
      <p:sp>
        <p:nvSpPr>
          <p:cNvPr id="5" name="Text 3"/>
          <p:cNvSpPr/>
          <p:nvPr/>
        </p:nvSpPr>
        <p:spPr>
          <a:xfrm>
            <a:off x="548640" y="4343400"/>
            <a:ext cx="5943600" cy="320040"/>
          </a:xfrm>
          <a:prstGeom prst="rect">
            <a:avLst/>
          </a:prstGeom>
          <a:noFill/>
          <a:ln/>
        </p:spPr>
        <p:txBody>
          <a:bodyPr wrap="square" lIns="0" tIns="0" rIns="0" bIns="0" rtlCol="0" anchor="t"/>
          <a:lstStyle/>
          <a:p>
            <a:pPr marL="0" indent="0">
              <a:buNone/>
            </a:pPr>
            <a:r>
              <a:rPr lang="en-US" sz="1400" dirty="0">
                <a:solidFill>
                  <a:srgbClr val="E8F3F2"/>
                </a:solidFill>
                <a:latin typeface="Calibri" pitchFamily="34" charset="0"/>
                <a:ea typeface="Calibri" pitchFamily="34" charset="-122"/>
                <a:cs typeface="Calibri" pitchFamily="34" charset="-120"/>
              </a:rPr>
              <a:t>Agentic AI </a:t>
            </a:r>
            <a:r>
              <a:rPr lang="en-US" sz="1400">
                <a:solidFill>
                  <a:srgbClr val="E8F3F2"/>
                </a:solidFill>
                <a:latin typeface="Calibri" pitchFamily="34" charset="0"/>
                <a:ea typeface="Calibri" pitchFamily="34" charset="-122"/>
                <a:cs typeface="Calibri" pitchFamily="34" charset="-120"/>
              </a:rPr>
              <a:t>Builder </a:t>
            </a:r>
            <a:endParaRPr lang="en-US" sz="1400" dirty="0"/>
          </a:p>
        </p:txBody>
      </p:sp>
      <p:sp>
        <p:nvSpPr>
          <p:cNvPr id="6" name="Shape 4"/>
          <p:cNvSpPr/>
          <p:nvPr/>
        </p:nvSpPr>
        <p:spPr>
          <a:xfrm>
            <a:off x="6858000" y="1463040"/>
            <a:ext cx="1737360" cy="1737360"/>
          </a:xfrm>
          <a:prstGeom prst="ellipse">
            <a:avLst/>
          </a:prstGeom>
          <a:solidFill>
            <a:srgbClr val="0B7A75"/>
          </a:solidFill>
          <a:ln w="9525">
            <a:solidFill>
              <a:srgbClr val="0B7A75"/>
            </a:solidFill>
            <a:prstDash val="solid"/>
          </a:ln>
        </p:spPr>
        <p:txBody>
          <a:bodyPr/>
          <a:lstStyle/>
          <a:p>
            <a:endParaRPr lang="en-US"/>
          </a:p>
        </p:txBody>
      </p:sp>
      <p:pic>
        <p:nvPicPr>
          <p:cNvPr id="7" name="Image 0" descr="Robot icon"/>
          <p:cNvPicPr>
            <a:picLocks noChangeAspect="1"/>
          </p:cNvPicPr>
          <p:nvPr/>
        </p:nvPicPr>
        <p:blipFill>
          <a:blip r:embed="rId3"/>
          <a:stretch>
            <a:fillRect/>
          </a:stretch>
        </p:blipFill>
        <p:spPr>
          <a:xfrm>
            <a:off x="7242048" y="1847088"/>
            <a:ext cx="969264" cy="9692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1520" y="73152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THE BIG IDEA</a:t>
            </a:r>
            <a:endParaRPr lang="en-US" sz="1600" dirty="0"/>
          </a:p>
        </p:txBody>
      </p:sp>
      <p:sp>
        <p:nvSpPr>
          <p:cNvPr id="3" name="Text 1"/>
          <p:cNvSpPr/>
          <p:nvPr/>
        </p:nvSpPr>
        <p:spPr>
          <a:xfrm>
            <a:off x="731520" y="1280160"/>
            <a:ext cx="7680960" cy="3017520"/>
          </a:xfrm>
          <a:prstGeom prst="rect">
            <a:avLst/>
          </a:prstGeom>
          <a:noFill/>
          <a:ln/>
        </p:spPr>
        <p:txBody>
          <a:bodyPr wrap="square" lIns="0" tIns="0" rIns="0" bIns="0" rtlCol="0" anchor="ctr"/>
          <a:lstStyle/>
          <a:p>
            <a:pPr marL="0" indent="0">
              <a:buNone/>
            </a:pPr>
            <a:r>
              <a:rPr lang="en-US" sz="2600" dirty="0">
                <a:solidFill>
                  <a:srgbClr val="FFFFFF"/>
                </a:solidFill>
                <a:latin typeface="Cambria" pitchFamily="34" charset="0"/>
                <a:ea typeface="Cambria" pitchFamily="34" charset="-122"/>
                <a:cs typeface="Cambria" pitchFamily="34" charset="-120"/>
              </a:rPr>
              <a:t>The AI does not remember your chat. The app re-sends the whole conversation every time. And an AI cannot do things by itself: it asks, and your app acts. Put those two ideas in a loop and you have an agent.</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By the end you can…</a:t>
            </a:r>
            <a:endParaRPr lang="en-US" sz="3000" dirty="0"/>
          </a:p>
        </p:txBody>
      </p:sp>
      <p:sp>
        <p:nvSpPr>
          <p:cNvPr id="5" name="Shape 2"/>
          <p:cNvSpPr/>
          <p:nvPr/>
        </p:nvSpPr>
        <p:spPr>
          <a:xfrm>
            <a:off x="50292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73152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872338" y="1741018"/>
            <a:ext cx="358445" cy="358445"/>
          </a:xfrm>
          <a:prstGeom prst="rect">
            <a:avLst/>
          </a:prstGeom>
        </p:spPr>
      </p:pic>
      <p:sp>
        <p:nvSpPr>
          <p:cNvPr id="8" name="Text 4"/>
          <p:cNvSpPr/>
          <p:nvPr/>
        </p:nvSpPr>
        <p:spPr>
          <a:xfrm>
            <a:off x="73152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Explain why a chat seems to have memory, and why the model does not.</a:t>
            </a:r>
            <a:endParaRPr lang="en-US" sz="1700" dirty="0"/>
          </a:p>
        </p:txBody>
      </p:sp>
      <p:sp>
        <p:nvSpPr>
          <p:cNvPr id="9" name="Shape 5"/>
          <p:cNvSpPr/>
          <p:nvPr/>
        </p:nvSpPr>
        <p:spPr>
          <a:xfrm>
            <a:off x="329184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0" name="Shape 6"/>
          <p:cNvSpPr/>
          <p:nvPr/>
        </p:nvSpPr>
        <p:spPr>
          <a:xfrm>
            <a:off x="352044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1" name="Image 1" descr="icon"/>
          <p:cNvPicPr>
            <a:picLocks noChangeAspect="1"/>
          </p:cNvPicPr>
          <p:nvPr/>
        </p:nvPicPr>
        <p:blipFill>
          <a:blip r:embed="rId3"/>
          <a:stretch>
            <a:fillRect/>
          </a:stretch>
        </p:blipFill>
        <p:spPr>
          <a:xfrm>
            <a:off x="3661258" y="1741018"/>
            <a:ext cx="358445" cy="358445"/>
          </a:xfrm>
          <a:prstGeom prst="rect">
            <a:avLst/>
          </a:prstGeom>
        </p:spPr>
      </p:pic>
      <p:sp>
        <p:nvSpPr>
          <p:cNvPr id="12" name="Text 7"/>
          <p:cNvSpPr/>
          <p:nvPr/>
        </p:nvSpPr>
        <p:spPr>
          <a:xfrm>
            <a:off x="352044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Decide what to keep, summarise or drop when a conversation gets long.</a:t>
            </a:r>
            <a:endParaRPr lang="en-US" sz="1700" dirty="0"/>
          </a:p>
        </p:txBody>
      </p:sp>
      <p:sp>
        <p:nvSpPr>
          <p:cNvPr id="13" name="Shape 8"/>
          <p:cNvSpPr/>
          <p:nvPr/>
        </p:nvSpPr>
        <p:spPr>
          <a:xfrm>
            <a:off x="608076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4" name="Shape 9"/>
          <p:cNvSpPr/>
          <p:nvPr/>
        </p:nvSpPr>
        <p:spPr>
          <a:xfrm>
            <a:off x="630936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5" name="Image 2" descr="icon"/>
          <p:cNvPicPr>
            <a:picLocks noChangeAspect="1"/>
          </p:cNvPicPr>
          <p:nvPr/>
        </p:nvPicPr>
        <p:blipFill>
          <a:blip r:embed="rId3"/>
          <a:stretch>
            <a:fillRect/>
          </a:stretch>
        </p:blipFill>
        <p:spPr>
          <a:xfrm>
            <a:off x="6450178" y="1741018"/>
            <a:ext cx="358445" cy="358445"/>
          </a:xfrm>
          <a:prstGeom prst="rect">
            <a:avLst/>
          </a:prstGeom>
        </p:spPr>
      </p:pic>
      <p:sp>
        <p:nvSpPr>
          <p:cNvPr id="16" name="Text 10"/>
          <p:cNvSpPr/>
          <p:nvPr/>
        </p:nvSpPr>
        <p:spPr>
          <a:xfrm>
            <a:off x="630936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Describe the agent loop and how a tool call works.</a:t>
            </a:r>
            <a:endParaRPr lang="en-US" sz="17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The illusion of memory</a:t>
            </a:r>
            <a:endParaRPr lang="en-US" sz="3000" dirty="0"/>
          </a:p>
        </p:txBody>
      </p:sp>
      <p:sp>
        <p:nvSpPr>
          <p:cNvPr id="5" name="Shape 2"/>
          <p:cNvSpPr/>
          <p:nvPr/>
        </p:nvSpPr>
        <p:spPr>
          <a:xfrm>
            <a:off x="548640" y="1280160"/>
            <a:ext cx="411480" cy="411480"/>
          </a:xfrm>
          <a:prstGeom prst="ellipse">
            <a:avLst/>
          </a:prstGeom>
          <a:solidFill>
            <a:srgbClr val="0B7A75"/>
          </a:solidFill>
          <a:ln w="9525">
            <a:solidFill>
              <a:srgbClr val="0B7A75"/>
            </a:solidFill>
            <a:prstDash val="solid"/>
          </a:ln>
        </p:spPr>
        <p:txBody>
          <a:bodyPr/>
          <a:lstStyle/>
          <a:p>
            <a:endParaRPr lang="en-US"/>
          </a:p>
        </p:txBody>
      </p:sp>
      <p:sp>
        <p:nvSpPr>
          <p:cNvPr id="6" name="Text 3"/>
          <p:cNvSpPr/>
          <p:nvPr/>
        </p:nvSpPr>
        <p:spPr>
          <a:xfrm>
            <a:off x="548640" y="12801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p:nvPr/>
        </p:nvSpPr>
        <p:spPr>
          <a:xfrm>
            <a:off x="1143000" y="12618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You type a new message.</a:t>
            </a:r>
            <a:endParaRPr lang="en-US" sz="1800" dirty="0"/>
          </a:p>
        </p:txBody>
      </p:sp>
      <p:sp>
        <p:nvSpPr>
          <p:cNvPr id="8" name="Shape 5"/>
          <p:cNvSpPr/>
          <p:nvPr/>
        </p:nvSpPr>
        <p:spPr>
          <a:xfrm>
            <a:off x="548640" y="1965960"/>
            <a:ext cx="411480" cy="411480"/>
          </a:xfrm>
          <a:prstGeom prst="ellipse">
            <a:avLst/>
          </a:prstGeom>
          <a:solidFill>
            <a:srgbClr val="0B7A75"/>
          </a:solidFill>
          <a:ln w="9525">
            <a:solidFill>
              <a:srgbClr val="0B7A75"/>
            </a:solidFill>
            <a:prstDash val="solid"/>
          </a:ln>
        </p:spPr>
        <p:txBody>
          <a:bodyPr/>
          <a:lstStyle/>
          <a:p>
            <a:endParaRPr lang="en-US"/>
          </a:p>
        </p:txBody>
      </p:sp>
      <p:sp>
        <p:nvSpPr>
          <p:cNvPr id="9" name="Text 6"/>
          <p:cNvSpPr/>
          <p:nvPr/>
        </p:nvSpPr>
        <p:spPr>
          <a:xfrm>
            <a:off x="548640" y="19659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7"/>
          <p:cNvSpPr/>
          <p:nvPr/>
        </p:nvSpPr>
        <p:spPr>
          <a:xfrm>
            <a:off x="1143000" y="19476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The app adds it to the whole conversation so far.</a:t>
            </a:r>
            <a:endParaRPr lang="en-US" sz="1800" dirty="0"/>
          </a:p>
        </p:txBody>
      </p:sp>
      <p:sp>
        <p:nvSpPr>
          <p:cNvPr id="11" name="Shape 8"/>
          <p:cNvSpPr/>
          <p:nvPr/>
        </p:nvSpPr>
        <p:spPr>
          <a:xfrm>
            <a:off x="548640" y="2651760"/>
            <a:ext cx="411480" cy="411480"/>
          </a:xfrm>
          <a:prstGeom prst="ellipse">
            <a:avLst/>
          </a:prstGeom>
          <a:solidFill>
            <a:srgbClr val="0B7A75"/>
          </a:solidFill>
          <a:ln w="9525">
            <a:solidFill>
              <a:srgbClr val="0B7A75"/>
            </a:solidFill>
            <a:prstDash val="solid"/>
          </a:ln>
        </p:spPr>
        <p:txBody>
          <a:bodyPr/>
          <a:lstStyle/>
          <a:p>
            <a:endParaRPr lang="en-US"/>
          </a:p>
        </p:txBody>
      </p:sp>
      <p:sp>
        <p:nvSpPr>
          <p:cNvPr id="12" name="Text 9"/>
          <p:cNvSpPr/>
          <p:nvPr/>
        </p:nvSpPr>
        <p:spPr>
          <a:xfrm>
            <a:off x="548640" y="26517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0"/>
          <p:cNvSpPr/>
          <p:nvPr/>
        </p:nvSpPr>
        <p:spPr>
          <a:xfrm>
            <a:off x="1143000" y="26334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The app sends everything to the AI.</a:t>
            </a:r>
            <a:endParaRPr lang="en-US" sz="1800" dirty="0"/>
          </a:p>
        </p:txBody>
      </p:sp>
      <p:sp>
        <p:nvSpPr>
          <p:cNvPr id="14" name="Shape 11"/>
          <p:cNvSpPr/>
          <p:nvPr/>
        </p:nvSpPr>
        <p:spPr>
          <a:xfrm>
            <a:off x="548640" y="3337560"/>
            <a:ext cx="411480" cy="411480"/>
          </a:xfrm>
          <a:prstGeom prst="ellipse">
            <a:avLst/>
          </a:prstGeom>
          <a:solidFill>
            <a:srgbClr val="0B7A75"/>
          </a:solidFill>
          <a:ln w="9525">
            <a:solidFill>
              <a:srgbClr val="0B7A75"/>
            </a:solidFill>
            <a:prstDash val="solid"/>
          </a:ln>
        </p:spPr>
        <p:txBody>
          <a:bodyPr/>
          <a:lstStyle/>
          <a:p>
            <a:endParaRPr lang="en-US"/>
          </a:p>
        </p:txBody>
      </p:sp>
      <p:sp>
        <p:nvSpPr>
          <p:cNvPr id="15" name="Text 12"/>
          <p:cNvSpPr/>
          <p:nvPr/>
        </p:nvSpPr>
        <p:spPr>
          <a:xfrm>
            <a:off x="548640" y="33375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6" name="Text 13"/>
          <p:cNvSpPr/>
          <p:nvPr/>
        </p:nvSpPr>
        <p:spPr>
          <a:xfrm>
            <a:off x="1143000" y="33192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The AI reads it from the very top, then writes the next reply.</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Think of it like this</a:t>
            </a:r>
            <a:endParaRPr lang="en-US" sz="3000" dirty="0"/>
          </a:p>
        </p:txBody>
      </p:sp>
      <p:sp>
        <p:nvSpPr>
          <p:cNvPr id="4" name="Shape 2"/>
          <p:cNvSpPr/>
          <p:nvPr/>
        </p:nvSpPr>
        <p:spPr>
          <a:xfrm>
            <a:off x="502920" y="1280160"/>
            <a:ext cx="813816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5" name="Shape 3"/>
          <p:cNvSpPr/>
          <p:nvPr/>
        </p:nvSpPr>
        <p:spPr>
          <a:xfrm>
            <a:off x="777240" y="1554480"/>
            <a:ext cx="731520" cy="731520"/>
          </a:xfrm>
          <a:prstGeom prst="ellipse">
            <a:avLst/>
          </a:prstGeom>
          <a:solidFill>
            <a:srgbClr val="F4B942"/>
          </a:solidFill>
          <a:ln w="9525">
            <a:solidFill>
              <a:srgbClr val="F4B942"/>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938174" y="1715414"/>
            <a:ext cx="409651" cy="409651"/>
          </a:xfrm>
          <a:prstGeom prst="rect">
            <a:avLst/>
          </a:prstGeom>
        </p:spPr>
      </p:pic>
      <p:sp>
        <p:nvSpPr>
          <p:cNvPr id="7" name="Text 4"/>
          <p:cNvSpPr/>
          <p:nvPr/>
        </p:nvSpPr>
        <p:spPr>
          <a:xfrm>
            <a:off x="1737360" y="1600200"/>
            <a:ext cx="6583680" cy="64008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The notebook</a:t>
            </a:r>
            <a:endParaRPr lang="en-US" sz="2200" dirty="0"/>
          </a:p>
        </p:txBody>
      </p:sp>
      <p:sp>
        <p:nvSpPr>
          <p:cNvPr id="8" name="Text 5"/>
          <p:cNvSpPr/>
          <p:nvPr/>
        </p:nvSpPr>
        <p:spPr>
          <a:xfrm>
            <a:off x="868680" y="2514600"/>
            <a:ext cx="7406640" cy="173736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Imagine a helper who forgets everything the moment you walk away. To get around that, every time you speak to them you hand over a notebook and say “read this from page one, then answer.” The notebook is the memory. The helper has none.</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Think of it like this</a:t>
            </a:r>
            <a:endParaRPr lang="en-US" sz="3000" dirty="0"/>
          </a:p>
        </p:txBody>
      </p:sp>
      <p:sp>
        <p:nvSpPr>
          <p:cNvPr id="5" name="Shape 2"/>
          <p:cNvSpPr/>
          <p:nvPr/>
        </p:nvSpPr>
        <p:spPr>
          <a:xfrm>
            <a:off x="502920" y="1280160"/>
            <a:ext cx="813816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777240" y="1554480"/>
            <a:ext cx="731520" cy="731520"/>
          </a:xfrm>
          <a:prstGeom prst="ellipse">
            <a:avLst/>
          </a:prstGeom>
          <a:solidFill>
            <a:srgbClr val="F4B942"/>
          </a:solidFill>
          <a:ln w="9525">
            <a:solidFill>
              <a:srgbClr val="F4B942"/>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938174" y="1715414"/>
            <a:ext cx="409651" cy="409651"/>
          </a:xfrm>
          <a:prstGeom prst="rect">
            <a:avLst/>
          </a:prstGeom>
        </p:spPr>
      </p:pic>
      <p:sp>
        <p:nvSpPr>
          <p:cNvPr id="8" name="Text 4"/>
          <p:cNvSpPr/>
          <p:nvPr/>
        </p:nvSpPr>
        <p:spPr>
          <a:xfrm>
            <a:off x="1737360" y="1600200"/>
            <a:ext cx="6583680" cy="64008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The desk</a:t>
            </a:r>
            <a:endParaRPr lang="en-US" sz="2200" dirty="0"/>
          </a:p>
        </p:txBody>
      </p:sp>
      <p:sp>
        <p:nvSpPr>
          <p:cNvPr id="9" name="Text 5"/>
          <p:cNvSpPr/>
          <p:nvPr/>
        </p:nvSpPr>
        <p:spPr>
          <a:xfrm>
            <a:off x="868680" y="2514600"/>
            <a:ext cx="7406640" cy="1737360"/>
          </a:xfrm>
          <a:prstGeom prst="rect">
            <a:avLst/>
          </a:prstGeom>
          <a:noFill/>
          <a:ln/>
        </p:spPr>
        <p:txBody>
          <a:bodyPr wrap="square" lIns="0" tIns="0" rIns="0" bIns="0" rtlCol="0" anchor="t"/>
          <a:lstStyle/>
          <a:p>
            <a:pPr marL="0" indent="0">
              <a:buNone/>
            </a:pPr>
            <a:r>
              <a:rPr lang="en-US" sz="2000" dirty="0">
                <a:solidFill>
                  <a:srgbClr val="1B2B34"/>
                </a:solidFill>
                <a:latin typeface="Calibri" pitchFamily="34" charset="0"/>
                <a:ea typeface="Calibri" pitchFamily="34" charset="-122"/>
                <a:cs typeface="Calibri" pitchFamily="34" charset="-120"/>
              </a:rPr>
              <a:t>The context window is the size of the desk. Only what fits on the desk can be read. Pile on too much and either something falls off, or the helper gets distracted by the mess.</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2600" b="1" dirty="0">
                <a:solidFill>
                  <a:srgbClr val="0B4F5C"/>
                </a:solidFill>
                <a:latin typeface="Cambria" pitchFamily="34" charset="0"/>
                <a:ea typeface="Cambria" pitchFamily="34" charset="-122"/>
                <a:cs typeface="Cambria" pitchFamily="34" charset="-120"/>
              </a:rPr>
              <a:t>Three ways to handle a long conversation</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914400"/>
        </p:xfrm>
        <a:graphic>
          <a:graphicData uri="http://schemas.openxmlformats.org/drawingml/2006/table">
            <a:tbl>
              <a:tblPr/>
              <a:tblGrid>
                <a:gridCol w="2034540">
                  <a:extLst>
                    <a:ext uri="{9D8B030D-6E8A-4147-A177-3AD203B41FA5}">
                      <a16:colId xmlns:a16="http://schemas.microsoft.com/office/drawing/2014/main" val="20000"/>
                    </a:ext>
                  </a:extLst>
                </a:gridCol>
                <a:gridCol w="2034540">
                  <a:extLst>
                    <a:ext uri="{9D8B030D-6E8A-4147-A177-3AD203B41FA5}">
                      <a16:colId xmlns:a16="http://schemas.microsoft.com/office/drawing/2014/main" val="20001"/>
                    </a:ext>
                  </a:extLst>
                </a:gridCol>
                <a:gridCol w="2034540">
                  <a:extLst>
                    <a:ext uri="{9D8B030D-6E8A-4147-A177-3AD203B41FA5}">
                      <a16:colId xmlns:a16="http://schemas.microsoft.com/office/drawing/2014/main" val="20002"/>
                    </a:ext>
                  </a:extLst>
                </a:gridCol>
                <a:gridCol w="2034540">
                  <a:extLst>
                    <a:ext uri="{9D8B030D-6E8A-4147-A177-3AD203B41FA5}">
                      <a16:colId xmlns:a16="http://schemas.microsoft.com/office/drawing/2014/main" val="20003"/>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Strategy</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it does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Everyday comparison</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Weakness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Trim</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Keep only the last few messages</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Throw away the oldest pages</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Early facts vanish</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Summarise</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Replace old messages with a short summary</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Write a one-page recap of the meeting</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Needs an extra AI call, and details can be lost</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Store and retrieve</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Save facts outside the prompt, fetch the relevant ones when needed</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A filing cabinet with an index</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Needs search logic (you build this in Week 3)</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Think of it like this</a:t>
            </a:r>
            <a:endParaRPr lang="en-US" sz="3000" dirty="0"/>
          </a:p>
        </p:txBody>
      </p:sp>
      <p:sp>
        <p:nvSpPr>
          <p:cNvPr id="5" name="Shape 2"/>
          <p:cNvSpPr/>
          <p:nvPr/>
        </p:nvSpPr>
        <p:spPr>
          <a:xfrm>
            <a:off x="502920" y="1280160"/>
            <a:ext cx="813816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777240" y="1554480"/>
            <a:ext cx="731520" cy="731520"/>
          </a:xfrm>
          <a:prstGeom prst="ellipse">
            <a:avLst/>
          </a:prstGeom>
          <a:solidFill>
            <a:srgbClr val="F4B942"/>
          </a:solidFill>
          <a:ln w="9525">
            <a:solidFill>
              <a:srgbClr val="F4B942"/>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938174" y="1715414"/>
            <a:ext cx="409651" cy="409651"/>
          </a:xfrm>
          <a:prstGeom prst="rect">
            <a:avLst/>
          </a:prstGeom>
        </p:spPr>
      </p:pic>
      <p:sp>
        <p:nvSpPr>
          <p:cNvPr id="8" name="Text 4"/>
          <p:cNvSpPr/>
          <p:nvPr/>
        </p:nvSpPr>
        <p:spPr>
          <a:xfrm>
            <a:off x="1737360" y="1600200"/>
            <a:ext cx="6583680" cy="64008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Phone a friend</a:t>
            </a:r>
            <a:endParaRPr lang="en-US" sz="2200" dirty="0"/>
          </a:p>
        </p:txBody>
      </p:sp>
      <p:sp>
        <p:nvSpPr>
          <p:cNvPr id="9" name="Text 5"/>
          <p:cNvSpPr/>
          <p:nvPr/>
        </p:nvSpPr>
        <p:spPr>
          <a:xfrm>
            <a:off x="868680" y="2514600"/>
            <a:ext cx="7406640" cy="173736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You are in a quiz show and do not know the answer, so you phone a friend. The AI cannot make the call itself. It says “please phone the calculator and ask for 1234 times 5678.” Your app makes the call and reads back the result.</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The agent loop</a:t>
            </a:r>
            <a:endParaRPr lang="en-US" sz="3000" dirty="0"/>
          </a:p>
        </p:txBody>
      </p:sp>
      <p:sp>
        <p:nvSpPr>
          <p:cNvPr id="5" name="Shape 2"/>
          <p:cNvSpPr/>
          <p:nvPr/>
        </p:nvSpPr>
        <p:spPr>
          <a:xfrm>
            <a:off x="502920" y="1280160"/>
            <a:ext cx="8138160" cy="3284889"/>
          </a:xfrm>
          <a:prstGeom prst="roundRect">
            <a:avLst>
              <a:gd name="adj" fmla="val 2784"/>
            </a:avLst>
          </a:prstGeom>
          <a:solidFill>
            <a:srgbClr val="FFFFFF"/>
          </a:solidFill>
          <a:ln w="12700">
            <a:solidFill>
              <a:srgbClr val="CFE3E1"/>
            </a:solidFill>
            <a:prstDash val="solid"/>
          </a:ln>
        </p:spPr>
        <p:txBody>
          <a:bodyPr/>
          <a:lstStyle/>
          <a:p>
            <a:endParaRPr lang="en-US"/>
          </a:p>
        </p:txBody>
      </p:sp>
      <p:pic>
        <p:nvPicPr>
          <p:cNvPr id="6" name="Image 0" descr="The agent loop. Tools are the core idea behind agents."/>
          <p:cNvPicPr>
            <a:picLocks noChangeAspect="1"/>
          </p:cNvPicPr>
          <p:nvPr/>
        </p:nvPicPr>
        <p:blipFill>
          <a:blip r:embed="rId3"/>
          <a:stretch>
            <a:fillRect/>
          </a:stretch>
        </p:blipFill>
        <p:spPr>
          <a:xfrm>
            <a:off x="502920" y="1417320"/>
            <a:ext cx="8138160" cy="3010569"/>
          </a:xfrm>
          <a:prstGeom prst="rect">
            <a:avLst/>
          </a:prstGeom>
        </p:spPr>
      </p:pic>
      <p:sp>
        <p:nvSpPr>
          <p:cNvPr id="7" name="Text 3"/>
          <p:cNvSpPr/>
          <p:nvPr/>
        </p:nvSpPr>
        <p:spPr>
          <a:xfrm>
            <a:off x="502920" y="4702209"/>
            <a:ext cx="8138160" cy="274320"/>
          </a:xfrm>
          <a:prstGeom prst="rect">
            <a:avLst/>
          </a:prstGeom>
          <a:noFill/>
          <a:ln/>
        </p:spPr>
        <p:txBody>
          <a:bodyPr wrap="square" lIns="0" tIns="0" rIns="0" bIns="0" rtlCol="0" anchor="t"/>
          <a:lstStyle/>
          <a:p>
            <a:pPr marL="0" indent="0" algn="ctr">
              <a:buNone/>
            </a:pPr>
            <a:r>
              <a:rPr lang="en-US" sz="1400" i="1" dirty="0">
                <a:solidFill>
                  <a:srgbClr val="5B6B73"/>
                </a:solidFill>
                <a:latin typeface="Calibri" pitchFamily="34" charset="0"/>
                <a:ea typeface="Calibri" pitchFamily="34" charset="-122"/>
                <a:cs typeface="Calibri" pitchFamily="34" charset="-120"/>
              </a:rPr>
              <a:t>The agent loop. Tools are the core idea behind agents.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Always set a limit</a:t>
            </a:r>
            <a:endParaRPr lang="en-US" sz="3000" dirty="0"/>
          </a:p>
        </p:txBody>
      </p:sp>
      <p:sp>
        <p:nvSpPr>
          <p:cNvPr id="4" name="Shape 2"/>
          <p:cNvSpPr/>
          <p:nvPr/>
        </p:nvSpPr>
        <p:spPr>
          <a:xfrm>
            <a:off x="502920" y="1280160"/>
            <a:ext cx="8138160" cy="2743200"/>
          </a:xfrm>
          <a:prstGeom prst="roundRect">
            <a:avLst>
              <a:gd name="adj" fmla="val 4000"/>
            </a:avLst>
          </a:prstGeom>
          <a:solidFill>
            <a:srgbClr val="FDECEA"/>
          </a:solidFill>
          <a:ln w="9525">
            <a:solidFill>
              <a:srgbClr val="FDECEA"/>
            </a:solidFill>
            <a:prstDash val="solid"/>
          </a:ln>
        </p:spPr>
        <p:txBody>
          <a:bodyPr/>
          <a:lstStyle/>
          <a:p>
            <a:endParaRPr lang="en-US"/>
          </a:p>
        </p:txBody>
      </p:sp>
      <p:sp>
        <p:nvSpPr>
          <p:cNvPr id="5" name="Shape 3"/>
          <p:cNvSpPr/>
          <p:nvPr/>
        </p:nvSpPr>
        <p:spPr>
          <a:xfrm>
            <a:off x="502920" y="1280160"/>
            <a:ext cx="109728" cy="2743200"/>
          </a:xfrm>
          <a:prstGeom prst="rect">
            <a:avLst/>
          </a:prstGeom>
          <a:solidFill>
            <a:srgbClr val="F26B5B"/>
          </a:solidFill>
          <a:ln w="12700">
            <a:solidFill>
              <a:srgbClr val="F26B5B"/>
            </a:solidFill>
            <a:prstDash val="solid"/>
          </a:ln>
        </p:spPr>
        <p:txBody>
          <a:bodyPr/>
          <a:lstStyle/>
          <a:p>
            <a:endParaRPr lang="en-US"/>
          </a:p>
        </p:txBody>
      </p:sp>
      <p:sp>
        <p:nvSpPr>
          <p:cNvPr id="6" name="Shape 4"/>
          <p:cNvSpPr/>
          <p:nvPr/>
        </p:nvSpPr>
        <p:spPr>
          <a:xfrm>
            <a:off x="868680" y="1600200"/>
            <a:ext cx="685800" cy="685800"/>
          </a:xfrm>
          <a:prstGeom prst="ellipse">
            <a:avLst/>
          </a:prstGeom>
          <a:solidFill>
            <a:srgbClr val="F26B5B"/>
          </a:solidFill>
          <a:ln w="9525">
            <a:solidFill>
              <a:srgbClr val="F26B5B"/>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1019556" y="1751076"/>
            <a:ext cx="384048" cy="384048"/>
          </a:xfrm>
          <a:prstGeom prst="rect">
            <a:avLst/>
          </a:prstGeom>
        </p:spPr>
      </p:pic>
      <p:sp>
        <p:nvSpPr>
          <p:cNvPr id="8" name="Text 5"/>
          <p:cNvSpPr/>
          <p:nvPr/>
        </p:nvSpPr>
        <p:spPr>
          <a:xfrm>
            <a:off x="1828800" y="1600200"/>
            <a:ext cx="6583680" cy="2286000"/>
          </a:xfrm>
          <a:prstGeom prst="rect">
            <a:avLst/>
          </a:prstGeom>
          <a:noFill/>
          <a:ln/>
        </p:spPr>
        <p:txBody>
          <a:bodyPr wrap="square" lIns="0" tIns="0" rIns="0" bIns="0" rtlCol="0" anchor="ctr"/>
          <a:lstStyle/>
          <a:p>
            <a:pPr marL="0" indent="0">
              <a:buNone/>
            </a:pPr>
            <a:r>
              <a:rPr lang="en-US" sz="2200" dirty="0">
                <a:solidFill>
                  <a:srgbClr val="1B2B34"/>
                </a:solidFill>
                <a:latin typeface="Calibri" pitchFamily="34" charset="0"/>
                <a:ea typeface="Calibri" pitchFamily="34" charset="-122"/>
                <a:cs typeface="Calibri" pitchFamily="34" charset="-120"/>
              </a:rPr>
              <a:t>Good apps cap how many times the loop can run, say five rounds. Otherwise a confused AI could keep going forever, and you would pay for every round.</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Common mistakes</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Thinking the AI learns from the chat. It does not change between calls.</a:t>
            </a:r>
            <a:endParaRPr lang="en-US" sz="2000" dirty="0"/>
          </a:p>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Trimming by message count while a few very long messages still overflow the desk.</a:t>
            </a:r>
            <a:endParaRPr lang="en-US" sz="2000" dirty="0"/>
          </a:p>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Cutting the system prompt when trimming. Always add it fresh.</a:t>
            </a:r>
            <a:endParaRPr lang="en-US" sz="2000" dirty="0"/>
          </a:p>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Believing the AI runs the tool itself.</a:t>
            </a:r>
            <a:endParaRPr lang="en-US" sz="2000" dirty="0"/>
          </a:p>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Forgetting a limit on how many loop rounds are allowed.</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Try it live</a:t>
            </a:r>
            <a:endParaRPr lang="en-US" sz="3000" dirty="0"/>
          </a:p>
        </p:txBody>
      </p:sp>
      <p:sp>
        <p:nvSpPr>
          <p:cNvPr id="5" name="Shape 2"/>
          <p:cNvSpPr/>
          <p:nvPr/>
        </p:nvSpPr>
        <p:spPr>
          <a:xfrm>
            <a:off x="502920" y="1371600"/>
            <a:ext cx="8138160" cy="256032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822960" y="1737360"/>
            <a:ext cx="822960" cy="822960"/>
          </a:xfrm>
          <a:prstGeom prst="ellipse">
            <a:avLst/>
          </a:prstGeom>
          <a:solidFill>
            <a:srgbClr val="0B7A75"/>
          </a:solidFill>
          <a:ln w="9525">
            <a:solidFill>
              <a:srgbClr val="0B7A75"/>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1004011" y="1918411"/>
            <a:ext cx="460858" cy="460858"/>
          </a:xfrm>
          <a:prstGeom prst="rect">
            <a:avLst/>
          </a:prstGeom>
        </p:spPr>
      </p:pic>
      <p:sp>
        <p:nvSpPr>
          <p:cNvPr id="8" name="Text 4"/>
          <p:cNvSpPr/>
          <p:nvPr/>
        </p:nvSpPr>
        <p:spPr>
          <a:xfrm>
            <a:off x="1920240" y="1691640"/>
            <a:ext cx="6400800" cy="91440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Open this lesson's page on the course site and play with the interactive demo.</a:t>
            </a:r>
            <a:endParaRPr lang="en-US" sz="2200" dirty="0"/>
          </a:p>
        </p:txBody>
      </p:sp>
      <p:sp>
        <p:nvSpPr>
          <p:cNvPr id="9" name="Text 5"/>
          <p:cNvSpPr/>
          <p:nvPr/>
        </p:nvSpPr>
        <p:spPr>
          <a:xfrm>
            <a:off x="1920240" y="2743200"/>
            <a:ext cx="6400800" cy="91440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Change the inputs, watch what happens, and say out loud what you think will change before you click.</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Your exercise</a:t>
            </a:r>
            <a:endParaRPr lang="en-US" sz="3000" dirty="0"/>
          </a:p>
        </p:txBody>
      </p:sp>
      <p:sp>
        <p:nvSpPr>
          <p:cNvPr id="5" name="Text 2"/>
          <p:cNvSpPr/>
          <p:nvPr/>
        </p:nvSpPr>
        <p:spPr>
          <a:xfrm>
            <a:off x="548640" y="1188720"/>
            <a:ext cx="8046720" cy="868680"/>
          </a:xfrm>
          <a:prstGeom prst="rect">
            <a:avLst/>
          </a:prstGeom>
          <a:noFill/>
          <a:ln/>
        </p:spPr>
        <p:txBody>
          <a:bodyPr wrap="square" lIns="0" tIns="0" rIns="0" bIns="0" rtlCol="0" anchor="t"/>
          <a:lstStyle/>
          <a:p>
            <a:pPr marL="0" indent="0">
              <a:buNone/>
            </a:pPr>
            <a:r>
              <a:rPr lang="en-US" sz="1700" dirty="0">
                <a:solidFill>
                  <a:srgbClr val="5B6B73"/>
                </a:solidFill>
                <a:latin typeface="Calibri" pitchFamily="34" charset="0"/>
                <a:ea typeface="Calibri" pitchFamily="34" charset="-122"/>
                <a:cs typeface="Calibri" pitchFamily="34" charset="-120"/>
              </a:rPr>
              <a:t>The goal is to see with your own eyes that the AI only knows what is re-sent. Choose either version.</a:t>
            </a:r>
            <a:endParaRPr lang="en-US" sz="1700" dirty="0"/>
          </a:p>
        </p:txBody>
      </p:sp>
      <p:sp>
        <p:nvSpPr>
          <p:cNvPr id="6" name="Text 3"/>
          <p:cNvSpPr/>
          <p:nvPr/>
        </p:nvSpPr>
        <p:spPr>
          <a:xfrm>
            <a:off x="548640" y="2103120"/>
            <a:ext cx="3657600" cy="274320"/>
          </a:xfrm>
          <a:prstGeom prst="rect">
            <a:avLst/>
          </a:prstGeom>
          <a:noFill/>
          <a:ln/>
        </p:spPr>
        <p:txBody>
          <a:bodyPr wrap="square" lIns="0" tIns="0" rIns="0" bIns="0" rtlCol="0" anchor="t"/>
          <a:lstStyle/>
          <a:p>
            <a:pPr marL="0" indent="0">
              <a:buNone/>
            </a:pPr>
            <a:r>
              <a:rPr lang="en-US" sz="1200" b="1" dirty="0">
                <a:solidFill>
                  <a:srgbClr val="0B7A75"/>
                </a:solidFill>
                <a:latin typeface="Calibri" pitchFamily="34" charset="0"/>
                <a:ea typeface="Calibri" pitchFamily="34" charset="-122"/>
                <a:cs typeface="Calibri" pitchFamily="34" charset="-120"/>
              </a:rPr>
              <a:t>STEPS</a:t>
            </a:r>
            <a:endParaRPr lang="en-US" sz="1200" dirty="0"/>
          </a:p>
        </p:txBody>
      </p:sp>
      <p:sp>
        <p:nvSpPr>
          <p:cNvPr id="7" name="Text 4"/>
          <p:cNvSpPr/>
          <p:nvPr/>
        </p:nvSpPr>
        <p:spPr>
          <a:xfrm>
            <a:off x="548640" y="2423160"/>
            <a:ext cx="8046720" cy="2286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The app writes each message on its own card: “Hi, my name is Wanjiru…</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Add five more cards, for example: a Python question, a library name, what an API does, a study tip…</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Round 1, full history.</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Round 2, trimmed history. The app hands over only the last four cards. Ask the same final question.</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Swap roles and repeat with different facts.</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Quick check</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0" indent="0">
              <a:spcAft>
                <a:spcPts val="1200"/>
              </a:spcAft>
              <a:buNone/>
            </a:pPr>
            <a:r>
              <a:rPr lang="en-US" sz="1700" dirty="0">
                <a:solidFill>
                  <a:srgbClr val="1B2B34"/>
                </a:solidFill>
                <a:latin typeface="Calibri" pitchFamily="34" charset="0"/>
                <a:ea typeface="Calibri" pitchFamily="34" charset="-122"/>
                <a:cs typeface="Calibri" pitchFamily="34" charset="-120"/>
              </a:rPr>
              <a:t>1.  Why does a chat seem to remember what you said earlier?</a:t>
            </a:r>
            <a:endParaRPr lang="en-US" sz="1700" dirty="0"/>
          </a:p>
          <a:p>
            <a:pPr marL="0" indent="0">
              <a:spcAft>
                <a:spcPts val="1200"/>
              </a:spcAft>
              <a:buNone/>
            </a:pPr>
            <a:r>
              <a:rPr lang="en-US" sz="1700" dirty="0">
                <a:solidFill>
                  <a:srgbClr val="1B2B34"/>
                </a:solidFill>
                <a:latin typeface="Calibri" pitchFamily="34" charset="0"/>
                <a:ea typeface="Calibri" pitchFamily="34" charset="-122"/>
                <a:cs typeface="Calibri" pitchFamily="34" charset="-120"/>
              </a:rPr>
              <a:t>2.  If the app stops sending message 1, what does the AI know about it?</a:t>
            </a:r>
            <a:endParaRPr lang="en-US" sz="1700" dirty="0"/>
          </a:p>
          <a:p>
            <a:pPr marL="0" indent="0">
              <a:spcAft>
                <a:spcPts val="1200"/>
              </a:spcAft>
              <a:buNone/>
            </a:pPr>
            <a:r>
              <a:rPr lang="en-US" sz="1700" dirty="0">
                <a:solidFill>
                  <a:srgbClr val="1B2B34"/>
                </a:solidFill>
                <a:latin typeface="Calibri" pitchFamily="34" charset="0"/>
                <a:ea typeface="Calibri" pitchFamily="34" charset="-122"/>
                <a:cs typeface="Calibri" pitchFamily="34" charset="-120"/>
              </a:rPr>
              <a:t>3.  A long conversation no longer fits the context window. Which is NOT a standard strategy?</a:t>
            </a:r>
            <a:endParaRPr lang="en-US" sz="1700" dirty="0"/>
          </a:p>
          <a:p>
            <a:pPr marL="0" indent="0">
              <a:spcAft>
                <a:spcPts val="1200"/>
              </a:spcAft>
              <a:buNone/>
            </a:pPr>
            <a:r>
              <a:rPr lang="en-US" sz="1700" dirty="0">
                <a:solidFill>
                  <a:srgbClr val="1B2B34"/>
                </a:solidFill>
                <a:latin typeface="Calibri" pitchFamily="34" charset="0"/>
                <a:ea typeface="Calibri" pitchFamily="34" charset="-122"/>
                <a:cs typeface="Calibri" pitchFamily="34" charset="-120"/>
              </a:rPr>
              <a:t>4.  Who actually runs a tool in an agent?</a:t>
            </a:r>
            <a:endParaRPr lang="en-US" sz="1700" dirty="0"/>
          </a:p>
          <a:p>
            <a:pPr marL="0" indent="0">
              <a:spcAft>
                <a:spcPts val="1200"/>
              </a:spcAft>
              <a:buNone/>
            </a:pPr>
            <a:r>
              <a:rPr lang="en-US" sz="1700" dirty="0">
                <a:solidFill>
                  <a:srgbClr val="1B2B34"/>
                </a:solidFill>
                <a:latin typeface="Calibri" pitchFamily="34" charset="0"/>
                <a:ea typeface="Calibri" pitchFamily="34" charset="-122"/>
                <a:cs typeface="Calibri" pitchFamily="34" charset="-120"/>
              </a:rPr>
              <a:t>5.  Which sequence is the agent loop?</a:t>
            </a:r>
            <a:endParaRPr lang="en-US" sz="17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Words to know</a:t>
            </a:r>
            <a:endParaRPr lang="en-US" sz="3000" dirty="0"/>
          </a:p>
        </p:txBody>
      </p:sp>
      <p:sp>
        <p:nvSpPr>
          <p:cNvPr id="5" name="Shape 2"/>
          <p:cNvSpPr/>
          <p:nvPr/>
        </p:nvSpPr>
        <p:spPr>
          <a:xfrm>
            <a:off x="50292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6" name="Text 3"/>
          <p:cNvSpPr/>
          <p:nvPr/>
        </p:nvSpPr>
        <p:spPr>
          <a:xfrm>
            <a:off x="68580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Stateless</a:t>
            </a:r>
            <a:endParaRPr lang="en-US" sz="1500" dirty="0"/>
          </a:p>
        </p:txBody>
      </p:sp>
      <p:sp>
        <p:nvSpPr>
          <p:cNvPr id="7" name="Text 4"/>
          <p:cNvSpPr/>
          <p:nvPr/>
        </p:nvSpPr>
        <p:spPr>
          <a:xfrm>
            <a:off x="68580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Keeping nothing between calls. An AI model is stateless; the app supplies the memory.</a:t>
            </a:r>
            <a:endParaRPr lang="en-US" sz="1200" dirty="0"/>
          </a:p>
        </p:txBody>
      </p:sp>
      <p:sp>
        <p:nvSpPr>
          <p:cNvPr id="8" name="Shape 5"/>
          <p:cNvSpPr/>
          <p:nvPr/>
        </p:nvSpPr>
        <p:spPr>
          <a:xfrm>
            <a:off x="470916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9" name="Text 6"/>
          <p:cNvSpPr/>
          <p:nvPr/>
        </p:nvSpPr>
        <p:spPr>
          <a:xfrm>
            <a:off x="489204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Conversation history</a:t>
            </a:r>
            <a:endParaRPr lang="en-US" sz="1500" dirty="0"/>
          </a:p>
        </p:txBody>
      </p:sp>
      <p:sp>
        <p:nvSpPr>
          <p:cNvPr id="10" name="Text 7"/>
          <p:cNvSpPr/>
          <p:nvPr/>
        </p:nvSpPr>
        <p:spPr>
          <a:xfrm>
            <a:off x="489204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The list of earlier messages that the app re-sends on each turn.</a:t>
            </a:r>
            <a:endParaRPr lang="en-US" sz="1200" dirty="0"/>
          </a:p>
        </p:txBody>
      </p:sp>
      <p:sp>
        <p:nvSpPr>
          <p:cNvPr id="11" name="Shape 8"/>
          <p:cNvSpPr/>
          <p:nvPr/>
        </p:nvSpPr>
        <p:spPr>
          <a:xfrm>
            <a:off x="50292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2" name="Text 9"/>
          <p:cNvSpPr/>
          <p:nvPr/>
        </p:nvSpPr>
        <p:spPr>
          <a:xfrm>
            <a:off x="68580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Context window</a:t>
            </a:r>
            <a:endParaRPr lang="en-US" sz="1500" dirty="0"/>
          </a:p>
        </p:txBody>
      </p:sp>
      <p:sp>
        <p:nvSpPr>
          <p:cNvPr id="13" name="Text 10"/>
          <p:cNvSpPr/>
          <p:nvPr/>
        </p:nvSpPr>
        <p:spPr>
          <a:xfrm>
            <a:off x="68580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The fixed token limit for one call.</a:t>
            </a:r>
            <a:endParaRPr lang="en-US" sz="1200" dirty="0"/>
          </a:p>
        </p:txBody>
      </p:sp>
      <p:sp>
        <p:nvSpPr>
          <p:cNvPr id="14" name="Shape 11"/>
          <p:cNvSpPr/>
          <p:nvPr/>
        </p:nvSpPr>
        <p:spPr>
          <a:xfrm>
            <a:off x="470916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5" name="Text 12"/>
          <p:cNvSpPr/>
          <p:nvPr/>
        </p:nvSpPr>
        <p:spPr>
          <a:xfrm>
            <a:off x="489204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Summarise</a:t>
            </a:r>
            <a:endParaRPr lang="en-US" sz="1500" dirty="0"/>
          </a:p>
        </p:txBody>
      </p:sp>
      <p:sp>
        <p:nvSpPr>
          <p:cNvPr id="16" name="Text 13"/>
          <p:cNvSpPr/>
          <p:nvPr/>
        </p:nvSpPr>
        <p:spPr>
          <a:xfrm>
            <a:off x="489204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Replace old messages with a short recap to save space.</a:t>
            </a:r>
            <a:endParaRPr lang="en-US" sz="1200" dirty="0"/>
          </a:p>
        </p:txBody>
      </p:sp>
      <p:sp>
        <p:nvSpPr>
          <p:cNvPr id="17" name="Shape 14"/>
          <p:cNvSpPr/>
          <p:nvPr/>
        </p:nvSpPr>
        <p:spPr>
          <a:xfrm>
            <a:off x="50292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8" name="Text 15"/>
          <p:cNvSpPr/>
          <p:nvPr/>
        </p:nvSpPr>
        <p:spPr>
          <a:xfrm>
            <a:off x="68580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Tool</a:t>
            </a:r>
            <a:endParaRPr lang="en-US" sz="1500" dirty="0"/>
          </a:p>
        </p:txBody>
      </p:sp>
      <p:sp>
        <p:nvSpPr>
          <p:cNvPr id="19" name="Text 16"/>
          <p:cNvSpPr/>
          <p:nvPr/>
        </p:nvSpPr>
        <p:spPr>
          <a:xfrm>
            <a:off x="68580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function in your app that the AI can ask for, such as a calculator or a search.</a:t>
            </a:r>
            <a:endParaRPr lang="en-US" sz="1200" dirty="0"/>
          </a:p>
        </p:txBody>
      </p:sp>
      <p:sp>
        <p:nvSpPr>
          <p:cNvPr id="20" name="Shape 17"/>
          <p:cNvSpPr/>
          <p:nvPr/>
        </p:nvSpPr>
        <p:spPr>
          <a:xfrm>
            <a:off x="470916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21" name="Text 18"/>
          <p:cNvSpPr/>
          <p:nvPr/>
        </p:nvSpPr>
        <p:spPr>
          <a:xfrm>
            <a:off x="489204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Tool call</a:t>
            </a:r>
            <a:endParaRPr lang="en-US" sz="1500" dirty="0"/>
          </a:p>
        </p:txBody>
      </p:sp>
      <p:sp>
        <p:nvSpPr>
          <p:cNvPr id="22" name="Text 19"/>
          <p:cNvSpPr/>
          <p:nvPr/>
        </p:nvSpPr>
        <p:spPr>
          <a:xfrm>
            <a:off x="489204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structured request from the AI saying which tool to run and with what inputs.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Recap</a:t>
            </a:r>
            <a:endParaRPr lang="en-US" sz="3000" dirty="0"/>
          </a:p>
        </p:txBody>
      </p:sp>
      <p:sp>
        <p:nvSpPr>
          <p:cNvPr id="5" name="Shape 2"/>
          <p:cNvSpPr/>
          <p:nvPr/>
        </p:nvSpPr>
        <p:spPr>
          <a:xfrm>
            <a:off x="548640" y="12801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649224" y="1380744"/>
            <a:ext cx="256032" cy="256032"/>
          </a:xfrm>
          <a:prstGeom prst="rect">
            <a:avLst/>
          </a:prstGeom>
        </p:spPr>
      </p:pic>
      <p:sp>
        <p:nvSpPr>
          <p:cNvPr id="7" name="Text 3"/>
          <p:cNvSpPr/>
          <p:nvPr/>
        </p:nvSpPr>
        <p:spPr>
          <a:xfrm>
            <a:off x="1234440" y="1252728"/>
            <a:ext cx="7406640" cy="754380"/>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A chat only seems to remember. The app re-sends the whole conversation each time.</a:t>
            </a:r>
            <a:endParaRPr lang="en-US" sz="1600" dirty="0"/>
          </a:p>
        </p:txBody>
      </p:sp>
      <p:sp>
        <p:nvSpPr>
          <p:cNvPr id="8" name="Shape 4"/>
          <p:cNvSpPr/>
          <p:nvPr/>
        </p:nvSpPr>
        <p:spPr>
          <a:xfrm>
            <a:off x="548640" y="20802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9" name="Image 1" descr="icon"/>
          <p:cNvPicPr>
            <a:picLocks noChangeAspect="1"/>
          </p:cNvPicPr>
          <p:nvPr/>
        </p:nvPicPr>
        <p:blipFill>
          <a:blip r:embed="rId3"/>
          <a:stretch>
            <a:fillRect/>
          </a:stretch>
        </p:blipFill>
        <p:spPr>
          <a:xfrm>
            <a:off x="649224" y="2180844"/>
            <a:ext cx="256032" cy="256032"/>
          </a:xfrm>
          <a:prstGeom prst="rect">
            <a:avLst/>
          </a:prstGeom>
        </p:spPr>
      </p:pic>
      <p:sp>
        <p:nvSpPr>
          <p:cNvPr id="10" name="Text 5"/>
          <p:cNvSpPr/>
          <p:nvPr/>
        </p:nvSpPr>
        <p:spPr>
          <a:xfrm>
            <a:off x="1234440" y="2052828"/>
            <a:ext cx="7406640" cy="754380"/>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The context window is a desk. Decide what to keep, summarise or drop.</a:t>
            </a:r>
            <a:endParaRPr lang="en-US" sz="1600" dirty="0"/>
          </a:p>
        </p:txBody>
      </p:sp>
      <p:sp>
        <p:nvSpPr>
          <p:cNvPr id="11" name="Shape 6"/>
          <p:cNvSpPr/>
          <p:nvPr/>
        </p:nvSpPr>
        <p:spPr>
          <a:xfrm>
            <a:off x="548640" y="28803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12" name="Image 2" descr="icon"/>
          <p:cNvPicPr>
            <a:picLocks noChangeAspect="1"/>
          </p:cNvPicPr>
          <p:nvPr/>
        </p:nvPicPr>
        <p:blipFill>
          <a:blip r:embed="rId3"/>
          <a:stretch>
            <a:fillRect/>
          </a:stretch>
        </p:blipFill>
        <p:spPr>
          <a:xfrm>
            <a:off x="649224" y="2980944"/>
            <a:ext cx="256032" cy="256032"/>
          </a:xfrm>
          <a:prstGeom prst="rect">
            <a:avLst/>
          </a:prstGeom>
        </p:spPr>
      </p:pic>
      <p:sp>
        <p:nvSpPr>
          <p:cNvPr id="13" name="Text 7"/>
          <p:cNvSpPr/>
          <p:nvPr/>
        </p:nvSpPr>
        <p:spPr>
          <a:xfrm>
            <a:off x="1234440" y="2852928"/>
            <a:ext cx="7406640" cy="754380"/>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A tool call is a structured request: the model asks, your app acts, and the result goes back.</a:t>
            </a:r>
            <a:endParaRPr lang="en-US" sz="1600" dirty="0"/>
          </a:p>
        </p:txBody>
      </p:sp>
      <p:sp>
        <p:nvSpPr>
          <p:cNvPr id="14" name="Shape 8"/>
          <p:cNvSpPr/>
          <p:nvPr/>
        </p:nvSpPr>
        <p:spPr>
          <a:xfrm>
            <a:off x="548640" y="36804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15" name="Image 3" descr="icon"/>
          <p:cNvPicPr>
            <a:picLocks noChangeAspect="1"/>
          </p:cNvPicPr>
          <p:nvPr/>
        </p:nvPicPr>
        <p:blipFill>
          <a:blip r:embed="rId3"/>
          <a:stretch>
            <a:fillRect/>
          </a:stretch>
        </p:blipFill>
        <p:spPr>
          <a:xfrm>
            <a:off x="649224" y="3781044"/>
            <a:ext cx="256032" cy="256032"/>
          </a:xfrm>
          <a:prstGeom prst="rect">
            <a:avLst/>
          </a:prstGeom>
        </p:spPr>
      </p:pic>
      <p:sp>
        <p:nvSpPr>
          <p:cNvPr id="16" name="Text 9"/>
          <p:cNvSpPr/>
          <p:nvPr/>
        </p:nvSpPr>
        <p:spPr>
          <a:xfrm>
            <a:off x="1234440" y="3653028"/>
            <a:ext cx="7406640" cy="754380"/>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An agent runs that cycle in a loop until the goal is met, with a safety limit.</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31520" y="109728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NEXT TIME</a:t>
            </a:r>
            <a:endParaRPr lang="en-US" sz="1600" dirty="0"/>
          </a:p>
        </p:txBody>
      </p:sp>
      <p:sp>
        <p:nvSpPr>
          <p:cNvPr id="3" name="Text 1"/>
          <p:cNvSpPr/>
          <p:nvPr/>
        </p:nvSpPr>
        <p:spPr>
          <a:xfrm>
            <a:off x="731520" y="1645920"/>
            <a:ext cx="7680960" cy="2377440"/>
          </a:xfrm>
          <a:prstGeom prst="rect">
            <a:avLst/>
          </a:prstGeom>
          <a:noFill/>
          <a:ln/>
        </p:spPr>
        <p:txBody>
          <a:bodyPr wrap="square" lIns="0" tIns="0" rIns="0" bIns="0" rtlCol="0" anchor="t"/>
          <a:lstStyle/>
          <a:p>
            <a:pPr marL="0" indent="0">
              <a:buNone/>
            </a:pPr>
            <a:r>
              <a:rPr lang="en-US" sz="2400" dirty="0">
                <a:solidFill>
                  <a:srgbClr val="FFFFFF"/>
                </a:solidFill>
                <a:latin typeface="Cambria" pitchFamily="34" charset="0"/>
                <a:ea typeface="Cambria" pitchFamily="34" charset="-122"/>
                <a:cs typeface="Cambria" pitchFamily="34" charset="-120"/>
              </a:rPr>
              <a:t>Lesson 5, the Week 1 project: build a small assistant that remembers facts, uses two tools only when needed, and passes a 20-prompt test.</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1725</Words>
  <Application>Microsoft Office PowerPoint</Application>
  <PresentationFormat>On-screen Show (16:9)</PresentationFormat>
  <Paragraphs>138</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4: Memory, context and tools: from chatbot to agent</dc:title>
  <dc:subject>PptxGenJS Presentation</dc:subject>
  <dc:creator>Agentic AI Builder</dc:creator>
  <cp:lastModifiedBy>DEV DOMINIC</cp:lastModifiedBy>
  <cp:revision>2</cp:revision>
  <dcterms:created xsi:type="dcterms:W3CDTF">2026-10-28T23:53:07Z</dcterms:created>
  <dcterms:modified xsi:type="dcterms:W3CDTF">2026-10-28T23:58:03Z</dcterms:modified>
</cp:coreProperties>
</file>