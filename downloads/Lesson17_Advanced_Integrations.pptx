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59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17. It takes about 50 minutes. Send data with POST, split work into sub-workflows, and handle errors without panic.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try the easiest that the service supports.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n8n has no ready-made node for a service, the HTTP Request node can call any web API. You already did this by hand in Lesson 1. Set the method (GET to fetch, POST to send). Paste the URL from the service's documentation. Choose authentication and pick a saved credential. Do not type keys into the node. For POST, switch on Send Body, choose JSON, and fill in the fields the documentation asks for. The double curly braces are expressions from Lesson 9. They fill in the real values for each item.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workflow with fifty boxes is hard to read and harder to fix. Move a repeated or self-contained job into its own workflow, then call it from the main one with the Execute Workflow node. Create a new workflow and start it with the Execute Workflow Trigger node. Build the job after it. In the main workflow add Execute Workflow and choose the sub-workflow. Pass the data it needs as inputs, and read what it returns. Benefits: one fix updates every place that uses it, you can test the piece on its own, and agents can use sub-workflows as tools (Lesson 19).</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Things go wrong: a service is down, a limit is reached, a field is missing. Three tools help.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free testing site, httpbin.org, will answer with whatever status code you ask for: Point an HTTP Request node at the 500 address, switch on retries and an error branch, and watch what happens. Then point it at the 200 address and check that the normal path still works.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HTTP Request. When there is no ready-made node, HTTP Request does the job. 2. To keep workflows short, reuse a job in many places and test it on its own. It is the recipe-card idea: write it once, refer to it. 3. Retry On Fail. Retries help with short outages. 4. It may send the email twice. Retries are safe for reading and risky for actions that cannot be repeated. 5. A separate workflow that runs when another workflow fails. It is the depot manager who gets a report of every failure.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4  ·  LESSON 17</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Advanced integrations</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Send data with POST, split work into sub-workflows, and handle errors without panic.</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t>
            </a:r>
            <a:r>
              <a:rPr lang="en-US" sz="1400">
                <a:solidFill>
                  <a:srgbClr val="E8F3F2"/>
                </a:solidFill>
                <a:latin typeface="Calibri" pitchFamily="34" charset="0"/>
                <a:ea typeface="Calibri" pitchFamily="34" charset="-122"/>
                <a:cs typeface="Calibri" pitchFamily="34" charset="-120"/>
              </a:rPr>
              <a:t>AI Builder</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200" dirty="0">
                <a:solidFill>
                  <a:srgbClr val="FFFFFF"/>
                </a:solidFill>
                <a:latin typeface="Cambria" pitchFamily="34" charset="0"/>
                <a:ea typeface="Cambria" pitchFamily="34" charset="-122"/>
                <a:cs typeface="Cambria" pitchFamily="34" charset="-120"/>
              </a:rPr>
              <a:t>Real workflows must survive real life: services go down, replies come back wrong, and a workflow grows too big to read. This lesson gives you three habits: call APIs properly, split big workflows into small ones, and plan for failure.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Pick the right authentication and send a POST request with JSON from n8n.</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Split a large workflow into reusable sub-workflows.</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Add retries and an error branch so failures are handled, not hidden.</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 choosing authentication</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40690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Pattern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When to use it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API key</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service gives you a key. Simplest. Store it in an n8n credential.</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Pre-configured OAuth2</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n8n has a built-in login for the service (Google Sheets, Gmail).</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Custom OAuth2</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service offers only OAuth2 and n8n has no ready login.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HTTP Request node</a:t>
            </a:r>
            <a:endParaRPr lang="en-US" sz="3000" dirty="0"/>
          </a:p>
        </p:txBody>
      </p:sp>
      <p:sp>
        <p:nvSpPr>
          <p:cNvPr id="5"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Set the method (GET to fetch, POST to send).</a:t>
            </a:r>
            <a:endParaRPr lang="en-US" sz="1800" dirty="0"/>
          </a:p>
        </p:txBody>
      </p:sp>
      <p:sp>
        <p:nvSpPr>
          <p:cNvPr id="8" name="Shape 5"/>
          <p:cNvSpPr/>
          <p:nvPr/>
        </p:nvSpPr>
        <p:spPr>
          <a:xfrm>
            <a:off x="548640" y="1965960"/>
            <a:ext cx="411480" cy="411480"/>
          </a:xfrm>
          <a:prstGeom prst="ellipse">
            <a:avLst/>
          </a:prstGeom>
          <a:solidFill>
            <a:srgbClr val="0B7A75"/>
          </a:solidFill>
          <a:ln w="9525">
            <a:solidFill>
              <a:srgbClr val="0B7A75"/>
            </a:solidFill>
            <a:prstDash val="solid"/>
          </a:ln>
        </p:spPr>
        <p:txBody>
          <a:bodyPr/>
          <a:lstStyle/>
          <a:p>
            <a:endParaRPr lang="en-US"/>
          </a:p>
        </p:txBody>
      </p:sp>
      <p:sp>
        <p:nvSpPr>
          <p:cNvPr id="9"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Paste the URL from the service's documentation.</a:t>
            </a:r>
            <a:endParaRPr lang="en-US" sz="1800" dirty="0"/>
          </a:p>
        </p:txBody>
      </p:sp>
      <p:sp>
        <p:nvSpPr>
          <p:cNvPr id="11" name="Shape 8"/>
          <p:cNvSpPr/>
          <p:nvPr/>
        </p:nvSpPr>
        <p:spPr>
          <a:xfrm>
            <a:off x="548640" y="2651760"/>
            <a:ext cx="411480" cy="411480"/>
          </a:xfrm>
          <a:prstGeom prst="ellipse">
            <a:avLst/>
          </a:prstGeom>
          <a:solidFill>
            <a:srgbClr val="0B7A75"/>
          </a:solidFill>
          <a:ln w="9525">
            <a:solidFill>
              <a:srgbClr val="0B7A75"/>
            </a:solidFill>
            <a:prstDash val="solid"/>
          </a:ln>
        </p:spPr>
        <p:txBody>
          <a:bodyPr/>
          <a:lstStyle/>
          <a:p>
            <a:endParaRPr lang="en-US"/>
          </a:p>
        </p:txBody>
      </p:sp>
      <p:sp>
        <p:nvSpPr>
          <p:cNvPr id="12" name="Text 9"/>
          <p:cNvSpPr/>
          <p:nvPr/>
        </p:nvSpPr>
        <p:spPr>
          <a:xfrm>
            <a:off x="548640" y="2651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6334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Choose authentication and pick a saved credential. Do not type keys into the node.</a:t>
            </a:r>
            <a:endParaRPr lang="en-US" sz="1800" dirty="0"/>
          </a:p>
        </p:txBody>
      </p:sp>
      <p:sp>
        <p:nvSpPr>
          <p:cNvPr id="14" name="Shape 11"/>
          <p:cNvSpPr/>
          <p:nvPr/>
        </p:nvSpPr>
        <p:spPr>
          <a:xfrm>
            <a:off x="548640" y="3337560"/>
            <a:ext cx="411480" cy="411480"/>
          </a:xfrm>
          <a:prstGeom prst="ellipse">
            <a:avLst/>
          </a:prstGeom>
          <a:solidFill>
            <a:srgbClr val="0B7A75"/>
          </a:solidFill>
          <a:ln w="9525">
            <a:solidFill>
              <a:srgbClr val="0B7A75"/>
            </a:solidFill>
            <a:prstDash val="solid"/>
          </a:ln>
        </p:spPr>
        <p:txBody>
          <a:bodyPr/>
          <a:lstStyle/>
          <a:p>
            <a:endParaRPr lang="en-US"/>
          </a:p>
        </p:txBody>
      </p:sp>
      <p:sp>
        <p:nvSpPr>
          <p:cNvPr id="15" name="Text 12"/>
          <p:cNvSpPr/>
          <p:nvPr/>
        </p:nvSpPr>
        <p:spPr>
          <a:xfrm>
            <a:off x="548640" y="3337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3192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For POST, switch on Send Body, choose JSON, and fill in the fields the documentation asks for.</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5"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8"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A recipe card</a:t>
            </a:r>
            <a:endParaRPr lang="en-US" sz="2200" dirty="0"/>
          </a:p>
        </p:txBody>
      </p:sp>
      <p:sp>
        <p:nvSpPr>
          <p:cNvPr id="9"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A big cookbook says “make the sauce (page 12)” instead of repeating the sauce steps in every recipe. A sub-workflow is page 12.</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Sub-workflows: small pieces you can reuse</a:t>
            </a:r>
            <a:endParaRPr lang="en-US" sz="2600" dirty="0"/>
          </a:p>
        </p:txBody>
      </p:sp>
      <p:sp>
        <p:nvSpPr>
          <p:cNvPr id="4" name="Shape 2"/>
          <p:cNvSpPr/>
          <p:nvPr/>
        </p:nvSpPr>
        <p:spPr>
          <a:xfrm>
            <a:off x="502920" y="1280160"/>
            <a:ext cx="8138160" cy="2405088"/>
          </a:xfrm>
          <a:prstGeom prst="roundRect">
            <a:avLst>
              <a:gd name="adj" fmla="val 3802"/>
            </a:avLst>
          </a:prstGeom>
          <a:solidFill>
            <a:srgbClr val="FFFFFF"/>
          </a:solidFill>
          <a:ln w="12700">
            <a:solidFill>
              <a:srgbClr val="CFE3E1"/>
            </a:solidFill>
            <a:prstDash val="solid"/>
          </a:ln>
        </p:spPr>
        <p:txBody>
          <a:bodyPr/>
          <a:lstStyle/>
          <a:p>
            <a:endParaRPr lang="en-US"/>
          </a:p>
        </p:txBody>
      </p:sp>
      <p:pic>
        <p:nvPicPr>
          <p:cNvPr id="5" name="Image 0" descr="The main workflow stays short. The details live in one place."/>
          <p:cNvPicPr>
            <a:picLocks noChangeAspect="1"/>
          </p:cNvPicPr>
          <p:nvPr/>
        </p:nvPicPr>
        <p:blipFill>
          <a:blip r:embed="rId3"/>
          <a:stretch>
            <a:fillRect/>
          </a:stretch>
        </p:blipFill>
        <p:spPr>
          <a:xfrm>
            <a:off x="502920" y="1417320"/>
            <a:ext cx="8138160" cy="2130768"/>
          </a:xfrm>
          <a:prstGeom prst="rect">
            <a:avLst/>
          </a:prstGeom>
        </p:spPr>
      </p:pic>
      <p:sp>
        <p:nvSpPr>
          <p:cNvPr id="6" name="Text 3"/>
          <p:cNvSpPr/>
          <p:nvPr/>
        </p:nvSpPr>
        <p:spPr>
          <a:xfrm>
            <a:off x="502920" y="3822408"/>
            <a:ext cx="8138160" cy="274320"/>
          </a:xfrm>
          <a:prstGeom prst="rect">
            <a:avLst/>
          </a:prstGeom>
          <a:noFill/>
          <a:ln/>
        </p:spPr>
        <p:txBody>
          <a:bodyPr wrap="square" lIns="0" tIns="0" rIns="0" bIns="0" rtlCol="0" anchor="t"/>
          <a:lstStyle/>
          <a:p>
            <a:pPr marL="0" indent="0" algn="ctr">
              <a:buNone/>
            </a:pPr>
            <a:r>
              <a:rPr lang="en-US" sz="1400" i="1" dirty="0">
                <a:solidFill>
                  <a:srgbClr val="5B6B73"/>
                </a:solidFill>
                <a:latin typeface="Calibri" pitchFamily="34" charset="0"/>
                <a:ea typeface="Calibri" pitchFamily="34" charset="-122"/>
                <a:cs typeface="Calibri" pitchFamily="34" charset="-120"/>
              </a:rPr>
              <a:t>The main workflow stays short. The details live in one place.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Sub-workflows: small pieces you can reuse</a:t>
            </a:r>
            <a:endParaRPr lang="en-US" sz="2600" dirty="0"/>
          </a:p>
        </p:txBody>
      </p:sp>
      <p:sp>
        <p:nvSpPr>
          <p:cNvPr id="4"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5"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Create a new workflow and start it with the Execute Workflow Trigger node. Build the job after it.</a:t>
            </a:r>
            <a:endParaRPr lang="en-US" sz="1800" dirty="0"/>
          </a:p>
        </p:txBody>
      </p:sp>
      <p:sp>
        <p:nvSpPr>
          <p:cNvPr id="7" name="Shape 5"/>
          <p:cNvSpPr/>
          <p:nvPr/>
        </p:nvSpPr>
        <p:spPr>
          <a:xfrm>
            <a:off x="548640" y="1965960"/>
            <a:ext cx="411480" cy="411480"/>
          </a:xfrm>
          <a:prstGeom prst="ellipse">
            <a:avLst/>
          </a:prstGeom>
          <a:solidFill>
            <a:srgbClr val="0B7A75"/>
          </a:solidFill>
          <a:ln w="9525">
            <a:solidFill>
              <a:srgbClr val="0B7A75"/>
            </a:solidFill>
            <a:prstDash val="solid"/>
          </a:ln>
        </p:spPr>
        <p:txBody>
          <a:bodyPr/>
          <a:lstStyle/>
          <a:p>
            <a:endParaRPr lang="en-US"/>
          </a:p>
        </p:txBody>
      </p:sp>
      <p:sp>
        <p:nvSpPr>
          <p:cNvPr id="8"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In the main workflow add Execute Workflow and choose the sub-workflow.</a:t>
            </a:r>
            <a:endParaRPr lang="en-US" sz="1800" dirty="0"/>
          </a:p>
        </p:txBody>
      </p:sp>
      <p:sp>
        <p:nvSpPr>
          <p:cNvPr id="10" name="Shape 8"/>
          <p:cNvSpPr/>
          <p:nvPr/>
        </p:nvSpPr>
        <p:spPr>
          <a:xfrm>
            <a:off x="548640" y="2651760"/>
            <a:ext cx="411480" cy="411480"/>
          </a:xfrm>
          <a:prstGeom prst="ellipse">
            <a:avLst/>
          </a:prstGeom>
          <a:solidFill>
            <a:srgbClr val="0B7A75"/>
          </a:solidFill>
          <a:ln w="9525">
            <a:solidFill>
              <a:srgbClr val="0B7A75"/>
            </a:solidFill>
            <a:prstDash val="solid"/>
          </a:ln>
        </p:spPr>
        <p:txBody>
          <a:bodyPr/>
          <a:lstStyle/>
          <a:p>
            <a:endParaRPr lang="en-US"/>
          </a:p>
        </p:txBody>
      </p:sp>
      <p:sp>
        <p:nvSpPr>
          <p:cNvPr id="11" name="Text 9"/>
          <p:cNvSpPr/>
          <p:nvPr/>
        </p:nvSpPr>
        <p:spPr>
          <a:xfrm>
            <a:off x="548640" y="2651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43000" y="26334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Pass the data it needs as inputs, and read what it returns.</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Planning for failure</a:t>
            </a:r>
            <a:endParaRPr lang="en-US" sz="3000" dirty="0"/>
          </a:p>
        </p:txBody>
      </p:sp>
      <p:sp>
        <p:nvSpPr>
          <p:cNvPr id="5" name="Shape 2"/>
          <p:cNvSpPr/>
          <p:nvPr/>
        </p:nvSpPr>
        <p:spPr>
          <a:xfrm>
            <a:off x="502920" y="1280160"/>
            <a:ext cx="2560320" cy="310896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502920" y="1280160"/>
            <a:ext cx="2560320" cy="91440"/>
          </a:xfrm>
          <a:prstGeom prst="rect">
            <a:avLst/>
          </a:prstGeom>
          <a:solidFill>
            <a:srgbClr val="0B7A75"/>
          </a:solidFill>
          <a:ln w="12700">
            <a:solidFill>
              <a:srgbClr val="0B7A75"/>
            </a:solidFill>
            <a:prstDash val="solid"/>
          </a:ln>
        </p:spPr>
        <p:txBody>
          <a:bodyPr/>
          <a:lstStyle/>
          <a:p>
            <a:endParaRPr lang="en-US"/>
          </a:p>
        </p:txBody>
      </p:sp>
      <p:sp>
        <p:nvSpPr>
          <p:cNvPr id="7" name="Text 4"/>
          <p:cNvSpPr/>
          <p:nvPr/>
        </p:nvSpPr>
        <p:spPr>
          <a:xfrm>
            <a:off x="731520" y="1554480"/>
            <a:ext cx="2103120" cy="731520"/>
          </a:xfrm>
          <a:prstGeom prst="rect">
            <a:avLst/>
          </a:prstGeom>
          <a:noFill/>
          <a:ln/>
        </p:spPr>
        <p:txBody>
          <a:bodyPr wrap="square" lIns="0" tIns="0" rIns="0" bIns="0" rtlCol="0" anchor="t"/>
          <a:lstStyle/>
          <a:p>
            <a:pPr marL="0" indent="0">
              <a:buNone/>
            </a:pPr>
            <a:r>
              <a:rPr lang="en-US" sz="1800" b="1" dirty="0">
                <a:solidFill>
                  <a:srgbClr val="0B4F5C"/>
                </a:solidFill>
                <a:latin typeface="Cambria" pitchFamily="34" charset="0"/>
                <a:ea typeface="Cambria" pitchFamily="34" charset="-122"/>
                <a:cs typeface="Cambria" pitchFamily="34" charset="-120"/>
              </a:rPr>
              <a:t>1. Retry on fail</a:t>
            </a:r>
            <a:endParaRPr lang="en-US" sz="1800" dirty="0"/>
          </a:p>
        </p:txBody>
      </p:sp>
      <p:sp>
        <p:nvSpPr>
          <p:cNvPr id="8" name="Text 5"/>
          <p:cNvSpPr/>
          <p:nvPr/>
        </p:nvSpPr>
        <p:spPr>
          <a:xfrm>
            <a:off x="731520" y="2331720"/>
            <a:ext cx="2103120" cy="192024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In a node's settings, switch on Retry On Fail, and set how many tries and how long to wait.</a:t>
            </a:r>
            <a:endParaRPr lang="en-US" sz="1500" dirty="0"/>
          </a:p>
        </p:txBody>
      </p:sp>
      <p:sp>
        <p:nvSpPr>
          <p:cNvPr id="9" name="Shape 6"/>
          <p:cNvSpPr/>
          <p:nvPr/>
        </p:nvSpPr>
        <p:spPr>
          <a:xfrm>
            <a:off x="3291840" y="1280160"/>
            <a:ext cx="2560320" cy="310896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7"/>
          <p:cNvSpPr/>
          <p:nvPr/>
        </p:nvSpPr>
        <p:spPr>
          <a:xfrm>
            <a:off x="3291840" y="1280160"/>
            <a:ext cx="2560320" cy="91440"/>
          </a:xfrm>
          <a:prstGeom prst="rect">
            <a:avLst/>
          </a:prstGeom>
          <a:solidFill>
            <a:srgbClr val="0B7A75"/>
          </a:solidFill>
          <a:ln w="12700">
            <a:solidFill>
              <a:srgbClr val="0B7A75"/>
            </a:solidFill>
            <a:prstDash val="solid"/>
          </a:ln>
        </p:spPr>
        <p:txBody>
          <a:bodyPr/>
          <a:lstStyle/>
          <a:p>
            <a:endParaRPr lang="en-US"/>
          </a:p>
        </p:txBody>
      </p:sp>
      <p:sp>
        <p:nvSpPr>
          <p:cNvPr id="11" name="Text 8"/>
          <p:cNvSpPr/>
          <p:nvPr/>
        </p:nvSpPr>
        <p:spPr>
          <a:xfrm>
            <a:off x="3520440" y="1554480"/>
            <a:ext cx="2103120" cy="731520"/>
          </a:xfrm>
          <a:prstGeom prst="rect">
            <a:avLst/>
          </a:prstGeom>
          <a:noFill/>
          <a:ln/>
        </p:spPr>
        <p:txBody>
          <a:bodyPr wrap="square" lIns="0" tIns="0" rIns="0" bIns="0" rtlCol="0" anchor="t"/>
          <a:lstStyle/>
          <a:p>
            <a:pPr marL="0" indent="0">
              <a:buNone/>
            </a:pPr>
            <a:r>
              <a:rPr lang="en-US" sz="1800" b="1" dirty="0">
                <a:solidFill>
                  <a:srgbClr val="0B4F5C"/>
                </a:solidFill>
                <a:latin typeface="Cambria" pitchFamily="34" charset="0"/>
                <a:ea typeface="Cambria" pitchFamily="34" charset="-122"/>
                <a:cs typeface="Cambria" pitchFamily="34" charset="-120"/>
              </a:rPr>
              <a:t>2. Continue on error</a:t>
            </a:r>
            <a:endParaRPr lang="en-US" sz="1800" dirty="0"/>
          </a:p>
        </p:txBody>
      </p:sp>
      <p:sp>
        <p:nvSpPr>
          <p:cNvPr id="12" name="Text 9"/>
          <p:cNvSpPr/>
          <p:nvPr/>
        </p:nvSpPr>
        <p:spPr>
          <a:xfrm>
            <a:off x="3520440" y="2331720"/>
            <a:ext cx="2103120" cy="192024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Setting for a node: On Error, choose to continue using the error output.</a:t>
            </a:r>
            <a:endParaRPr lang="en-US" sz="1500" dirty="0"/>
          </a:p>
        </p:txBody>
      </p:sp>
      <p:sp>
        <p:nvSpPr>
          <p:cNvPr id="13" name="Shape 10"/>
          <p:cNvSpPr/>
          <p:nvPr/>
        </p:nvSpPr>
        <p:spPr>
          <a:xfrm>
            <a:off x="6080760" y="1280160"/>
            <a:ext cx="2560320" cy="310896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11"/>
          <p:cNvSpPr/>
          <p:nvPr/>
        </p:nvSpPr>
        <p:spPr>
          <a:xfrm>
            <a:off x="6080760" y="1280160"/>
            <a:ext cx="2560320" cy="91440"/>
          </a:xfrm>
          <a:prstGeom prst="rect">
            <a:avLst/>
          </a:prstGeom>
          <a:solidFill>
            <a:srgbClr val="0B7A75"/>
          </a:solidFill>
          <a:ln w="12700">
            <a:solidFill>
              <a:srgbClr val="0B7A75"/>
            </a:solidFill>
            <a:prstDash val="solid"/>
          </a:ln>
        </p:spPr>
        <p:txBody>
          <a:bodyPr/>
          <a:lstStyle/>
          <a:p>
            <a:endParaRPr lang="en-US"/>
          </a:p>
        </p:txBody>
      </p:sp>
      <p:sp>
        <p:nvSpPr>
          <p:cNvPr id="15" name="Text 12"/>
          <p:cNvSpPr/>
          <p:nvPr/>
        </p:nvSpPr>
        <p:spPr>
          <a:xfrm>
            <a:off x="6309360" y="1554480"/>
            <a:ext cx="2103120" cy="731520"/>
          </a:xfrm>
          <a:prstGeom prst="rect">
            <a:avLst/>
          </a:prstGeom>
          <a:noFill/>
          <a:ln/>
        </p:spPr>
        <p:txBody>
          <a:bodyPr wrap="square" lIns="0" tIns="0" rIns="0" bIns="0" rtlCol="0" anchor="t"/>
          <a:lstStyle/>
          <a:p>
            <a:pPr marL="0" indent="0">
              <a:buNone/>
            </a:pPr>
            <a:r>
              <a:rPr lang="en-US" sz="1800" b="1" dirty="0">
                <a:solidFill>
                  <a:srgbClr val="0B4F5C"/>
                </a:solidFill>
                <a:latin typeface="Cambria" pitchFamily="34" charset="0"/>
                <a:ea typeface="Cambria" pitchFamily="34" charset="-122"/>
                <a:cs typeface="Cambria" pitchFamily="34" charset="-120"/>
              </a:rPr>
              <a:t>3. Error workflow</a:t>
            </a:r>
            <a:endParaRPr lang="en-US" sz="1800" dirty="0"/>
          </a:p>
        </p:txBody>
      </p:sp>
      <p:sp>
        <p:nvSpPr>
          <p:cNvPr id="16" name="Text 13"/>
          <p:cNvSpPr/>
          <p:nvPr/>
        </p:nvSpPr>
        <p:spPr>
          <a:xfrm>
            <a:off x="6309360" y="2331720"/>
            <a:ext cx="2103120" cy="192024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A separate workflow that starts whenever any workflow fails, and alerts you. Use the Error Trigger node.</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A delivery</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If nobody answers the door, the courier tries again later (retry). If it still fails, they leave a note and carry on with other parcels (error branch). The depot manager gets a report of every failed delivery (error workflow).</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Do not retry blindly</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2200" dirty="0">
                <a:solidFill>
                  <a:srgbClr val="1B2B34"/>
                </a:solidFill>
                <a:latin typeface="Calibri" pitchFamily="34" charset="0"/>
                <a:ea typeface="Calibri" pitchFamily="34" charset="-122"/>
                <a:cs typeface="Calibri" pitchFamily="34" charset="-120"/>
              </a:rPr>
              <a:t>Retrying is safe for reading data. It can be dangerous for actions like sending money or emails, because a retry may do the action twice. Think about what repeating the step would do.</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Test your error handling on purpose</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40690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URL</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https://httpbin.org/status/500</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Always fails with a server error (500)</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https://httpbin.org/status/429</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Says “too many requests” (429)</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https://httpbin.org/status/200</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Succeeds (200)</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Build a workflow that sends data to an API with POST, uses a sub-workflow for one step, and handles a failure by logging it and carrying on.</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STEPS</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HTTP Request node: POST a small JSON body to https://httpbin.org/post (a safe test address that…</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Move the step that formats the message into a sub-workflow, and call it.</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Add a second HTTP Request to https://httpbin.org/status/500 with retries on and an error branch.</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On the error branch, write a row to a sheet, or set a field such as failed…</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1.  Which node can call almost any web API?</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2.  Why use a sub-workflow?</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3.  Which setting makes a node try again after a failure?</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4.  What is risky about retrying a step that sends an email?</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5.  What does the Error Trigger node start?</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HTTP Request node</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An n8n node that calls any web API.</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Request body</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data sent along with a POST request, usually JSON.</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Status code</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number in the reply that says how it went: 200 worked, 4xx your mistake, 5xx their…</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Sub-workflow</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workflow called by another workflow, like a reusable recipe card.</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Execute Workflow</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n8n node that runs another workflow.</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Retry On Fail</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node setting that tries the step again after an error.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Use the easiest authentication the service offers, and keep keys in credentials.</a:t>
            </a:r>
            <a:endParaRPr lang="en-US" sz="1800" dirty="0"/>
          </a:p>
        </p:txBody>
      </p:sp>
      <p:sp>
        <p:nvSpPr>
          <p:cNvPr id="8" name="Shape 4"/>
          <p:cNvSpPr/>
          <p:nvPr/>
        </p:nvSpPr>
        <p:spPr>
          <a:xfrm>
            <a:off x="548640" y="23469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Split big workflows into sub-workflows you can reuse and test separately.</a:t>
            </a:r>
            <a:endParaRPr lang="en-US" sz="1800" dirty="0"/>
          </a:p>
        </p:txBody>
      </p:sp>
      <p:sp>
        <p:nvSpPr>
          <p:cNvPr id="11" name="Shape 6"/>
          <p:cNvSpPr/>
          <p:nvPr/>
        </p:nvSpPr>
        <p:spPr>
          <a:xfrm>
            <a:off x="548640" y="34137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Plan for failure: retries for short outages, error branches to carry on, and an error workflow to alert you.</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18, MCP: a standard plug that lets agents use outside tools without custom wiring.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1547</Words>
  <Application>Microsoft Office PowerPoint</Application>
  <PresentationFormat>On-screen Show (16:9)</PresentationFormat>
  <Paragraphs>137</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17: Advanced integrations</dc:title>
  <dc:subject>PptxGenJS Presentation</dc:subject>
  <dc:creator>Agentic AI Builder</dc:creator>
  <cp:lastModifiedBy>DEV DOMINIC</cp:lastModifiedBy>
  <cp:revision>2</cp:revision>
  <dcterms:created xsi:type="dcterms:W3CDTF">2026-10-28T23:53:08Z</dcterms:created>
  <dcterms:modified xsi:type="dcterms:W3CDTF">2026-10-29T00:02:56Z</dcterms:modified>
</cp:coreProperties>
</file>