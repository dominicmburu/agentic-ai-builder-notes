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326710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This is Lesson 11. It takes about 40 minutes. Build an AI that you can talk to, and find where it gets slow or goes off topic. Remind students they can reread the notes on the course site afterwards.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slowly in your own words, then ask: what is the one word that sticks out for you?</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goals aloud. Come back to them in the recap and ask who can now do each one.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ElevenLabs is a company, founded in 2022, that is a leader in generating realistic audio. It has two parts that are easy to mix up: Pricing: there is a generous free tier, and paid plans are monthly. Check the pricing page for current limits before you plan a big test.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decide whether it feels natural: Latency. The pause between you finishing and the agent starting to answer. Long pauses feel awkward, like a bad phone line. Turn-taking. Knowing when you are done speaking and when you want to interrupt.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prompt for voice differs from a prompt for chat. Spoken answers must be short and direct, because long ones sound unnatural and take longer to say. Ask for short sentences and a maximum length. Ask for one question at a time. No bullet points, emoji, or formatting symbols. They sound strange when read aloud. Tell it what to do when it does not know. Give it a first message, the greeting it says when a call begins.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Create an account on the ElevenLabs website and open the Agents area. Choose Create an agent and give it a name. Paste your first message and your system prompt. Pick a voice that suits the job. Listen to a few. Warm and clear usually beats dramatic. Choose the language, and the language model if the settings offer a choice. Faster models usually mean lower latency. Use the test button to talk to it in your browser. Allow the microphone when your browser asks.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time to work. Walk around, and look at what they have rather than waiting for questions.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each question aloud before showing options. Answers: 1. The creative platform generates audio. The agents platform runs a live conversation. One is like hiring a voice-over artist. The other is like hiring a receptionist. 2. Listen (speech to text), think (language model), speak (text to speech). Ears, brain, mouth. 3. Short, direct sentences. Short answers sound natural and arrive faster. 4. The delay between you finishing speaking and the agent starting to answer. Every step in the pipeline adds a little delay, and the total is what you feel. 5. Add a clear rule to the prompt, then ask the same questions again. Fix one thing, then re-test with the same questions.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each word as you say it. Ask students to explain two of them to the person beside them.</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say each point back to you in their own words.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students what to prepare, for example an account to create or something to install, so the next lesson starts smoothly.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4F5C"/>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48640" y="914400"/>
            <a:ext cx="6035040" cy="320040"/>
          </a:xfrm>
          <a:prstGeom prst="rect">
            <a:avLst/>
          </a:prstGeom>
          <a:noFill/>
          <a:ln/>
        </p:spPr>
        <p:txBody>
          <a:bodyPr wrap="square" lIns="0" tIns="0" rIns="0" bIns="0" rtlCol="0" anchor="t"/>
          <a:lstStyle/>
          <a:p>
            <a:pPr marL="0" indent="0">
              <a:buNone/>
            </a:pPr>
            <a:r>
              <a:rPr lang="en-US" sz="1600" b="1" dirty="0">
                <a:solidFill>
                  <a:srgbClr val="F4B942"/>
                </a:solidFill>
                <a:latin typeface="Calibri" pitchFamily="34" charset="0"/>
                <a:ea typeface="Calibri" pitchFamily="34" charset="-122"/>
                <a:cs typeface="Calibri" pitchFamily="34" charset="-120"/>
              </a:rPr>
              <a:t>WEEK 3  ·  LESSON 11</a:t>
            </a:r>
            <a:endParaRPr lang="en-US" sz="1600" dirty="0"/>
          </a:p>
        </p:txBody>
      </p:sp>
      <p:sp>
        <p:nvSpPr>
          <p:cNvPr id="3" name="Text 1"/>
          <p:cNvSpPr/>
          <p:nvPr/>
        </p:nvSpPr>
        <p:spPr>
          <a:xfrm>
            <a:off x="548640" y="1371600"/>
            <a:ext cx="5943600" cy="1645920"/>
          </a:xfrm>
          <a:prstGeom prst="rect">
            <a:avLst/>
          </a:prstGeom>
          <a:noFill/>
          <a:ln/>
        </p:spPr>
        <p:txBody>
          <a:bodyPr wrap="square" lIns="0" tIns="0" rIns="0" bIns="0" rtlCol="0" anchor="t"/>
          <a:lstStyle/>
          <a:p>
            <a:pPr marL="0" indent="0">
              <a:buNone/>
            </a:pPr>
            <a:r>
              <a:rPr lang="en-US" sz="3800" b="1" dirty="0">
                <a:solidFill>
                  <a:srgbClr val="FFFFFF"/>
                </a:solidFill>
                <a:latin typeface="Cambria" pitchFamily="34" charset="0"/>
                <a:ea typeface="Cambria" pitchFamily="34" charset="-122"/>
                <a:cs typeface="Cambria" pitchFamily="34" charset="-120"/>
              </a:rPr>
              <a:t>Voice agents with ElevenLabs</a:t>
            </a:r>
            <a:endParaRPr lang="en-US" sz="3800" dirty="0"/>
          </a:p>
        </p:txBody>
      </p:sp>
      <p:sp>
        <p:nvSpPr>
          <p:cNvPr id="4" name="Text 2"/>
          <p:cNvSpPr/>
          <p:nvPr/>
        </p:nvSpPr>
        <p:spPr>
          <a:xfrm>
            <a:off x="548640" y="3154680"/>
            <a:ext cx="5943600" cy="822960"/>
          </a:xfrm>
          <a:prstGeom prst="rect">
            <a:avLst/>
          </a:prstGeom>
          <a:noFill/>
          <a:ln/>
        </p:spPr>
        <p:txBody>
          <a:bodyPr wrap="square" lIns="0" tIns="0" rIns="0" bIns="0" rtlCol="0" anchor="t"/>
          <a:lstStyle/>
          <a:p>
            <a:pPr marL="0" indent="0">
              <a:buNone/>
            </a:pPr>
            <a:r>
              <a:rPr lang="en-US" sz="1800" dirty="0">
                <a:solidFill>
                  <a:srgbClr val="E8F3F2"/>
                </a:solidFill>
                <a:latin typeface="Calibri" pitchFamily="34" charset="0"/>
                <a:ea typeface="Calibri" pitchFamily="34" charset="-122"/>
                <a:cs typeface="Calibri" pitchFamily="34" charset="-120"/>
              </a:rPr>
              <a:t>Build an AI that you can talk to, and find where it gets slow or goes off topic.</a:t>
            </a:r>
            <a:endParaRPr lang="en-US" sz="1800" dirty="0"/>
          </a:p>
        </p:txBody>
      </p:sp>
      <p:sp>
        <p:nvSpPr>
          <p:cNvPr id="5" name="Text 3"/>
          <p:cNvSpPr/>
          <p:nvPr/>
        </p:nvSpPr>
        <p:spPr>
          <a:xfrm>
            <a:off x="548640" y="4343400"/>
            <a:ext cx="5943600" cy="320040"/>
          </a:xfrm>
          <a:prstGeom prst="rect">
            <a:avLst/>
          </a:prstGeom>
          <a:noFill/>
          <a:ln/>
        </p:spPr>
        <p:txBody>
          <a:bodyPr wrap="square" lIns="0" tIns="0" rIns="0" bIns="0" rtlCol="0" anchor="t"/>
          <a:lstStyle/>
          <a:p>
            <a:pPr marL="0" indent="0">
              <a:buNone/>
            </a:pPr>
            <a:r>
              <a:rPr lang="en-US" sz="1400" dirty="0">
                <a:solidFill>
                  <a:srgbClr val="E8F3F2"/>
                </a:solidFill>
                <a:latin typeface="Calibri" pitchFamily="34" charset="0"/>
                <a:ea typeface="Calibri" pitchFamily="34" charset="-122"/>
                <a:cs typeface="Calibri" pitchFamily="34" charset="-120"/>
              </a:rPr>
              <a:t>Agentic AI Builder</a:t>
            </a:r>
            <a:endParaRPr lang="en-US" sz="1400" dirty="0"/>
          </a:p>
        </p:txBody>
      </p:sp>
      <p:sp>
        <p:nvSpPr>
          <p:cNvPr id="6" name="Shape 4"/>
          <p:cNvSpPr/>
          <p:nvPr/>
        </p:nvSpPr>
        <p:spPr>
          <a:xfrm>
            <a:off x="6858000" y="1463040"/>
            <a:ext cx="1737360" cy="1737360"/>
          </a:xfrm>
          <a:prstGeom prst="ellipse">
            <a:avLst/>
          </a:prstGeom>
          <a:solidFill>
            <a:srgbClr val="0B7A75"/>
          </a:solidFill>
          <a:ln w="9525">
            <a:solidFill>
              <a:srgbClr val="0B7A75"/>
            </a:solidFill>
            <a:prstDash val="solid"/>
          </a:ln>
        </p:spPr>
        <p:txBody>
          <a:bodyPr/>
          <a:lstStyle/>
          <a:p>
            <a:endParaRPr lang="en-US"/>
          </a:p>
        </p:txBody>
      </p:sp>
      <p:pic>
        <p:nvPicPr>
          <p:cNvPr id="7" name="Image 0" descr="Robot icon"/>
          <p:cNvPicPr>
            <a:picLocks noChangeAspect="1"/>
          </p:cNvPicPr>
          <p:nvPr/>
        </p:nvPicPr>
        <p:blipFill>
          <a:blip r:embed="rId3"/>
          <a:stretch>
            <a:fillRect/>
          </a:stretch>
        </p:blipFill>
        <p:spPr>
          <a:xfrm>
            <a:off x="7242048" y="1847088"/>
            <a:ext cx="969264" cy="96926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31520" y="731520"/>
            <a:ext cx="7315200" cy="365760"/>
          </a:xfrm>
          <a:prstGeom prst="rect">
            <a:avLst/>
          </a:prstGeom>
          <a:noFill/>
          <a:ln/>
        </p:spPr>
        <p:txBody>
          <a:bodyPr wrap="square" lIns="0" tIns="0" rIns="0" bIns="0" rtlCol="0" anchor="t"/>
          <a:lstStyle/>
          <a:p>
            <a:pPr marL="0" indent="0">
              <a:buNone/>
            </a:pPr>
            <a:r>
              <a:rPr lang="en-US" sz="1600" b="1" dirty="0">
                <a:solidFill>
                  <a:srgbClr val="F4B942"/>
                </a:solidFill>
                <a:latin typeface="Calibri" pitchFamily="34" charset="0"/>
                <a:ea typeface="Calibri" pitchFamily="34" charset="-122"/>
                <a:cs typeface="Calibri" pitchFamily="34" charset="-120"/>
              </a:rPr>
              <a:t>THE BIG IDEA</a:t>
            </a:r>
            <a:endParaRPr lang="en-US" sz="1600" dirty="0"/>
          </a:p>
        </p:txBody>
      </p:sp>
      <p:sp>
        <p:nvSpPr>
          <p:cNvPr id="3" name="Text 1"/>
          <p:cNvSpPr/>
          <p:nvPr/>
        </p:nvSpPr>
        <p:spPr>
          <a:xfrm>
            <a:off x="731520" y="1280160"/>
            <a:ext cx="7680960" cy="3017520"/>
          </a:xfrm>
          <a:prstGeom prst="rect">
            <a:avLst/>
          </a:prstGeom>
          <a:noFill/>
          <a:ln/>
        </p:spPr>
        <p:txBody>
          <a:bodyPr wrap="square" lIns="0" tIns="0" rIns="0" bIns="0" rtlCol="0" anchor="ctr"/>
          <a:lstStyle/>
          <a:p>
            <a:pPr marL="0" indent="0">
              <a:buNone/>
            </a:pPr>
            <a:r>
              <a:rPr lang="en-US" sz="2600" dirty="0">
                <a:solidFill>
                  <a:srgbClr val="FFFFFF"/>
                </a:solidFill>
                <a:latin typeface="Cambria" pitchFamily="34" charset="0"/>
                <a:ea typeface="Cambria" pitchFamily="34" charset="-122"/>
                <a:cs typeface="Cambria" pitchFamily="34" charset="-120"/>
              </a:rPr>
              <a:t>A voice agent is the same AI you already know, with ears and a mouth added. It listens, thinks, then speaks. What makes it feel good or bad is speed and turn-taking.</a:t>
            </a:r>
            <a:endParaRPr lang="en-US" sz="2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By the end you can…</a:t>
            </a:r>
            <a:endParaRPr lang="en-US" sz="3000" dirty="0"/>
          </a:p>
        </p:txBody>
      </p:sp>
      <p:sp>
        <p:nvSpPr>
          <p:cNvPr id="5" name="Shape 2"/>
          <p:cNvSpPr/>
          <p:nvPr/>
        </p:nvSpPr>
        <p:spPr>
          <a:xfrm>
            <a:off x="502920" y="1371600"/>
            <a:ext cx="2560320" cy="2743200"/>
          </a:xfrm>
          <a:prstGeom prst="roundRect">
            <a:avLst>
              <a:gd name="adj" fmla="val 4286"/>
            </a:avLst>
          </a:prstGeom>
          <a:solidFill>
            <a:srgbClr val="E8F3F2"/>
          </a:solidFill>
          <a:ln w="9525">
            <a:solidFill>
              <a:srgbClr val="E8F3F2"/>
            </a:solidFill>
            <a:prstDash val="solid"/>
          </a:ln>
        </p:spPr>
        <p:txBody>
          <a:bodyPr/>
          <a:lstStyle/>
          <a:p>
            <a:endParaRPr lang="en-US"/>
          </a:p>
        </p:txBody>
      </p:sp>
      <p:sp>
        <p:nvSpPr>
          <p:cNvPr id="6" name="Shape 3"/>
          <p:cNvSpPr/>
          <p:nvPr/>
        </p:nvSpPr>
        <p:spPr>
          <a:xfrm>
            <a:off x="731520" y="1600200"/>
            <a:ext cx="640080" cy="640080"/>
          </a:xfrm>
          <a:prstGeom prst="ellipse">
            <a:avLst/>
          </a:prstGeom>
          <a:solidFill>
            <a:srgbClr val="0B7A75"/>
          </a:solidFill>
          <a:ln w="9525">
            <a:solidFill>
              <a:srgbClr val="0B7A75"/>
            </a:solidFill>
            <a:prstDash val="solid"/>
          </a:ln>
        </p:spPr>
        <p:txBody>
          <a:bodyPr/>
          <a:lstStyle/>
          <a:p>
            <a:endParaRPr lang="en-US"/>
          </a:p>
        </p:txBody>
      </p:sp>
      <p:pic>
        <p:nvPicPr>
          <p:cNvPr id="7" name="Image 0" descr="icon"/>
          <p:cNvPicPr>
            <a:picLocks noChangeAspect="1"/>
          </p:cNvPicPr>
          <p:nvPr/>
        </p:nvPicPr>
        <p:blipFill>
          <a:blip r:embed="rId3"/>
          <a:stretch>
            <a:fillRect/>
          </a:stretch>
        </p:blipFill>
        <p:spPr>
          <a:xfrm>
            <a:off x="872338" y="1741018"/>
            <a:ext cx="358445" cy="358445"/>
          </a:xfrm>
          <a:prstGeom prst="rect">
            <a:avLst/>
          </a:prstGeom>
        </p:spPr>
      </p:pic>
      <p:sp>
        <p:nvSpPr>
          <p:cNvPr id="8" name="Text 4"/>
          <p:cNvSpPr/>
          <p:nvPr/>
        </p:nvSpPr>
        <p:spPr>
          <a:xfrm>
            <a:off x="731520" y="2423160"/>
            <a:ext cx="2103120" cy="1554480"/>
          </a:xfrm>
          <a:prstGeom prst="rect">
            <a:avLst/>
          </a:prstGeom>
          <a:noFill/>
          <a:ln/>
        </p:spPr>
        <p:txBody>
          <a:bodyPr wrap="square" lIns="0" tIns="0" rIns="0" bIns="0" rtlCol="0" anchor="t"/>
          <a:lstStyle/>
          <a:p>
            <a:pPr marL="0" indent="0">
              <a:buNone/>
            </a:pPr>
            <a:r>
              <a:rPr lang="en-US" sz="1700" dirty="0">
                <a:solidFill>
                  <a:srgbClr val="1B2B34"/>
                </a:solidFill>
                <a:latin typeface="Calibri" pitchFamily="34" charset="0"/>
                <a:ea typeface="Calibri" pitchFamily="34" charset="-122"/>
                <a:cs typeface="Calibri" pitchFamily="34" charset="-120"/>
              </a:rPr>
              <a:t>Explain the difference between ElevenLabs' creative platform and its agents platform.</a:t>
            </a:r>
            <a:endParaRPr lang="en-US" sz="1700" dirty="0"/>
          </a:p>
        </p:txBody>
      </p:sp>
      <p:sp>
        <p:nvSpPr>
          <p:cNvPr id="9" name="Shape 5"/>
          <p:cNvSpPr/>
          <p:nvPr/>
        </p:nvSpPr>
        <p:spPr>
          <a:xfrm>
            <a:off x="3291840" y="1371600"/>
            <a:ext cx="2560320" cy="2743200"/>
          </a:xfrm>
          <a:prstGeom prst="roundRect">
            <a:avLst>
              <a:gd name="adj" fmla="val 4286"/>
            </a:avLst>
          </a:prstGeom>
          <a:solidFill>
            <a:srgbClr val="E8F3F2"/>
          </a:solidFill>
          <a:ln w="9525">
            <a:solidFill>
              <a:srgbClr val="E8F3F2"/>
            </a:solidFill>
            <a:prstDash val="solid"/>
          </a:ln>
        </p:spPr>
        <p:txBody>
          <a:bodyPr/>
          <a:lstStyle/>
          <a:p>
            <a:endParaRPr lang="en-US"/>
          </a:p>
        </p:txBody>
      </p:sp>
      <p:sp>
        <p:nvSpPr>
          <p:cNvPr id="10" name="Shape 6"/>
          <p:cNvSpPr/>
          <p:nvPr/>
        </p:nvSpPr>
        <p:spPr>
          <a:xfrm>
            <a:off x="3520440" y="1600200"/>
            <a:ext cx="640080" cy="640080"/>
          </a:xfrm>
          <a:prstGeom prst="ellipse">
            <a:avLst/>
          </a:prstGeom>
          <a:solidFill>
            <a:srgbClr val="0B7A75"/>
          </a:solidFill>
          <a:ln w="9525">
            <a:solidFill>
              <a:srgbClr val="0B7A75"/>
            </a:solidFill>
            <a:prstDash val="solid"/>
          </a:ln>
        </p:spPr>
        <p:txBody>
          <a:bodyPr/>
          <a:lstStyle/>
          <a:p>
            <a:endParaRPr lang="en-US"/>
          </a:p>
        </p:txBody>
      </p:sp>
      <p:pic>
        <p:nvPicPr>
          <p:cNvPr id="11" name="Image 1" descr="icon"/>
          <p:cNvPicPr>
            <a:picLocks noChangeAspect="1"/>
          </p:cNvPicPr>
          <p:nvPr/>
        </p:nvPicPr>
        <p:blipFill>
          <a:blip r:embed="rId3"/>
          <a:stretch>
            <a:fillRect/>
          </a:stretch>
        </p:blipFill>
        <p:spPr>
          <a:xfrm>
            <a:off x="3661258" y="1741018"/>
            <a:ext cx="358445" cy="358445"/>
          </a:xfrm>
          <a:prstGeom prst="rect">
            <a:avLst/>
          </a:prstGeom>
        </p:spPr>
      </p:pic>
      <p:sp>
        <p:nvSpPr>
          <p:cNvPr id="12" name="Text 7"/>
          <p:cNvSpPr/>
          <p:nvPr/>
        </p:nvSpPr>
        <p:spPr>
          <a:xfrm>
            <a:off x="3520440" y="2423160"/>
            <a:ext cx="2103120" cy="1554480"/>
          </a:xfrm>
          <a:prstGeom prst="rect">
            <a:avLst/>
          </a:prstGeom>
          <a:noFill/>
          <a:ln/>
        </p:spPr>
        <p:txBody>
          <a:bodyPr wrap="square" lIns="0" tIns="0" rIns="0" bIns="0" rtlCol="0" anchor="t"/>
          <a:lstStyle/>
          <a:p>
            <a:pPr marL="0" indent="0">
              <a:buNone/>
            </a:pPr>
            <a:r>
              <a:rPr lang="en-US" sz="1700" dirty="0">
                <a:solidFill>
                  <a:srgbClr val="1B2B34"/>
                </a:solidFill>
                <a:latin typeface="Calibri" pitchFamily="34" charset="0"/>
                <a:ea typeface="Calibri" pitchFamily="34" charset="-122"/>
                <a:cs typeface="Calibri" pitchFamily="34" charset="-120"/>
              </a:rPr>
              <a:t>Create a conversational voice agent with a clear prompt and a chosen voice.</a:t>
            </a:r>
            <a:endParaRPr lang="en-US" sz="1700" dirty="0"/>
          </a:p>
        </p:txBody>
      </p:sp>
      <p:sp>
        <p:nvSpPr>
          <p:cNvPr id="13" name="Shape 8"/>
          <p:cNvSpPr/>
          <p:nvPr/>
        </p:nvSpPr>
        <p:spPr>
          <a:xfrm>
            <a:off x="6080760" y="1371600"/>
            <a:ext cx="2560320" cy="2743200"/>
          </a:xfrm>
          <a:prstGeom prst="roundRect">
            <a:avLst>
              <a:gd name="adj" fmla="val 4286"/>
            </a:avLst>
          </a:prstGeom>
          <a:solidFill>
            <a:srgbClr val="E8F3F2"/>
          </a:solidFill>
          <a:ln w="9525">
            <a:solidFill>
              <a:srgbClr val="E8F3F2"/>
            </a:solidFill>
            <a:prstDash val="solid"/>
          </a:ln>
        </p:spPr>
        <p:txBody>
          <a:bodyPr/>
          <a:lstStyle/>
          <a:p>
            <a:endParaRPr lang="en-US"/>
          </a:p>
        </p:txBody>
      </p:sp>
      <p:sp>
        <p:nvSpPr>
          <p:cNvPr id="14" name="Shape 9"/>
          <p:cNvSpPr/>
          <p:nvPr/>
        </p:nvSpPr>
        <p:spPr>
          <a:xfrm>
            <a:off x="6309360" y="1600200"/>
            <a:ext cx="640080" cy="640080"/>
          </a:xfrm>
          <a:prstGeom prst="ellipse">
            <a:avLst/>
          </a:prstGeom>
          <a:solidFill>
            <a:srgbClr val="0B7A75"/>
          </a:solidFill>
          <a:ln w="9525">
            <a:solidFill>
              <a:srgbClr val="0B7A75"/>
            </a:solidFill>
            <a:prstDash val="solid"/>
          </a:ln>
        </p:spPr>
        <p:txBody>
          <a:bodyPr/>
          <a:lstStyle/>
          <a:p>
            <a:endParaRPr lang="en-US"/>
          </a:p>
        </p:txBody>
      </p:sp>
      <p:pic>
        <p:nvPicPr>
          <p:cNvPr id="15" name="Image 2" descr="icon"/>
          <p:cNvPicPr>
            <a:picLocks noChangeAspect="1"/>
          </p:cNvPicPr>
          <p:nvPr/>
        </p:nvPicPr>
        <p:blipFill>
          <a:blip r:embed="rId3"/>
          <a:stretch>
            <a:fillRect/>
          </a:stretch>
        </p:blipFill>
        <p:spPr>
          <a:xfrm>
            <a:off x="6450178" y="1741018"/>
            <a:ext cx="358445" cy="358445"/>
          </a:xfrm>
          <a:prstGeom prst="rect">
            <a:avLst/>
          </a:prstGeom>
        </p:spPr>
      </p:pic>
      <p:sp>
        <p:nvSpPr>
          <p:cNvPr id="16" name="Text 10"/>
          <p:cNvSpPr/>
          <p:nvPr/>
        </p:nvSpPr>
        <p:spPr>
          <a:xfrm>
            <a:off x="6309360" y="2423160"/>
            <a:ext cx="2103120" cy="1554480"/>
          </a:xfrm>
          <a:prstGeom prst="rect">
            <a:avLst/>
          </a:prstGeom>
          <a:noFill/>
          <a:ln/>
        </p:spPr>
        <p:txBody>
          <a:bodyPr wrap="square" lIns="0" tIns="0" rIns="0" bIns="0" rtlCol="0" anchor="t"/>
          <a:lstStyle/>
          <a:p>
            <a:pPr marL="0" indent="0">
              <a:buNone/>
            </a:pPr>
            <a:r>
              <a:rPr lang="en-US" sz="1700" dirty="0">
                <a:solidFill>
                  <a:srgbClr val="1B2B34"/>
                </a:solidFill>
                <a:latin typeface="Calibri" pitchFamily="34" charset="0"/>
                <a:ea typeface="Calibri" pitchFamily="34" charset="-122"/>
                <a:cs typeface="Calibri" pitchFamily="34" charset="-120"/>
              </a:rPr>
              <a:t>Test the agent live and identify where it is slow or goes off topic.</a:t>
            </a:r>
            <a:endParaRPr lang="en-US" sz="17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What is ElevenLabs?</a:t>
            </a:r>
            <a:endParaRPr lang="en-US" sz="3000" dirty="0"/>
          </a:p>
        </p:txBody>
      </p:sp>
      <p:sp>
        <p:nvSpPr>
          <p:cNvPr id="5" name="Shape 2"/>
          <p:cNvSpPr/>
          <p:nvPr/>
        </p:nvSpPr>
        <p:spPr>
          <a:xfrm>
            <a:off x="502920" y="1280160"/>
            <a:ext cx="3954780" cy="3108960"/>
          </a:xfrm>
          <a:prstGeom prst="roundRect">
            <a:avLst>
              <a:gd name="adj" fmla="val 3529"/>
            </a:avLst>
          </a:prstGeom>
          <a:solidFill>
            <a:srgbClr val="E8F3F2"/>
          </a:solidFill>
          <a:ln w="9525">
            <a:solidFill>
              <a:srgbClr val="E8F3F2"/>
            </a:solidFill>
            <a:prstDash val="solid"/>
          </a:ln>
        </p:spPr>
        <p:txBody>
          <a:bodyPr/>
          <a:lstStyle/>
          <a:p>
            <a:endParaRPr lang="en-US"/>
          </a:p>
        </p:txBody>
      </p:sp>
      <p:sp>
        <p:nvSpPr>
          <p:cNvPr id="6" name="Shape 3"/>
          <p:cNvSpPr/>
          <p:nvPr/>
        </p:nvSpPr>
        <p:spPr>
          <a:xfrm>
            <a:off x="502920" y="1280160"/>
            <a:ext cx="3954780" cy="91440"/>
          </a:xfrm>
          <a:prstGeom prst="rect">
            <a:avLst/>
          </a:prstGeom>
          <a:solidFill>
            <a:srgbClr val="0B7A75"/>
          </a:solidFill>
          <a:ln w="12700">
            <a:solidFill>
              <a:srgbClr val="0B7A75"/>
            </a:solidFill>
            <a:prstDash val="solid"/>
          </a:ln>
        </p:spPr>
        <p:txBody>
          <a:bodyPr/>
          <a:lstStyle/>
          <a:p>
            <a:endParaRPr lang="en-US"/>
          </a:p>
        </p:txBody>
      </p:sp>
      <p:sp>
        <p:nvSpPr>
          <p:cNvPr id="7" name="Text 4"/>
          <p:cNvSpPr/>
          <p:nvPr/>
        </p:nvSpPr>
        <p:spPr>
          <a:xfrm>
            <a:off x="731520" y="1554480"/>
            <a:ext cx="3497580" cy="731520"/>
          </a:xfrm>
          <a:prstGeom prst="rect">
            <a:avLst/>
          </a:prstGeom>
          <a:noFill/>
          <a:ln/>
        </p:spPr>
        <p:txBody>
          <a:bodyPr wrap="square" lIns="0" tIns="0" rIns="0" bIns="0" rtlCol="0" anchor="t"/>
          <a:lstStyle/>
          <a:p>
            <a:pPr marL="0" indent="0">
              <a:buNone/>
            </a:pPr>
            <a:r>
              <a:rPr lang="en-US" sz="2200" b="1" dirty="0">
                <a:solidFill>
                  <a:srgbClr val="0B4F5C"/>
                </a:solidFill>
                <a:latin typeface="Cambria" pitchFamily="34" charset="0"/>
                <a:ea typeface="Cambria" pitchFamily="34" charset="-122"/>
                <a:cs typeface="Cambria" pitchFamily="34" charset="-120"/>
              </a:rPr>
              <a:t>Creative platform</a:t>
            </a:r>
            <a:endParaRPr lang="en-US" sz="2200" dirty="0"/>
          </a:p>
        </p:txBody>
      </p:sp>
      <p:sp>
        <p:nvSpPr>
          <p:cNvPr id="8" name="Text 5"/>
          <p:cNvSpPr/>
          <p:nvPr/>
        </p:nvSpPr>
        <p:spPr>
          <a:xfrm>
            <a:off x="731520" y="2331720"/>
            <a:ext cx="3497580" cy="192024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Makes audio. You give it text and it reads it aloud in a chosen voice…</a:t>
            </a:r>
            <a:endParaRPr lang="en-US" sz="1800" dirty="0"/>
          </a:p>
        </p:txBody>
      </p:sp>
      <p:sp>
        <p:nvSpPr>
          <p:cNvPr id="9" name="Shape 6"/>
          <p:cNvSpPr/>
          <p:nvPr/>
        </p:nvSpPr>
        <p:spPr>
          <a:xfrm>
            <a:off x="4686300" y="1280160"/>
            <a:ext cx="3954780" cy="3108960"/>
          </a:xfrm>
          <a:prstGeom prst="roundRect">
            <a:avLst>
              <a:gd name="adj" fmla="val 3529"/>
            </a:avLst>
          </a:prstGeom>
          <a:solidFill>
            <a:srgbClr val="E8F3F2"/>
          </a:solidFill>
          <a:ln w="9525">
            <a:solidFill>
              <a:srgbClr val="E8F3F2"/>
            </a:solidFill>
            <a:prstDash val="solid"/>
          </a:ln>
        </p:spPr>
        <p:txBody>
          <a:bodyPr/>
          <a:lstStyle/>
          <a:p>
            <a:endParaRPr lang="en-US"/>
          </a:p>
        </p:txBody>
      </p:sp>
      <p:sp>
        <p:nvSpPr>
          <p:cNvPr id="10" name="Shape 7"/>
          <p:cNvSpPr/>
          <p:nvPr/>
        </p:nvSpPr>
        <p:spPr>
          <a:xfrm>
            <a:off x="4686300" y="1280160"/>
            <a:ext cx="3954780" cy="91440"/>
          </a:xfrm>
          <a:prstGeom prst="rect">
            <a:avLst/>
          </a:prstGeom>
          <a:solidFill>
            <a:srgbClr val="0B7A75"/>
          </a:solidFill>
          <a:ln w="12700">
            <a:solidFill>
              <a:srgbClr val="0B7A75"/>
            </a:solidFill>
            <a:prstDash val="solid"/>
          </a:ln>
        </p:spPr>
        <p:txBody>
          <a:bodyPr/>
          <a:lstStyle/>
          <a:p>
            <a:endParaRPr lang="en-US"/>
          </a:p>
        </p:txBody>
      </p:sp>
      <p:sp>
        <p:nvSpPr>
          <p:cNvPr id="11" name="Text 8"/>
          <p:cNvSpPr/>
          <p:nvPr/>
        </p:nvSpPr>
        <p:spPr>
          <a:xfrm>
            <a:off x="4914900" y="1554480"/>
            <a:ext cx="3497580" cy="731520"/>
          </a:xfrm>
          <a:prstGeom prst="rect">
            <a:avLst/>
          </a:prstGeom>
          <a:noFill/>
          <a:ln/>
        </p:spPr>
        <p:txBody>
          <a:bodyPr wrap="square" lIns="0" tIns="0" rIns="0" bIns="0" rtlCol="0" anchor="t"/>
          <a:lstStyle/>
          <a:p>
            <a:pPr marL="0" indent="0">
              <a:buNone/>
            </a:pPr>
            <a:r>
              <a:rPr lang="en-US" sz="2200" b="1" dirty="0">
                <a:solidFill>
                  <a:srgbClr val="0B4F5C"/>
                </a:solidFill>
                <a:latin typeface="Cambria" pitchFamily="34" charset="0"/>
                <a:ea typeface="Cambria" pitchFamily="34" charset="-122"/>
                <a:cs typeface="Cambria" pitchFamily="34" charset="-120"/>
              </a:rPr>
              <a:t>Agents platform</a:t>
            </a:r>
            <a:endParaRPr lang="en-US" sz="2200" dirty="0"/>
          </a:p>
        </p:txBody>
      </p:sp>
      <p:sp>
        <p:nvSpPr>
          <p:cNvPr id="12" name="Text 9"/>
          <p:cNvSpPr/>
          <p:nvPr/>
        </p:nvSpPr>
        <p:spPr>
          <a:xfrm>
            <a:off x="4914900" y="2331720"/>
            <a:ext cx="3497580" cy="192024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Runs a live conversation. It listens, thinks with a language model, and talks back, like a receptionist.</a:t>
            </a:r>
            <a:endParaRPr lang="en-US" sz="1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2200" b="1" dirty="0">
                <a:solidFill>
                  <a:srgbClr val="0B4F5C"/>
                </a:solidFill>
                <a:latin typeface="Cambria" pitchFamily="34" charset="0"/>
                <a:ea typeface="Cambria" pitchFamily="34" charset="-122"/>
                <a:cs typeface="Cambria" pitchFamily="34" charset="-120"/>
              </a:rPr>
              <a:t>How a voice agent works: ears, brain, mouth</a:t>
            </a:r>
            <a:endParaRPr lang="en-US" sz="2200" dirty="0"/>
          </a:p>
        </p:txBody>
      </p:sp>
      <p:sp>
        <p:nvSpPr>
          <p:cNvPr id="5" name="Shape 2"/>
          <p:cNvSpPr/>
          <p:nvPr/>
        </p:nvSpPr>
        <p:spPr>
          <a:xfrm>
            <a:off x="502920" y="1280160"/>
            <a:ext cx="8138160" cy="2790001"/>
          </a:xfrm>
          <a:prstGeom prst="roundRect">
            <a:avLst>
              <a:gd name="adj" fmla="val 3277"/>
            </a:avLst>
          </a:prstGeom>
          <a:solidFill>
            <a:srgbClr val="FFFFFF"/>
          </a:solidFill>
          <a:ln w="12700">
            <a:solidFill>
              <a:srgbClr val="CFE3E1"/>
            </a:solidFill>
            <a:prstDash val="solid"/>
          </a:ln>
        </p:spPr>
        <p:txBody>
          <a:bodyPr/>
          <a:lstStyle/>
          <a:p>
            <a:endParaRPr lang="en-US"/>
          </a:p>
        </p:txBody>
      </p:sp>
      <p:pic>
        <p:nvPicPr>
          <p:cNvPr id="6" name="Image 0" descr="One turn of a voice conversation."/>
          <p:cNvPicPr>
            <a:picLocks noChangeAspect="1"/>
          </p:cNvPicPr>
          <p:nvPr/>
        </p:nvPicPr>
        <p:blipFill>
          <a:blip r:embed="rId3"/>
          <a:stretch>
            <a:fillRect/>
          </a:stretch>
        </p:blipFill>
        <p:spPr>
          <a:xfrm>
            <a:off x="502920" y="1417320"/>
            <a:ext cx="8138160" cy="2515681"/>
          </a:xfrm>
          <a:prstGeom prst="rect">
            <a:avLst/>
          </a:prstGeom>
        </p:spPr>
      </p:pic>
      <p:sp>
        <p:nvSpPr>
          <p:cNvPr id="7" name="Text 3"/>
          <p:cNvSpPr/>
          <p:nvPr/>
        </p:nvSpPr>
        <p:spPr>
          <a:xfrm>
            <a:off x="502920" y="4207321"/>
            <a:ext cx="8138160" cy="274320"/>
          </a:xfrm>
          <a:prstGeom prst="rect">
            <a:avLst/>
          </a:prstGeom>
          <a:noFill/>
          <a:ln/>
        </p:spPr>
        <p:txBody>
          <a:bodyPr wrap="square" lIns="0" tIns="0" rIns="0" bIns="0" rtlCol="0" anchor="t"/>
          <a:lstStyle/>
          <a:p>
            <a:pPr marL="0" indent="0" algn="ctr">
              <a:buNone/>
            </a:pPr>
            <a:r>
              <a:rPr lang="en-US" sz="1400" i="1" dirty="0">
                <a:solidFill>
                  <a:srgbClr val="5B6B73"/>
                </a:solidFill>
                <a:latin typeface="Calibri" pitchFamily="34" charset="0"/>
                <a:ea typeface="Calibri" pitchFamily="34" charset="-122"/>
                <a:cs typeface="Calibri" pitchFamily="34" charset="-120"/>
              </a:rPr>
              <a:t>One turn of a voice conversation.</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2200" b="1" dirty="0">
                <a:solidFill>
                  <a:srgbClr val="0B4F5C"/>
                </a:solidFill>
                <a:latin typeface="Cambria" pitchFamily="34" charset="0"/>
                <a:ea typeface="Cambria" pitchFamily="34" charset="-122"/>
                <a:cs typeface="Cambria" pitchFamily="34" charset="-120"/>
              </a:rPr>
              <a:t>How a voice agent works: ears, brain, mouth</a:t>
            </a:r>
            <a:endParaRPr lang="en-US" sz="2200" dirty="0"/>
          </a:p>
        </p:txBody>
      </p:sp>
      <p:sp>
        <p:nvSpPr>
          <p:cNvPr id="4" name="Text 2"/>
          <p:cNvSpPr/>
          <p:nvPr/>
        </p:nvSpPr>
        <p:spPr>
          <a:xfrm>
            <a:off x="548640" y="1280160"/>
            <a:ext cx="8046720" cy="3383280"/>
          </a:xfrm>
          <a:prstGeom prst="rect">
            <a:avLst/>
          </a:prstGeom>
          <a:noFill/>
          <a:ln/>
        </p:spPr>
        <p:txBody>
          <a:bodyPr wrap="square" lIns="0" tIns="0" rIns="0" bIns="0" rtlCol="0" anchor="t"/>
          <a:lstStyle/>
          <a:p>
            <a:pPr marL="342900" indent="-342900">
              <a:spcAft>
                <a:spcPts val="1200"/>
              </a:spcAft>
              <a:buSzPct val="100000"/>
              <a:buChar char="●"/>
            </a:pPr>
            <a:r>
              <a:rPr lang="en-US" sz="2200" dirty="0">
                <a:solidFill>
                  <a:srgbClr val="1B2B34"/>
                </a:solidFill>
                <a:latin typeface="Calibri" pitchFamily="34" charset="0"/>
                <a:ea typeface="Calibri" pitchFamily="34" charset="-122"/>
                <a:cs typeface="Calibri" pitchFamily="34" charset="-120"/>
              </a:rPr>
              <a:t>Latency. The pause between you finishing and the agent starting to answer. Long pauses feel awkward, like a bad phone line.</a:t>
            </a:r>
            <a:endParaRPr lang="en-US" sz="2200" dirty="0"/>
          </a:p>
          <a:p>
            <a:pPr marL="342900" indent="-342900">
              <a:spcAft>
                <a:spcPts val="1200"/>
              </a:spcAft>
              <a:buSzPct val="100000"/>
              <a:buChar char="●"/>
            </a:pPr>
            <a:r>
              <a:rPr lang="en-US" sz="2200" dirty="0">
                <a:solidFill>
                  <a:srgbClr val="1B2B34"/>
                </a:solidFill>
                <a:latin typeface="Calibri" pitchFamily="34" charset="0"/>
                <a:ea typeface="Calibri" pitchFamily="34" charset="-122"/>
                <a:cs typeface="Calibri" pitchFamily="34" charset="-120"/>
              </a:rPr>
              <a:t>Turn-taking. Knowing when you are done speaking and when you want to interrupt.</a:t>
            </a:r>
            <a:endParaRPr lang="en-US" sz="2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Think of it like this</a:t>
            </a:r>
            <a:endParaRPr lang="en-US" sz="3000" dirty="0"/>
          </a:p>
        </p:txBody>
      </p:sp>
      <p:sp>
        <p:nvSpPr>
          <p:cNvPr id="4" name="Shape 2"/>
          <p:cNvSpPr/>
          <p:nvPr/>
        </p:nvSpPr>
        <p:spPr>
          <a:xfrm>
            <a:off x="502920" y="1280160"/>
            <a:ext cx="8138160" cy="3108960"/>
          </a:xfrm>
          <a:prstGeom prst="roundRect">
            <a:avLst>
              <a:gd name="adj" fmla="val 3529"/>
            </a:avLst>
          </a:prstGeom>
          <a:solidFill>
            <a:srgbClr val="E8F3F2"/>
          </a:solidFill>
          <a:ln w="9525">
            <a:solidFill>
              <a:srgbClr val="E8F3F2"/>
            </a:solidFill>
            <a:prstDash val="solid"/>
          </a:ln>
        </p:spPr>
        <p:txBody>
          <a:bodyPr/>
          <a:lstStyle/>
          <a:p>
            <a:endParaRPr lang="en-US"/>
          </a:p>
        </p:txBody>
      </p:sp>
      <p:sp>
        <p:nvSpPr>
          <p:cNvPr id="5" name="Shape 3"/>
          <p:cNvSpPr/>
          <p:nvPr/>
        </p:nvSpPr>
        <p:spPr>
          <a:xfrm>
            <a:off x="777240" y="1554480"/>
            <a:ext cx="731520" cy="731520"/>
          </a:xfrm>
          <a:prstGeom prst="ellipse">
            <a:avLst/>
          </a:prstGeom>
          <a:solidFill>
            <a:srgbClr val="F4B942"/>
          </a:solidFill>
          <a:ln w="9525">
            <a:solidFill>
              <a:srgbClr val="F4B942"/>
            </a:solidFill>
            <a:prstDash val="solid"/>
          </a:ln>
        </p:spPr>
        <p:txBody>
          <a:bodyPr/>
          <a:lstStyle/>
          <a:p>
            <a:endParaRPr lang="en-US"/>
          </a:p>
        </p:txBody>
      </p:sp>
      <p:pic>
        <p:nvPicPr>
          <p:cNvPr id="6" name="Image 0" descr="icon"/>
          <p:cNvPicPr>
            <a:picLocks noChangeAspect="1"/>
          </p:cNvPicPr>
          <p:nvPr/>
        </p:nvPicPr>
        <p:blipFill>
          <a:blip r:embed="rId3"/>
          <a:stretch>
            <a:fillRect/>
          </a:stretch>
        </p:blipFill>
        <p:spPr>
          <a:xfrm>
            <a:off x="938174" y="1715414"/>
            <a:ext cx="409651" cy="409651"/>
          </a:xfrm>
          <a:prstGeom prst="rect">
            <a:avLst/>
          </a:prstGeom>
        </p:spPr>
      </p:pic>
      <p:sp>
        <p:nvSpPr>
          <p:cNvPr id="7" name="Text 4"/>
          <p:cNvSpPr/>
          <p:nvPr/>
        </p:nvSpPr>
        <p:spPr>
          <a:xfrm>
            <a:off x="1737360" y="1600200"/>
            <a:ext cx="6583680" cy="640080"/>
          </a:xfrm>
          <a:prstGeom prst="rect">
            <a:avLst/>
          </a:prstGeom>
          <a:noFill/>
          <a:ln/>
        </p:spPr>
        <p:txBody>
          <a:bodyPr wrap="square" lIns="0" tIns="0" rIns="0" bIns="0" rtlCol="0" anchor="ctr"/>
          <a:lstStyle/>
          <a:p>
            <a:pPr marL="0" indent="0">
              <a:buNone/>
            </a:pPr>
            <a:r>
              <a:rPr lang="en-US" sz="2200" b="1" dirty="0">
                <a:solidFill>
                  <a:srgbClr val="0B4F5C"/>
                </a:solidFill>
                <a:latin typeface="Cambria" pitchFamily="34" charset="0"/>
                <a:ea typeface="Cambria" pitchFamily="34" charset="-122"/>
                <a:cs typeface="Cambria" pitchFamily="34" charset="-120"/>
              </a:rPr>
              <a:t>A receptionist</a:t>
            </a:r>
            <a:endParaRPr lang="en-US" sz="2200" dirty="0"/>
          </a:p>
        </p:txBody>
      </p:sp>
      <p:sp>
        <p:nvSpPr>
          <p:cNvPr id="8" name="Text 5"/>
          <p:cNvSpPr/>
          <p:nvPr/>
        </p:nvSpPr>
        <p:spPr>
          <a:xfrm>
            <a:off x="868680" y="2514600"/>
            <a:ext cx="7406640" cy="1737360"/>
          </a:xfrm>
          <a:prstGeom prst="rect">
            <a:avLst/>
          </a:prstGeom>
          <a:noFill/>
          <a:ln/>
        </p:spPr>
        <p:txBody>
          <a:bodyPr wrap="square" lIns="0" tIns="0" rIns="0" bIns="0" rtlCol="0" anchor="t"/>
          <a:lstStyle/>
          <a:p>
            <a:pPr marL="0" indent="0">
              <a:buNone/>
            </a:pPr>
            <a:r>
              <a:rPr lang="en-US" sz="2000" dirty="0">
                <a:solidFill>
                  <a:srgbClr val="1B2B34"/>
                </a:solidFill>
                <a:latin typeface="Calibri" pitchFamily="34" charset="0"/>
                <a:ea typeface="Calibri" pitchFamily="34" charset="-122"/>
                <a:cs typeface="Calibri" pitchFamily="34" charset="-120"/>
              </a:rPr>
              <a:t>A good receptionist answers quickly, speaks in short sentences, does not read out a whole catalogue, and stays on the subject. That is exactly what we want from a voice agent.</a:t>
            </a:r>
            <a:endParaRPr lang="en-US" sz="2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Writing a prompt for voice</a:t>
            </a:r>
            <a:endParaRPr lang="en-US" sz="3000" dirty="0"/>
          </a:p>
        </p:txBody>
      </p:sp>
      <p:sp>
        <p:nvSpPr>
          <p:cNvPr id="5" name="Text 2"/>
          <p:cNvSpPr/>
          <p:nvPr/>
        </p:nvSpPr>
        <p:spPr>
          <a:xfrm>
            <a:off x="548640" y="1280160"/>
            <a:ext cx="8046720" cy="338328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rgbClr val="1B2B34"/>
                </a:solidFill>
                <a:latin typeface="Calibri" pitchFamily="34" charset="0"/>
                <a:ea typeface="Calibri" pitchFamily="34" charset="-122"/>
                <a:cs typeface="Calibri" pitchFamily="34" charset="-120"/>
              </a:rPr>
              <a:t>Ask for short sentences and a maximum length.</a:t>
            </a:r>
            <a:endParaRPr lang="en-US" sz="2000" dirty="0"/>
          </a:p>
          <a:p>
            <a:pPr marL="342900" indent="-342900">
              <a:spcAft>
                <a:spcPts val="1200"/>
              </a:spcAft>
              <a:buSzPct val="100000"/>
              <a:buChar char="●"/>
            </a:pPr>
            <a:r>
              <a:rPr lang="en-US" sz="2000" dirty="0">
                <a:solidFill>
                  <a:srgbClr val="1B2B34"/>
                </a:solidFill>
                <a:latin typeface="Calibri" pitchFamily="34" charset="0"/>
                <a:ea typeface="Calibri" pitchFamily="34" charset="-122"/>
                <a:cs typeface="Calibri" pitchFamily="34" charset="-120"/>
              </a:rPr>
              <a:t>Ask for one question at a time.</a:t>
            </a:r>
            <a:endParaRPr lang="en-US" sz="2000" dirty="0"/>
          </a:p>
          <a:p>
            <a:pPr marL="342900" indent="-342900">
              <a:spcAft>
                <a:spcPts val="1200"/>
              </a:spcAft>
              <a:buSzPct val="100000"/>
              <a:buChar char="●"/>
            </a:pPr>
            <a:r>
              <a:rPr lang="en-US" sz="2000" dirty="0">
                <a:solidFill>
                  <a:srgbClr val="1B2B34"/>
                </a:solidFill>
                <a:latin typeface="Calibri" pitchFamily="34" charset="0"/>
                <a:ea typeface="Calibri" pitchFamily="34" charset="-122"/>
                <a:cs typeface="Calibri" pitchFamily="34" charset="-120"/>
              </a:rPr>
              <a:t>No bullet points, emoji, or formatting symbols. They sound strange when read aloud.</a:t>
            </a:r>
            <a:endParaRPr lang="en-US" sz="2000" dirty="0"/>
          </a:p>
          <a:p>
            <a:pPr marL="342900" indent="-342900">
              <a:spcAft>
                <a:spcPts val="1200"/>
              </a:spcAft>
              <a:buSzPct val="100000"/>
              <a:buChar char="●"/>
            </a:pPr>
            <a:r>
              <a:rPr lang="en-US" sz="2000" dirty="0">
                <a:solidFill>
                  <a:srgbClr val="1B2B34"/>
                </a:solidFill>
                <a:latin typeface="Calibri" pitchFamily="34" charset="0"/>
                <a:ea typeface="Calibri" pitchFamily="34" charset="-122"/>
                <a:cs typeface="Calibri" pitchFamily="34" charset="-120"/>
              </a:rPr>
              <a:t>Tell it what to do when it does not know.</a:t>
            </a:r>
            <a:endParaRPr lang="en-US" sz="2000" dirty="0"/>
          </a:p>
          <a:p>
            <a:pPr marL="342900" indent="-342900">
              <a:spcAft>
                <a:spcPts val="1200"/>
              </a:spcAft>
              <a:buSzPct val="100000"/>
              <a:buChar char="●"/>
            </a:pPr>
            <a:r>
              <a:rPr lang="en-US" sz="2000" dirty="0">
                <a:solidFill>
                  <a:srgbClr val="1B2B34"/>
                </a:solidFill>
                <a:latin typeface="Calibri" pitchFamily="34" charset="0"/>
                <a:ea typeface="Calibri" pitchFamily="34" charset="-122"/>
                <a:cs typeface="Calibri" pitchFamily="34" charset="-120"/>
              </a:rPr>
              <a:t>Give it a first message, the greeting it says when a call begins.</a:t>
            </a:r>
            <a:endParaRPr lang="en-US" sz="2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Example system prompt</a:t>
            </a:r>
            <a:endParaRPr lang="en-US" sz="3000" dirty="0"/>
          </a:p>
        </p:txBody>
      </p:sp>
      <p:sp>
        <p:nvSpPr>
          <p:cNvPr id="4" name="Shape 2"/>
          <p:cNvSpPr/>
          <p:nvPr/>
        </p:nvSpPr>
        <p:spPr>
          <a:xfrm>
            <a:off x="502920" y="1280160"/>
            <a:ext cx="8138160" cy="3337560"/>
          </a:xfrm>
          <a:prstGeom prst="roundRect">
            <a:avLst>
              <a:gd name="adj" fmla="val 3288"/>
            </a:avLst>
          </a:prstGeom>
          <a:solidFill>
            <a:srgbClr val="1B2B34"/>
          </a:solidFill>
          <a:ln w="9525">
            <a:solidFill>
              <a:srgbClr val="1B2B34"/>
            </a:solidFill>
            <a:prstDash val="solid"/>
          </a:ln>
        </p:spPr>
        <p:txBody>
          <a:bodyPr/>
          <a:lstStyle/>
          <a:p>
            <a:endParaRPr lang="en-US"/>
          </a:p>
        </p:txBody>
      </p:sp>
      <p:sp>
        <p:nvSpPr>
          <p:cNvPr id="5" name="Text 3"/>
          <p:cNvSpPr/>
          <p:nvPr/>
        </p:nvSpPr>
        <p:spPr>
          <a:xfrm>
            <a:off x="777240" y="1417320"/>
            <a:ext cx="7589520" cy="274320"/>
          </a:xfrm>
          <a:prstGeom prst="rect">
            <a:avLst/>
          </a:prstGeom>
          <a:noFill/>
          <a:ln/>
        </p:spPr>
        <p:txBody>
          <a:bodyPr wrap="square" lIns="0" tIns="0" rIns="0" bIns="0" rtlCol="0" anchor="t"/>
          <a:lstStyle/>
          <a:p>
            <a:pPr marL="0" indent="0">
              <a:buNone/>
            </a:pPr>
            <a:r>
              <a:rPr lang="en-US" sz="1200" b="1" dirty="0">
                <a:solidFill>
                  <a:srgbClr val="F4B942"/>
                </a:solidFill>
                <a:latin typeface="Calibri" pitchFamily="34" charset="0"/>
                <a:ea typeface="Calibri" pitchFamily="34" charset="-122"/>
                <a:cs typeface="Calibri" pitchFamily="34" charset="-120"/>
              </a:rPr>
              <a:t>EXAMPLE SYSTEM PROMPT</a:t>
            </a:r>
            <a:endParaRPr lang="en-US" sz="1200" dirty="0"/>
          </a:p>
        </p:txBody>
      </p:sp>
      <p:sp>
        <p:nvSpPr>
          <p:cNvPr id="6" name="Text 4"/>
          <p:cNvSpPr/>
          <p:nvPr/>
        </p:nvSpPr>
        <p:spPr>
          <a:xfrm>
            <a:off x="777240" y="1783080"/>
            <a:ext cx="7589520" cy="2743200"/>
          </a:xfrm>
          <a:prstGeom prst="rect">
            <a:avLst/>
          </a:prstGeom>
          <a:noFill/>
          <a:ln/>
        </p:spPr>
        <p:txBody>
          <a:bodyPr wrap="square" lIns="0" tIns="0" rIns="0" bIns="0" rtlCol="0" anchor="t"/>
          <a:lstStyle/>
          <a:p>
            <a:pPr marL="0" indent="0">
              <a:buNone/>
            </a:pPr>
            <a:r>
              <a:rPr lang="en-US" sz="1100" dirty="0">
                <a:solidFill>
                  <a:srgbClr val="FFFFFF"/>
                </a:solidFill>
                <a:latin typeface="Consolas" pitchFamily="34" charset="0"/>
                <a:ea typeface="Consolas" pitchFamily="34" charset="-122"/>
                <a:cs typeface="Consolas" pitchFamily="34" charset="-120"/>
              </a:rPr>
              <a:t>You are the phone assistant for Hillside Bakery in Nyeri.</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Your job is to answer questions about opening hours, the menu and how to order.</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Speak in short, friendly sentences. Keep every answer under three sentences.</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Ask only one question at a time.</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Never read out long lists. Give the two most useful items and offer to say more.</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If you do not know something, say "I'm not sure, but I can take a message."</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Only talk about the bakery. If asked about anything else, politely say you can only help with the bakery.</a:t>
            </a:r>
            <a:endParaRPr lang="en-US" sz="11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Example first message</a:t>
            </a:r>
            <a:endParaRPr lang="en-US" sz="3000" dirty="0"/>
          </a:p>
        </p:txBody>
      </p:sp>
      <p:sp>
        <p:nvSpPr>
          <p:cNvPr id="4" name="Shape 2"/>
          <p:cNvSpPr/>
          <p:nvPr/>
        </p:nvSpPr>
        <p:spPr>
          <a:xfrm>
            <a:off x="502920" y="1280160"/>
            <a:ext cx="8138160" cy="3337560"/>
          </a:xfrm>
          <a:prstGeom prst="roundRect">
            <a:avLst>
              <a:gd name="adj" fmla="val 3288"/>
            </a:avLst>
          </a:prstGeom>
          <a:solidFill>
            <a:srgbClr val="1B2B34"/>
          </a:solidFill>
          <a:ln w="9525">
            <a:solidFill>
              <a:srgbClr val="1B2B34"/>
            </a:solidFill>
            <a:prstDash val="solid"/>
          </a:ln>
        </p:spPr>
        <p:txBody>
          <a:bodyPr/>
          <a:lstStyle/>
          <a:p>
            <a:endParaRPr lang="en-US"/>
          </a:p>
        </p:txBody>
      </p:sp>
      <p:sp>
        <p:nvSpPr>
          <p:cNvPr id="5" name="Text 3"/>
          <p:cNvSpPr/>
          <p:nvPr/>
        </p:nvSpPr>
        <p:spPr>
          <a:xfrm>
            <a:off x="777240" y="1417320"/>
            <a:ext cx="7589520" cy="274320"/>
          </a:xfrm>
          <a:prstGeom prst="rect">
            <a:avLst/>
          </a:prstGeom>
          <a:noFill/>
          <a:ln/>
        </p:spPr>
        <p:txBody>
          <a:bodyPr wrap="square" lIns="0" tIns="0" rIns="0" bIns="0" rtlCol="0" anchor="t"/>
          <a:lstStyle/>
          <a:p>
            <a:pPr marL="0" indent="0">
              <a:buNone/>
            </a:pPr>
            <a:r>
              <a:rPr lang="en-US" sz="1200" b="1" dirty="0">
                <a:solidFill>
                  <a:srgbClr val="F4B942"/>
                </a:solidFill>
                <a:latin typeface="Calibri" pitchFamily="34" charset="0"/>
                <a:ea typeface="Calibri" pitchFamily="34" charset="-122"/>
                <a:cs typeface="Calibri" pitchFamily="34" charset="-120"/>
              </a:rPr>
              <a:t>EXAMPLE FIRST MESSAGE</a:t>
            </a:r>
            <a:endParaRPr lang="en-US" sz="1200" dirty="0"/>
          </a:p>
        </p:txBody>
      </p:sp>
      <p:sp>
        <p:nvSpPr>
          <p:cNvPr id="6" name="Text 4"/>
          <p:cNvSpPr/>
          <p:nvPr/>
        </p:nvSpPr>
        <p:spPr>
          <a:xfrm>
            <a:off x="777240" y="1783080"/>
            <a:ext cx="7589520" cy="2743200"/>
          </a:xfrm>
          <a:prstGeom prst="rect">
            <a:avLst/>
          </a:prstGeom>
          <a:noFill/>
          <a:ln/>
        </p:spPr>
        <p:txBody>
          <a:bodyPr wrap="square" lIns="0" tIns="0" rIns="0" bIns="0" rtlCol="0" anchor="t"/>
          <a:lstStyle/>
          <a:p>
            <a:pPr marL="0" indent="0">
              <a:buNone/>
            </a:pPr>
            <a:r>
              <a:rPr lang="en-US" sz="1400" dirty="0">
                <a:solidFill>
                  <a:srgbClr val="FFFFFF"/>
                </a:solidFill>
                <a:latin typeface="Consolas" pitchFamily="34" charset="0"/>
                <a:ea typeface="Consolas" pitchFamily="34" charset="-122"/>
                <a:cs typeface="Consolas" pitchFamily="34" charset="-120"/>
              </a:rPr>
              <a:t>Hello, thanks for calling Hillside Bakery. How can I help you today?</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Build your first voice agent</a:t>
            </a:r>
            <a:endParaRPr lang="en-US" sz="3000" dirty="0"/>
          </a:p>
        </p:txBody>
      </p:sp>
      <p:sp>
        <p:nvSpPr>
          <p:cNvPr id="5" name="Shape 2"/>
          <p:cNvSpPr/>
          <p:nvPr/>
        </p:nvSpPr>
        <p:spPr>
          <a:xfrm>
            <a:off x="548640" y="1280160"/>
            <a:ext cx="411480" cy="411480"/>
          </a:xfrm>
          <a:prstGeom prst="ellipse">
            <a:avLst/>
          </a:prstGeom>
          <a:solidFill>
            <a:srgbClr val="0B7A75"/>
          </a:solidFill>
          <a:ln w="9525">
            <a:solidFill>
              <a:srgbClr val="0B7A75"/>
            </a:solidFill>
            <a:prstDash val="solid"/>
          </a:ln>
        </p:spPr>
        <p:txBody>
          <a:bodyPr/>
          <a:lstStyle/>
          <a:p>
            <a:endParaRPr lang="en-US"/>
          </a:p>
        </p:txBody>
      </p:sp>
      <p:sp>
        <p:nvSpPr>
          <p:cNvPr id="6" name="Text 3"/>
          <p:cNvSpPr/>
          <p:nvPr/>
        </p:nvSpPr>
        <p:spPr>
          <a:xfrm>
            <a:off x="548640" y="12801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4"/>
          <p:cNvSpPr/>
          <p:nvPr/>
        </p:nvSpPr>
        <p:spPr>
          <a:xfrm>
            <a:off x="1143000" y="1261872"/>
            <a:ext cx="7498080" cy="612648"/>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Create an account on the ElevenLabs website and open the Agents area.</a:t>
            </a:r>
            <a:endParaRPr lang="en-US" sz="1600" dirty="0"/>
          </a:p>
        </p:txBody>
      </p:sp>
      <p:sp>
        <p:nvSpPr>
          <p:cNvPr id="8" name="Shape 5"/>
          <p:cNvSpPr/>
          <p:nvPr/>
        </p:nvSpPr>
        <p:spPr>
          <a:xfrm>
            <a:off x="548640" y="1938528"/>
            <a:ext cx="411480" cy="411480"/>
          </a:xfrm>
          <a:prstGeom prst="ellipse">
            <a:avLst/>
          </a:prstGeom>
          <a:solidFill>
            <a:srgbClr val="0B7A75"/>
          </a:solidFill>
          <a:ln w="9525">
            <a:solidFill>
              <a:srgbClr val="0B7A75"/>
            </a:solidFill>
            <a:prstDash val="solid"/>
          </a:ln>
        </p:spPr>
        <p:txBody>
          <a:bodyPr/>
          <a:lstStyle/>
          <a:p>
            <a:endParaRPr lang="en-US"/>
          </a:p>
        </p:txBody>
      </p:sp>
      <p:sp>
        <p:nvSpPr>
          <p:cNvPr id="9" name="Text 6"/>
          <p:cNvSpPr/>
          <p:nvPr/>
        </p:nvSpPr>
        <p:spPr>
          <a:xfrm>
            <a:off x="548640" y="1938528"/>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7"/>
          <p:cNvSpPr/>
          <p:nvPr/>
        </p:nvSpPr>
        <p:spPr>
          <a:xfrm>
            <a:off x="1143000" y="1920240"/>
            <a:ext cx="7498080" cy="612648"/>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Choose Create an agent and give it a name.</a:t>
            </a:r>
            <a:endParaRPr lang="en-US" sz="1600" dirty="0"/>
          </a:p>
        </p:txBody>
      </p:sp>
      <p:sp>
        <p:nvSpPr>
          <p:cNvPr id="11" name="Shape 8"/>
          <p:cNvSpPr/>
          <p:nvPr/>
        </p:nvSpPr>
        <p:spPr>
          <a:xfrm>
            <a:off x="548640" y="2596896"/>
            <a:ext cx="411480" cy="411480"/>
          </a:xfrm>
          <a:prstGeom prst="ellipse">
            <a:avLst/>
          </a:prstGeom>
          <a:solidFill>
            <a:srgbClr val="0B7A75"/>
          </a:solidFill>
          <a:ln w="9525">
            <a:solidFill>
              <a:srgbClr val="0B7A75"/>
            </a:solidFill>
            <a:prstDash val="solid"/>
          </a:ln>
        </p:spPr>
        <p:txBody>
          <a:bodyPr/>
          <a:lstStyle/>
          <a:p>
            <a:endParaRPr lang="en-US"/>
          </a:p>
        </p:txBody>
      </p:sp>
      <p:sp>
        <p:nvSpPr>
          <p:cNvPr id="12" name="Text 9"/>
          <p:cNvSpPr/>
          <p:nvPr/>
        </p:nvSpPr>
        <p:spPr>
          <a:xfrm>
            <a:off x="548640" y="2596896"/>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3" name="Text 10"/>
          <p:cNvSpPr/>
          <p:nvPr/>
        </p:nvSpPr>
        <p:spPr>
          <a:xfrm>
            <a:off x="1143000" y="2578608"/>
            <a:ext cx="7498080" cy="612648"/>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Paste your first message and your system prompt.</a:t>
            </a:r>
            <a:endParaRPr lang="en-US" sz="1600" dirty="0"/>
          </a:p>
        </p:txBody>
      </p:sp>
      <p:sp>
        <p:nvSpPr>
          <p:cNvPr id="14" name="Shape 11"/>
          <p:cNvSpPr/>
          <p:nvPr/>
        </p:nvSpPr>
        <p:spPr>
          <a:xfrm>
            <a:off x="548640" y="3255264"/>
            <a:ext cx="411480" cy="411480"/>
          </a:xfrm>
          <a:prstGeom prst="ellipse">
            <a:avLst/>
          </a:prstGeom>
          <a:solidFill>
            <a:srgbClr val="0B7A75"/>
          </a:solidFill>
          <a:ln w="9525">
            <a:solidFill>
              <a:srgbClr val="0B7A75"/>
            </a:solidFill>
            <a:prstDash val="solid"/>
          </a:ln>
        </p:spPr>
        <p:txBody>
          <a:bodyPr/>
          <a:lstStyle/>
          <a:p>
            <a:endParaRPr lang="en-US"/>
          </a:p>
        </p:txBody>
      </p:sp>
      <p:sp>
        <p:nvSpPr>
          <p:cNvPr id="15" name="Text 12"/>
          <p:cNvSpPr/>
          <p:nvPr/>
        </p:nvSpPr>
        <p:spPr>
          <a:xfrm>
            <a:off x="548640" y="3255264"/>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6" name="Text 13"/>
          <p:cNvSpPr/>
          <p:nvPr/>
        </p:nvSpPr>
        <p:spPr>
          <a:xfrm>
            <a:off x="1143000" y="3236976"/>
            <a:ext cx="7498080" cy="612648"/>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Pick a voice that suits the job. Listen to a few. Warm and clear usually beats dramatic.</a:t>
            </a:r>
            <a:endParaRPr lang="en-US" sz="1600" dirty="0"/>
          </a:p>
        </p:txBody>
      </p:sp>
      <p:sp>
        <p:nvSpPr>
          <p:cNvPr id="17" name="Shape 14"/>
          <p:cNvSpPr/>
          <p:nvPr/>
        </p:nvSpPr>
        <p:spPr>
          <a:xfrm>
            <a:off x="548640" y="3913632"/>
            <a:ext cx="411480" cy="411480"/>
          </a:xfrm>
          <a:prstGeom prst="ellipse">
            <a:avLst/>
          </a:prstGeom>
          <a:solidFill>
            <a:srgbClr val="0B7A75"/>
          </a:solidFill>
          <a:ln w="9525">
            <a:solidFill>
              <a:srgbClr val="0B7A75"/>
            </a:solidFill>
            <a:prstDash val="solid"/>
          </a:ln>
        </p:spPr>
        <p:txBody>
          <a:bodyPr/>
          <a:lstStyle/>
          <a:p>
            <a:endParaRPr lang="en-US"/>
          </a:p>
        </p:txBody>
      </p:sp>
      <p:sp>
        <p:nvSpPr>
          <p:cNvPr id="18" name="Text 15"/>
          <p:cNvSpPr/>
          <p:nvPr/>
        </p:nvSpPr>
        <p:spPr>
          <a:xfrm>
            <a:off x="548640" y="3913632"/>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9" name="Text 16"/>
          <p:cNvSpPr/>
          <p:nvPr/>
        </p:nvSpPr>
        <p:spPr>
          <a:xfrm>
            <a:off x="1143000" y="3895344"/>
            <a:ext cx="7498080" cy="612648"/>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Choose the language, and the language model if the settings offer a choice. Faster models usually mean lower latency.</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Your exercise</a:t>
            </a:r>
            <a:endParaRPr lang="en-US" sz="3000" dirty="0"/>
          </a:p>
        </p:txBody>
      </p:sp>
      <p:sp>
        <p:nvSpPr>
          <p:cNvPr id="5" name="Text 2"/>
          <p:cNvSpPr/>
          <p:nvPr/>
        </p:nvSpPr>
        <p:spPr>
          <a:xfrm>
            <a:off x="548640" y="1188720"/>
            <a:ext cx="8046720" cy="868680"/>
          </a:xfrm>
          <a:prstGeom prst="rect">
            <a:avLst/>
          </a:prstGeom>
          <a:noFill/>
          <a:ln/>
        </p:spPr>
        <p:txBody>
          <a:bodyPr wrap="square" lIns="0" tIns="0" rIns="0" bIns="0" rtlCol="0" anchor="t"/>
          <a:lstStyle/>
          <a:p>
            <a:pPr marL="0" indent="0">
              <a:buNone/>
            </a:pPr>
            <a:r>
              <a:rPr lang="en-US" sz="1700" dirty="0">
                <a:solidFill>
                  <a:srgbClr val="5B6B73"/>
                </a:solidFill>
                <a:latin typeface="Calibri" pitchFamily="34" charset="0"/>
                <a:ea typeface="Calibri" pitchFamily="34" charset="-122"/>
                <a:cs typeface="Calibri" pitchFamily="34" charset="-120"/>
              </a:rPr>
              <a:t>Build a voice agent that answers three scripted questions about a topic you choose (a bakery, a bicycle shop, a school, a salon). Time each response and note any answer that drifts off topic.</a:t>
            </a:r>
            <a:endParaRPr lang="en-US" sz="1700" dirty="0"/>
          </a:p>
        </p:txBody>
      </p:sp>
      <p:sp>
        <p:nvSpPr>
          <p:cNvPr id="6" name="Text 3"/>
          <p:cNvSpPr/>
          <p:nvPr/>
        </p:nvSpPr>
        <p:spPr>
          <a:xfrm>
            <a:off x="548640" y="2103120"/>
            <a:ext cx="3657600" cy="274320"/>
          </a:xfrm>
          <a:prstGeom prst="rect">
            <a:avLst/>
          </a:prstGeom>
          <a:noFill/>
          <a:ln/>
        </p:spPr>
        <p:txBody>
          <a:bodyPr wrap="square" lIns="0" tIns="0" rIns="0" bIns="0" rtlCol="0" anchor="t"/>
          <a:lstStyle/>
          <a:p>
            <a:pPr marL="0" indent="0">
              <a:buNone/>
            </a:pPr>
            <a:r>
              <a:rPr lang="en-US" sz="1200" b="1" dirty="0">
                <a:solidFill>
                  <a:srgbClr val="0B7A75"/>
                </a:solidFill>
                <a:latin typeface="Calibri" pitchFamily="34" charset="0"/>
                <a:ea typeface="Calibri" pitchFamily="34" charset="-122"/>
                <a:cs typeface="Calibri" pitchFamily="34" charset="-120"/>
              </a:rPr>
              <a:t>STEPS</a:t>
            </a:r>
            <a:endParaRPr lang="en-US" sz="1200" dirty="0"/>
          </a:p>
        </p:txBody>
      </p:sp>
      <p:sp>
        <p:nvSpPr>
          <p:cNvPr id="7" name="Text 4"/>
          <p:cNvSpPr/>
          <p:nvPr/>
        </p:nvSpPr>
        <p:spPr>
          <a:xfrm>
            <a:off x="548640" y="2423160"/>
            <a:ext cx="8046720" cy="228600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B34"/>
                </a:solidFill>
                <a:latin typeface="Calibri" pitchFamily="34" charset="0"/>
                <a:ea typeface="Calibri" pitchFamily="34" charset="-122"/>
                <a:cs typeface="Calibri" pitchFamily="34" charset="-120"/>
              </a:rPr>
              <a:t>Write three questions in advance, for example: “What time do you open on Saturday?” “Do you make…</a:t>
            </a:r>
            <a:endParaRPr lang="en-US" sz="1600" dirty="0"/>
          </a:p>
          <a:p>
            <a:pPr marL="342900" indent="-342900">
              <a:spcAft>
                <a:spcPts val="600"/>
              </a:spcAft>
              <a:buSzPct val="100000"/>
              <a:buChar char="●"/>
            </a:pPr>
            <a:r>
              <a:rPr lang="en-US" sz="1600" dirty="0">
                <a:solidFill>
                  <a:srgbClr val="1B2B34"/>
                </a:solidFill>
                <a:latin typeface="Calibri" pitchFamily="34" charset="0"/>
                <a:ea typeface="Calibri" pitchFamily="34" charset="-122"/>
                <a:cs typeface="Calibri" pitchFamily="34" charset="-120"/>
              </a:rPr>
              <a:t>Ask each one aloud.</a:t>
            </a:r>
            <a:endParaRPr lang="en-US" sz="1600" dirty="0"/>
          </a:p>
          <a:p>
            <a:pPr marL="342900" indent="-342900">
              <a:spcAft>
                <a:spcPts val="600"/>
              </a:spcAft>
              <a:buSzPct val="100000"/>
              <a:buChar char="●"/>
            </a:pPr>
            <a:r>
              <a:rPr lang="en-US" sz="1600" dirty="0">
                <a:solidFill>
                  <a:srgbClr val="1B2B34"/>
                </a:solidFill>
                <a:latin typeface="Calibri" pitchFamily="34" charset="0"/>
                <a:ea typeface="Calibri" pitchFamily="34" charset="-122"/>
                <a:cs typeface="Calibri" pitchFamily="34" charset="-120"/>
              </a:rPr>
              <a:t>Note whether the answer was on topic, correct for the information you gave it, and short enough.</a:t>
            </a:r>
            <a:endParaRPr lang="en-US" sz="1600" dirty="0"/>
          </a:p>
          <a:p>
            <a:pPr marL="342900" indent="-342900">
              <a:spcAft>
                <a:spcPts val="600"/>
              </a:spcAft>
              <a:buSzPct val="100000"/>
              <a:buChar char="●"/>
            </a:pPr>
            <a:r>
              <a:rPr lang="en-US" sz="1600" dirty="0">
                <a:solidFill>
                  <a:srgbClr val="1B2B34"/>
                </a:solidFill>
                <a:latin typeface="Calibri" pitchFamily="34" charset="0"/>
                <a:ea typeface="Calibri" pitchFamily="34" charset="-122"/>
                <a:cs typeface="Calibri" pitchFamily="34" charset="-120"/>
              </a:rPr>
              <a:t>Fix one problem in the prompt and ask the same questions again.</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Quick check</a:t>
            </a:r>
            <a:endParaRPr lang="en-US" sz="3000" dirty="0"/>
          </a:p>
        </p:txBody>
      </p:sp>
      <p:sp>
        <p:nvSpPr>
          <p:cNvPr id="5" name="Text 2"/>
          <p:cNvSpPr/>
          <p:nvPr/>
        </p:nvSpPr>
        <p:spPr>
          <a:xfrm>
            <a:off x="548640" y="1280160"/>
            <a:ext cx="8046720" cy="3383280"/>
          </a:xfrm>
          <a:prstGeom prst="rect">
            <a:avLst/>
          </a:prstGeom>
          <a:noFill/>
          <a:ln/>
        </p:spPr>
        <p:txBody>
          <a:bodyPr wrap="square" lIns="0" tIns="0" rIns="0" bIns="0" rtlCol="0" anchor="t"/>
          <a:lstStyle/>
          <a:p>
            <a:pPr marL="0" indent="0">
              <a:spcAft>
                <a:spcPts val="1200"/>
              </a:spcAft>
              <a:buNone/>
            </a:pPr>
            <a:r>
              <a:rPr lang="en-US" sz="2000" dirty="0">
                <a:solidFill>
                  <a:srgbClr val="1B2B34"/>
                </a:solidFill>
                <a:latin typeface="Calibri" pitchFamily="34" charset="0"/>
                <a:ea typeface="Calibri" pitchFamily="34" charset="-122"/>
                <a:cs typeface="Calibri" pitchFamily="34" charset="-120"/>
              </a:rPr>
              <a:t>1.  What is the difference between ElevenLabs' creative platform and its agents platform?</a:t>
            </a:r>
            <a:endParaRPr lang="en-US" sz="2000" dirty="0"/>
          </a:p>
          <a:p>
            <a:pPr marL="0" indent="0">
              <a:spcAft>
                <a:spcPts val="1200"/>
              </a:spcAft>
              <a:buNone/>
            </a:pPr>
            <a:r>
              <a:rPr lang="en-US" sz="2000" dirty="0">
                <a:solidFill>
                  <a:srgbClr val="1B2B34"/>
                </a:solidFill>
                <a:latin typeface="Calibri" pitchFamily="34" charset="0"/>
                <a:ea typeface="Calibri" pitchFamily="34" charset="-122"/>
                <a:cs typeface="Calibri" pitchFamily="34" charset="-120"/>
              </a:rPr>
              <a:t>2.  Which three jobs does a voice agent do on every turn?</a:t>
            </a:r>
            <a:endParaRPr lang="en-US" sz="2000" dirty="0"/>
          </a:p>
          <a:p>
            <a:pPr marL="0" indent="0">
              <a:spcAft>
                <a:spcPts val="1200"/>
              </a:spcAft>
              <a:buNone/>
            </a:pPr>
            <a:r>
              <a:rPr lang="en-US" sz="2000" dirty="0">
                <a:solidFill>
                  <a:srgbClr val="1B2B34"/>
                </a:solidFill>
                <a:latin typeface="Calibri" pitchFamily="34" charset="0"/>
                <a:ea typeface="Calibri" pitchFamily="34" charset="-122"/>
                <a:cs typeface="Calibri" pitchFamily="34" charset="-120"/>
              </a:rPr>
              <a:t>3.  Which style of reply suits a voice agent best?</a:t>
            </a:r>
            <a:endParaRPr lang="en-US" sz="2000" dirty="0"/>
          </a:p>
          <a:p>
            <a:pPr marL="0" indent="0">
              <a:spcAft>
                <a:spcPts val="1200"/>
              </a:spcAft>
              <a:buNone/>
            </a:pPr>
            <a:r>
              <a:rPr lang="en-US" sz="2000" dirty="0">
                <a:solidFill>
                  <a:srgbClr val="1B2B34"/>
                </a:solidFill>
                <a:latin typeface="Calibri" pitchFamily="34" charset="0"/>
                <a:ea typeface="Calibri" pitchFamily="34" charset="-122"/>
                <a:cs typeface="Calibri" pitchFamily="34" charset="-120"/>
              </a:rPr>
              <a:t>4.  What is latency?</a:t>
            </a:r>
            <a:endParaRPr lang="en-US" sz="2000" dirty="0"/>
          </a:p>
          <a:p>
            <a:pPr marL="0" indent="0">
              <a:spcAft>
                <a:spcPts val="1200"/>
              </a:spcAft>
              <a:buNone/>
            </a:pPr>
            <a:r>
              <a:rPr lang="en-US" sz="2000" dirty="0">
                <a:solidFill>
                  <a:srgbClr val="1B2B34"/>
                </a:solidFill>
                <a:latin typeface="Calibri" pitchFamily="34" charset="0"/>
                <a:ea typeface="Calibri" pitchFamily="34" charset="-122"/>
                <a:cs typeface="Calibri" pitchFamily="34" charset="-120"/>
              </a:rPr>
              <a:t>5.  Your agent drifts off topic in a test. What is the best next step?</a:t>
            </a:r>
            <a:endParaRPr lang="en-US" sz="2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Words to know</a:t>
            </a:r>
            <a:endParaRPr lang="en-US" sz="3000" dirty="0"/>
          </a:p>
        </p:txBody>
      </p:sp>
      <p:sp>
        <p:nvSpPr>
          <p:cNvPr id="5" name="Shape 2"/>
          <p:cNvSpPr/>
          <p:nvPr/>
        </p:nvSpPr>
        <p:spPr>
          <a:xfrm>
            <a:off x="502920" y="123444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6" name="Text 3"/>
          <p:cNvSpPr/>
          <p:nvPr/>
        </p:nvSpPr>
        <p:spPr>
          <a:xfrm>
            <a:off x="685800" y="132588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ElevenLabs</a:t>
            </a:r>
            <a:endParaRPr lang="en-US" sz="1500" dirty="0"/>
          </a:p>
        </p:txBody>
      </p:sp>
      <p:sp>
        <p:nvSpPr>
          <p:cNvPr id="7" name="Text 4"/>
          <p:cNvSpPr/>
          <p:nvPr/>
        </p:nvSpPr>
        <p:spPr>
          <a:xfrm>
            <a:off x="685800" y="161848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A company that makes realistic AI audio.</a:t>
            </a:r>
            <a:endParaRPr lang="en-US" sz="1200" dirty="0"/>
          </a:p>
        </p:txBody>
      </p:sp>
      <p:sp>
        <p:nvSpPr>
          <p:cNvPr id="8" name="Shape 5"/>
          <p:cNvSpPr/>
          <p:nvPr/>
        </p:nvSpPr>
        <p:spPr>
          <a:xfrm>
            <a:off x="4709160" y="123444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9" name="Text 6"/>
          <p:cNvSpPr/>
          <p:nvPr/>
        </p:nvSpPr>
        <p:spPr>
          <a:xfrm>
            <a:off x="4892040" y="132588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Creative platform</a:t>
            </a:r>
            <a:endParaRPr lang="en-US" sz="1500" dirty="0"/>
          </a:p>
        </p:txBody>
      </p:sp>
      <p:sp>
        <p:nvSpPr>
          <p:cNvPr id="10" name="Text 7"/>
          <p:cNvSpPr/>
          <p:nvPr/>
        </p:nvSpPr>
        <p:spPr>
          <a:xfrm>
            <a:off x="4892040" y="161848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ElevenLabs' tools for generating audio, such as reading text aloud in a chosen voice.</a:t>
            </a:r>
            <a:endParaRPr lang="en-US" sz="1200" dirty="0"/>
          </a:p>
        </p:txBody>
      </p:sp>
      <p:sp>
        <p:nvSpPr>
          <p:cNvPr id="11" name="Shape 8"/>
          <p:cNvSpPr/>
          <p:nvPr/>
        </p:nvSpPr>
        <p:spPr>
          <a:xfrm>
            <a:off x="502920" y="233172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12" name="Text 9"/>
          <p:cNvSpPr/>
          <p:nvPr/>
        </p:nvSpPr>
        <p:spPr>
          <a:xfrm>
            <a:off x="685800" y="242316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Agents platform</a:t>
            </a:r>
            <a:endParaRPr lang="en-US" sz="1500" dirty="0"/>
          </a:p>
        </p:txBody>
      </p:sp>
      <p:sp>
        <p:nvSpPr>
          <p:cNvPr id="13" name="Text 10"/>
          <p:cNvSpPr/>
          <p:nvPr/>
        </p:nvSpPr>
        <p:spPr>
          <a:xfrm>
            <a:off x="685800" y="271576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ElevenLabs' tools for running a live voice conversation with an AI.</a:t>
            </a:r>
            <a:endParaRPr lang="en-US" sz="1200" dirty="0"/>
          </a:p>
        </p:txBody>
      </p:sp>
      <p:sp>
        <p:nvSpPr>
          <p:cNvPr id="14" name="Shape 11"/>
          <p:cNvSpPr/>
          <p:nvPr/>
        </p:nvSpPr>
        <p:spPr>
          <a:xfrm>
            <a:off x="4709160" y="233172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15" name="Text 12"/>
          <p:cNvSpPr/>
          <p:nvPr/>
        </p:nvSpPr>
        <p:spPr>
          <a:xfrm>
            <a:off x="4892040" y="242316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Speech to text</a:t>
            </a:r>
            <a:endParaRPr lang="en-US" sz="1500" dirty="0"/>
          </a:p>
        </p:txBody>
      </p:sp>
      <p:sp>
        <p:nvSpPr>
          <p:cNvPr id="16" name="Text 13"/>
          <p:cNvSpPr/>
          <p:nvPr/>
        </p:nvSpPr>
        <p:spPr>
          <a:xfrm>
            <a:off x="4892040" y="271576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Turning spoken audio into written words. The agent's ears.</a:t>
            </a:r>
            <a:endParaRPr lang="en-US" sz="1200" dirty="0"/>
          </a:p>
        </p:txBody>
      </p:sp>
      <p:sp>
        <p:nvSpPr>
          <p:cNvPr id="17" name="Shape 14"/>
          <p:cNvSpPr/>
          <p:nvPr/>
        </p:nvSpPr>
        <p:spPr>
          <a:xfrm>
            <a:off x="502920" y="342900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18" name="Text 15"/>
          <p:cNvSpPr/>
          <p:nvPr/>
        </p:nvSpPr>
        <p:spPr>
          <a:xfrm>
            <a:off x="685800" y="352044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Text to speech</a:t>
            </a:r>
            <a:endParaRPr lang="en-US" sz="1500" dirty="0"/>
          </a:p>
        </p:txBody>
      </p:sp>
      <p:sp>
        <p:nvSpPr>
          <p:cNvPr id="19" name="Text 16"/>
          <p:cNvSpPr/>
          <p:nvPr/>
        </p:nvSpPr>
        <p:spPr>
          <a:xfrm>
            <a:off x="685800" y="381304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Turning written words into spoken audio. The agent's mouth.</a:t>
            </a:r>
            <a:endParaRPr lang="en-US" sz="1200" dirty="0"/>
          </a:p>
        </p:txBody>
      </p:sp>
      <p:sp>
        <p:nvSpPr>
          <p:cNvPr id="20" name="Shape 17"/>
          <p:cNvSpPr/>
          <p:nvPr/>
        </p:nvSpPr>
        <p:spPr>
          <a:xfrm>
            <a:off x="4709160" y="342900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21" name="Text 18"/>
          <p:cNvSpPr/>
          <p:nvPr/>
        </p:nvSpPr>
        <p:spPr>
          <a:xfrm>
            <a:off x="4892040" y="352044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Latency</a:t>
            </a:r>
            <a:endParaRPr lang="en-US" sz="1500" dirty="0"/>
          </a:p>
        </p:txBody>
      </p:sp>
      <p:sp>
        <p:nvSpPr>
          <p:cNvPr id="22" name="Text 19"/>
          <p:cNvSpPr/>
          <p:nvPr/>
        </p:nvSpPr>
        <p:spPr>
          <a:xfrm>
            <a:off x="4892040" y="381304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The delay between you finishing speaking and the agent starting to answer.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Recap</a:t>
            </a:r>
            <a:endParaRPr lang="en-US" sz="3000" dirty="0"/>
          </a:p>
        </p:txBody>
      </p:sp>
      <p:sp>
        <p:nvSpPr>
          <p:cNvPr id="5" name="Shape 2"/>
          <p:cNvSpPr/>
          <p:nvPr/>
        </p:nvSpPr>
        <p:spPr>
          <a:xfrm>
            <a:off x="548640" y="1280160"/>
            <a:ext cx="457200" cy="457200"/>
          </a:xfrm>
          <a:prstGeom prst="ellipse">
            <a:avLst/>
          </a:prstGeom>
          <a:solidFill>
            <a:srgbClr val="0B7A75"/>
          </a:solidFill>
          <a:ln w="9525">
            <a:solidFill>
              <a:srgbClr val="0B7A75"/>
            </a:solidFill>
            <a:prstDash val="solid"/>
          </a:ln>
        </p:spPr>
        <p:txBody>
          <a:bodyPr/>
          <a:lstStyle/>
          <a:p>
            <a:endParaRPr lang="en-US"/>
          </a:p>
        </p:txBody>
      </p:sp>
      <p:pic>
        <p:nvPicPr>
          <p:cNvPr id="6" name="Image 0" descr="icon"/>
          <p:cNvPicPr>
            <a:picLocks noChangeAspect="1"/>
          </p:cNvPicPr>
          <p:nvPr/>
        </p:nvPicPr>
        <p:blipFill>
          <a:blip r:embed="rId3"/>
          <a:stretch>
            <a:fillRect/>
          </a:stretch>
        </p:blipFill>
        <p:spPr>
          <a:xfrm>
            <a:off x="649224" y="1380744"/>
            <a:ext cx="256032" cy="256032"/>
          </a:xfrm>
          <a:prstGeom prst="rect">
            <a:avLst/>
          </a:prstGeom>
        </p:spPr>
      </p:pic>
      <p:sp>
        <p:nvSpPr>
          <p:cNvPr id="7" name="Text 3"/>
          <p:cNvSpPr/>
          <p:nvPr/>
        </p:nvSpPr>
        <p:spPr>
          <a:xfrm>
            <a:off x="1234440" y="1252728"/>
            <a:ext cx="7406640" cy="1021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A voice agent adds ears (speech to text) and a mouth (text to speech) to the language model brain.</a:t>
            </a:r>
            <a:endParaRPr lang="en-US" sz="1800" dirty="0"/>
          </a:p>
        </p:txBody>
      </p:sp>
      <p:sp>
        <p:nvSpPr>
          <p:cNvPr id="8" name="Shape 4"/>
          <p:cNvSpPr/>
          <p:nvPr/>
        </p:nvSpPr>
        <p:spPr>
          <a:xfrm>
            <a:off x="548640" y="2346960"/>
            <a:ext cx="457200" cy="457200"/>
          </a:xfrm>
          <a:prstGeom prst="ellipse">
            <a:avLst/>
          </a:prstGeom>
          <a:solidFill>
            <a:srgbClr val="0B7A75"/>
          </a:solidFill>
          <a:ln w="9525">
            <a:solidFill>
              <a:srgbClr val="0B7A75"/>
            </a:solidFill>
            <a:prstDash val="solid"/>
          </a:ln>
        </p:spPr>
        <p:txBody>
          <a:bodyPr/>
          <a:lstStyle/>
          <a:p>
            <a:endParaRPr lang="en-US"/>
          </a:p>
        </p:txBody>
      </p:sp>
      <p:pic>
        <p:nvPicPr>
          <p:cNvPr id="9" name="Image 1" descr="icon"/>
          <p:cNvPicPr>
            <a:picLocks noChangeAspect="1"/>
          </p:cNvPicPr>
          <p:nvPr/>
        </p:nvPicPr>
        <p:blipFill>
          <a:blip r:embed="rId3"/>
          <a:stretch>
            <a:fillRect/>
          </a:stretch>
        </p:blipFill>
        <p:spPr>
          <a:xfrm>
            <a:off x="649224" y="2447544"/>
            <a:ext cx="256032" cy="256032"/>
          </a:xfrm>
          <a:prstGeom prst="rect">
            <a:avLst/>
          </a:prstGeom>
        </p:spPr>
      </p:pic>
      <p:sp>
        <p:nvSpPr>
          <p:cNvPr id="10" name="Text 5"/>
          <p:cNvSpPr/>
          <p:nvPr/>
        </p:nvSpPr>
        <p:spPr>
          <a:xfrm>
            <a:off x="1234440" y="2319528"/>
            <a:ext cx="7406640" cy="1021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Latency and turn-taking decide whether it feels natural. Short, direct prompts usually sound better.</a:t>
            </a:r>
            <a:endParaRPr lang="en-US" sz="1800" dirty="0"/>
          </a:p>
        </p:txBody>
      </p:sp>
      <p:sp>
        <p:nvSpPr>
          <p:cNvPr id="11" name="Shape 6"/>
          <p:cNvSpPr/>
          <p:nvPr/>
        </p:nvSpPr>
        <p:spPr>
          <a:xfrm>
            <a:off x="548640" y="3413760"/>
            <a:ext cx="457200" cy="457200"/>
          </a:xfrm>
          <a:prstGeom prst="ellipse">
            <a:avLst/>
          </a:prstGeom>
          <a:solidFill>
            <a:srgbClr val="0B7A75"/>
          </a:solidFill>
          <a:ln w="9525">
            <a:solidFill>
              <a:srgbClr val="0B7A75"/>
            </a:solidFill>
            <a:prstDash val="solid"/>
          </a:ln>
        </p:spPr>
        <p:txBody>
          <a:bodyPr/>
          <a:lstStyle/>
          <a:p>
            <a:endParaRPr lang="en-US"/>
          </a:p>
        </p:txBody>
      </p:sp>
      <p:pic>
        <p:nvPicPr>
          <p:cNvPr id="12" name="Image 2" descr="icon"/>
          <p:cNvPicPr>
            <a:picLocks noChangeAspect="1"/>
          </p:cNvPicPr>
          <p:nvPr/>
        </p:nvPicPr>
        <p:blipFill>
          <a:blip r:embed="rId3"/>
          <a:stretch>
            <a:fillRect/>
          </a:stretch>
        </p:blipFill>
        <p:spPr>
          <a:xfrm>
            <a:off x="649224" y="3514344"/>
            <a:ext cx="256032" cy="256032"/>
          </a:xfrm>
          <a:prstGeom prst="rect">
            <a:avLst/>
          </a:prstGeom>
        </p:spPr>
      </p:pic>
      <p:sp>
        <p:nvSpPr>
          <p:cNvPr id="13" name="Text 7"/>
          <p:cNvSpPr/>
          <p:nvPr/>
        </p:nvSpPr>
        <p:spPr>
          <a:xfrm>
            <a:off x="1234440" y="3386328"/>
            <a:ext cx="7406640" cy="1021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Test with fixed questions, time each answer, and fix one problem at a time.</a:t>
            </a:r>
            <a:endParaRPr lang="en-US" sz="1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731520" y="1097280"/>
            <a:ext cx="7315200" cy="365760"/>
          </a:xfrm>
          <a:prstGeom prst="rect">
            <a:avLst/>
          </a:prstGeom>
          <a:noFill/>
          <a:ln/>
        </p:spPr>
        <p:txBody>
          <a:bodyPr wrap="square" lIns="0" tIns="0" rIns="0" bIns="0" rtlCol="0" anchor="t"/>
          <a:lstStyle/>
          <a:p>
            <a:pPr marL="0" indent="0">
              <a:buNone/>
            </a:pPr>
            <a:r>
              <a:rPr lang="en-US" sz="1600" b="1" dirty="0">
                <a:solidFill>
                  <a:srgbClr val="F4B942"/>
                </a:solidFill>
                <a:latin typeface="Calibri" pitchFamily="34" charset="0"/>
                <a:ea typeface="Calibri" pitchFamily="34" charset="-122"/>
                <a:cs typeface="Calibri" pitchFamily="34" charset="-120"/>
              </a:rPr>
              <a:t>NEXT TIME</a:t>
            </a:r>
            <a:endParaRPr lang="en-US" sz="1600" dirty="0"/>
          </a:p>
        </p:txBody>
      </p:sp>
      <p:sp>
        <p:nvSpPr>
          <p:cNvPr id="3" name="Text 1"/>
          <p:cNvSpPr/>
          <p:nvPr/>
        </p:nvSpPr>
        <p:spPr>
          <a:xfrm>
            <a:off x="731520" y="1645920"/>
            <a:ext cx="7680960" cy="2377440"/>
          </a:xfrm>
          <a:prstGeom prst="rect">
            <a:avLst/>
          </a:prstGeom>
          <a:noFill/>
          <a:ln/>
        </p:spPr>
        <p:txBody>
          <a:bodyPr wrap="square" lIns="0" tIns="0" rIns="0" bIns="0" rtlCol="0" anchor="t"/>
          <a:lstStyle/>
          <a:p>
            <a:pPr marL="0" indent="0">
              <a:buNone/>
            </a:pPr>
            <a:r>
              <a:rPr lang="en-US" sz="2400" dirty="0">
                <a:solidFill>
                  <a:srgbClr val="FFFFFF"/>
                </a:solidFill>
                <a:latin typeface="Cambria" pitchFamily="34" charset="0"/>
                <a:ea typeface="Cambria" pitchFamily="34" charset="-122"/>
                <a:cs typeface="Cambria" pitchFamily="34" charset="-120"/>
              </a:rPr>
              <a:t>Lesson 12, Integrating ElevenLabs and n8n: two ways to join them, and how a webhook lets a voice agent trigger a workflow.</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1546</Words>
  <Application>Microsoft Office PowerPoint</Application>
  <PresentationFormat>On-screen Show (16:9)</PresentationFormat>
  <Paragraphs>125</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11: Voice agents with ElevenLabs</dc:title>
  <dc:subject>PptxGenJS Presentation</dc:subject>
  <dc:creator>Agentic AI Builder</dc:creator>
  <cp:lastModifiedBy>DEV DOMINIC</cp:lastModifiedBy>
  <cp:revision>2</cp:revision>
  <dcterms:created xsi:type="dcterms:W3CDTF">2026-10-28T23:53:08Z</dcterms:created>
  <dcterms:modified xsi:type="dcterms:W3CDTF">2026-10-29T00:00:45Z</dcterms:modified>
</cp:coreProperties>
</file>