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16348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2. It takes about 40 minutes. Tokenization and how generation works, in plain language.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like tea is probably one token. A long or unusual word such as unbelievable might be split into a few pieces. The exact splits are different for each AI family, so do not memorise them. Just remember: tokens are the units the AI counts 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ordinary English, one token is about four characters, or roughly three-quarters of a word. So 100 tokens is around 75 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model charges $1 per million input tokens and $4 per million output tokens. You send 2,000 tokens and get 500 back. Tiny for one call, real money at scale. This is why builders care about keeping prompts short and choosing the right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you saw that an AI guesses what comes next. Here is the detail. At every step, the AI works out a probability for every possible next token, like a scoreboard. Then it picks one, adds it, and repeats. For I would like a cup of... the scoreboard might look like: tea 46%, coffee 41%, water 7%, and a long tail of other words with tiny chances. There is no plan and no fact lookup. Each pick comes from the scoreboard.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Temperature is a setting that reshapes the scoreboard before the pick.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wrong answers are produced in exactly the same way as right ones. The AI picks likely tokens, and nothing in that process checks the facts. That is why it can sound confident and still be wrong. You will learn ways to reduce this later in the course: giving the AI your own documents (Week 3) and testing its output (every project).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lesson page on the course site and use the interactive demo together. Let students suggest the inputs.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A small chunk of text the AI reads and writes, often a word or part of a word. Tokens are the units an AI counts in. Cost, speed and limits are all measured with them. 2. About 4. It is a rough rule of thumb: about four characters, or three-quarters of a word. 3. Both the tokens you send and the tokens the AI writes. Input and output are both billed, often at different prices. Both also count toward the context window. 4. Low. Low temperature gives predictable, repeatable output, which is what sorting needs. 5. More predictable answers, but not necessarily correct ones. Temperature changes how adventurous the pick is. It cannot check facts, so a wrong answer can be repeated consistently.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1  ·  LESSON 2</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Tokens: how an AI reads, and why it matters</a:t>
            </a:r>
            <a:endParaRPr lang="en-US" sz="32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Tokenization and how generation works, in plain language.</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An AI does not read words. It reads small chunks called tokens, and it writes one token at a time. Tokens decide what you pay, how fast you get an answer, and how much the AI can handle at once.</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what a token is and estimate how many are in a piece of text.</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why the number of tokens drives cost, speed and limits.</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Explain temperature, the dial that makes an AI predictable or adventurous.</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Lego bricks</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You can build a sentence out of whole words, like big Lego blocks. An AI builds it from small bricks instead. Common words are usually one brick. Rare or long words are snapped from several bricks. Spaces, punctuation and numbers are bricks too.</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It is only an estimate</a:t>
            </a:r>
            <a:endParaRPr lang="en-US" sz="3000" dirty="0"/>
          </a:p>
        </p:txBody>
      </p:sp>
      <p:sp>
        <p:nvSpPr>
          <p:cNvPr id="5"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6"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7"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8"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9"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1900" dirty="0">
                <a:solidFill>
                  <a:srgbClr val="1B2B34"/>
                </a:solidFill>
                <a:latin typeface="Calibri" pitchFamily="34" charset="0"/>
                <a:ea typeface="Calibri" pitchFamily="34" charset="-122"/>
                <a:cs typeface="Calibri" pitchFamily="34" charset="-120"/>
              </a:rPr>
              <a:t>The rule changes with the language, with code, and with the model. Swahili, Arabic, Chinese and computer code usually need more tokens for the same meaning. That means the same message can cost more in some languages.</a:t>
            </a:r>
            <a:endParaRPr lang="en-US" sz="19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Why tokens matter: cost, speed and limits</a:t>
            </a:r>
            <a:endParaRPr lang="en-US" sz="2600" dirty="0"/>
          </a:p>
        </p:txBody>
      </p:sp>
      <p:sp>
        <p:nvSpPr>
          <p:cNvPr id="5" name="Shape 2"/>
          <p:cNvSpPr/>
          <p:nvPr/>
        </p:nvSpPr>
        <p:spPr>
          <a:xfrm>
            <a:off x="50292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Cost</a:t>
            </a:r>
            <a:endParaRPr lang="en-US" sz="1800" dirty="0"/>
          </a:p>
        </p:txBody>
      </p:sp>
      <p:sp>
        <p:nvSpPr>
          <p:cNvPr id="8" name="Text 5"/>
          <p:cNvSpPr/>
          <p:nvPr/>
        </p:nvSpPr>
        <p:spPr>
          <a:xfrm>
            <a:off x="73152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Like phone airtime.</a:t>
            </a:r>
            <a:endParaRPr lang="en-US" sz="1500" dirty="0"/>
          </a:p>
        </p:txBody>
      </p:sp>
      <p:sp>
        <p:nvSpPr>
          <p:cNvPr id="9" name="Shape 6"/>
          <p:cNvSpPr/>
          <p:nvPr/>
        </p:nvSpPr>
        <p:spPr>
          <a:xfrm>
            <a:off x="329184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329184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352044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Speed</a:t>
            </a:r>
            <a:endParaRPr lang="en-US" sz="1800" dirty="0"/>
          </a:p>
        </p:txBody>
      </p:sp>
      <p:sp>
        <p:nvSpPr>
          <p:cNvPr id="12" name="Text 9"/>
          <p:cNvSpPr/>
          <p:nvPr/>
        </p:nvSpPr>
        <p:spPr>
          <a:xfrm>
            <a:off x="352044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The AI writes one token at a time, like someone typing. A long answer takes longer than a short one.</a:t>
            </a:r>
            <a:endParaRPr lang="en-US" sz="1500" dirty="0"/>
          </a:p>
        </p:txBody>
      </p:sp>
      <p:sp>
        <p:nvSpPr>
          <p:cNvPr id="13" name="Shape 10"/>
          <p:cNvSpPr/>
          <p:nvPr/>
        </p:nvSpPr>
        <p:spPr>
          <a:xfrm>
            <a:off x="6080760" y="1280160"/>
            <a:ext cx="2560320" cy="310896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11"/>
          <p:cNvSpPr/>
          <p:nvPr/>
        </p:nvSpPr>
        <p:spPr>
          <a:xfrm>
            <a:off x="6080760" y="1280160"/>
            <a:ext cx="2560320" cy="91440"/>
          </a:xfrm>
          <a:prstGeom prst="rect">
            <a:avLst/>
          </a:prstGeom>
          <a:solidFill>
            <a:srgbClr val="0B7A75"/>
          </a:solidFill>
          <a:ln w="12700">
            <a:solidFill>
              <a:srgbClr val="0B7A75"/>
            </a:solidFill>
            <a:prstDash val="solid"/>
          </a:ln>
        </p:spPr>
        <p:txBody>
          <a:bodyPr/>
          <a:lstStyle/>
          <a:p>
            <a:endParaRPr lang="en-US"/>
          </a:p>
        </p:txBody>
      </p:sp>
      <p:sp>
        <p:nvSpPr>
          <p:cNvPr id="15" name="Text 12"/>
          <p:cNvSpPr/>
          <p:nvPr/>
        </p:nvSpPr>
        <p:spPr>
          <a:xfrm>
            <a:off x="6309360" y="1554480"/>
            <a:ext cx="2103120" cy="731520"/>
          </a:xfrm>
          <a:prstGeom prst="rect">
            <a:avLst/>
          </a:prstGeom>
          <a:noFill/>
          <a:ln/>
        </p:spPr>
        <p:txBody>
          <a:bodyPr wrap="square" lIns="0" tIns="0" rIns="0" bIns="0" rtlCol="0" anchor="t"/>
          <a:lstStyle/>
          <a:p>
            <a:pPr marL="0" indent="0">
              <a:buNone/>
            </a:pPr>
            <a:r>
              <a:rPr lang="en-US" sz="1800" b="1" dirty="0">
                <a:solidFill>
                  <a:srgbClr val="0B4F5C"/>
                </a:solidFill>
                <a:latin typeface="Cambria" pitchFamily="34" charset="0"/>
                <a:ea typeface="Cambria" pitchFamily="34" charset="-122"/>
                <a:cs typeface="Cambria" pitchFamily="34" charset="-120"/>
              </a:rPr>
              <a:t>Limits</a:t>
            </a:r>
            <a:endParaRPr lang="en-US" sz="1800" dirty="0"/>
          </a:p>
        </p:txBody>
      </p:sp>
      <p:sp>
        <p:nvSpPr>
          <p:cNvPr id="16" name="Text 13"/>
          <p:cNvSpPr/>
          <p:nvPr/>
        </p:nvSpPr>
        <p:spPr>
          <a:xfrm>
            <a:off x="6309360" y="2331720"/>
            <a:ext cx="2103120" cy="1920240"/>
          </a:xfrm>
          <a:prstGeom prst="rect">
            <a:avLst/>
          </a:prstGeom>
          <a:noFill/>
          <a:ln/>
        </p:spPr>
        <p:txBody>
          <a:bodyPr wrap="square" lIns="0" tIns="0" rIns="0" bIns="0" rtlCol="0" anchor="t"/>
          <a:lstStyle/>
          <a:p>
            <a:pPr marL="0" indent="0">
              <a:buNone/>
            </a:pPr>
            <a:r>
              <a:rPr lang="en-US" sz="1500" dirty="0">
                <a:solidFill>
                  <a:srgbClr val="1B2B34"/>
                </a:solidFill>
                <a:latin typeface="Calibri" pitchFamily="34" charset="0"/>
                <a:ea typeface="Calibri" pitchFamily="34" charset="-122"/>
                <a:cs typeface="Calibri" pitchFamily="34" charset="-120"/>
              </a:rPr>
              <a:t>The context window is the AI's suitcase. Everything you send plus the answer must fit inside it.</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2600" b="1" dirty="0">
                <a:solidFill>
                  <a:srgbClr val="0B4F5C"/>
                </a:solidFill>
                <a:latin typeface="Cambria" pitchFamily="34" charset="0"/>
                <a:ea typeface="Cambria" pitchFamily="34" charset="-122"/>
                <a:cs typeface="Cambria" pitchFamily="34" charset="-120"/>
              </a:rPr>
              <a:t>Why tokens matter: cost, speed and limits</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Part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Sum</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Input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2,000 / 1,000,000 × $1</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Output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500 / 1,000,000 × $4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$0.002</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One call</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$0.004</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10,000 such calls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$0.004 × 10,000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$40</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suitcase</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The context window is like an airline luggage limit. Your question, the earlier conversation and the answer all share one suitcase. If it is full, something has to be left behind.</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How the AI picks each token</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Last lesson you saw that an AI guesses what comes next.</a:t>
            </a:r>
            <a:endParaRPr lang="en-US" sz="2200" dirty="0"/>
          </a:p>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For I would like a cup of...</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Temperature: the creativity dial</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91440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Setting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happens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Good for</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Low (0 to 0.3)</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Nearly always picks the favourite. Predictable, repeatable.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Sorting emails, pulling out facts, anything a program must read</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High (0.8 and above)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Gives long shots a real chance. Varied and surprising.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Slogans, brainstorming, stories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Ordering lunch</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Low temperature is the person who orders the same meal every time. High temperature is the person who tries something new each visit.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Two common mistakes</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Low temperature does not mean correct. An AI can be consistently wrong. And even at 0, two runs are not guaranteed to be identical. Also, some reasoning models ignore this setting.</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Fluent is not the same as true</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Remember: wrong answers are produced in exactly the same way as right ones.</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Try it live</a:t>
            </a:r>
            <a:endParaRPr lang="en-US" sz="3000" dirty="0"/>
          </a:p>
        </p:txBody>
      </p:sp>
      <p:sp>
        <p:nvSpPr>
          <p:cNvPr id="5" name="Shape 2"/>
          <p:cNvSpPr/>
          <p:nvPr/>
        </p:nvSpPr>
        <p:spPr>
          <a:xfrm>
            <a:off x="502920" y="1371600"/>
            <a:ext cx="8138160" cy="256032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822960" y="1737360"/>
            <a:ext cx="822960" cy="82296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04011" y="1918411"/>
            <a:ext cx="460858" cy="460858"/>
          </a:xfrm>
          <a:prstGeom prst="rect">
            <a:avLst/>
          </a:prstGeom>
        </p:spPr>
      </p:pic>
      <p:sp>
        <p:nvSpPr>
          <p:cNvPr id="8" name="Text 4"/>
          <p:cNvSpPr/>
          <p:nvPr/>
        </p:nvSpPr>
        <p:spPr>
          <a:xfrm>
            <a:off x="1920240" y="1691640"/>
            <a:ext cx="6400800" cy="91440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Open this lesson's page on the course site and play with the interactive demo.</a:t>
            </a:r>
            <a:endParaRPr lang="en-US" sz="2200" dirty="0"/>
          </a:p>
        </p:txBody>
      </p:sp>
      <p:sp>
        <p:nvSpPr>
          <p:cNvPr id="9" name="Text 5"/>
          <p:cNvSpPr/>
          <p:nvPr/>
        </p:nvSpPr>
        <p:spPr>
          <a:xfrm>
            <a:off x="1920240" y="2743200"/>
            <a:ext cx="6400800" cy="91440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the inputs, watch what happens, and say out loud what you think will change before you click.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Pick a chat tool that lets you set the temperature (the OpenRouter chat page has a settings panel for this, and many other tools do too).</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Search for an online tokenizer tool. OpenAI offers a free one, and there are others.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Paste in an English paragraph. Write down the characters and the tokens.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Paste in a code snippet (any few lines). Write down the numbers.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Paste in a sentence in another language you know. Write down the numbers.</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Work out characters per token for each.</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1.  What is a token?</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2.  In ordinary English, roughly how many characters make one token?</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3.  Which tokens do you usually pay for?</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4.  You want an AI to sort emails into categories the same way every time. Which temperature suits best?</a:t>
            </a:r>
            <a:endParaRPr lang="en-US" sz="1700" dirty="0"/>
          </a:p>
          <a:p>
            <a:pPr marL="0" indent="0">
              <a:spcAft>
                <a:spcPts val="1200"/>
              </a:spcAft>
              <a:buNone/>
            </a:pPr>
            <a:r>
              <a:rPr lang="en-US" sz="1700" dirty="0">
                <a:solidFill>
                  <a:srgbClr val="1B2B34"/>
                </a:solidFill>
                <a:latin typeface="Calibri" pitchFamily="34" charset="0"/>
                <a:ea typeface="Calibri" pitchFamily="34" charset="-122"/>
                <a:cs typeface="Calibri" pitchFamily="34" charset="-120"/>
              </a:rPr>
              <a:t>5.  An AI is set to temperature 0. What does that guarantee?</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Token</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small chunk of text, often a word or part of a word, that an AI reads and writes.</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Tokenizer</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tool that splits text into tokens. Each model family has its own.</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Input tokens</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tokens you send to the AI, including your instructions and earlier conversation.</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Output tokens</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tokens the AI writes back.</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Context window</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maximum number of tokens an AI can handle in one call, input and output together.</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Temperature</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setting that controls how predictable or varied the AI's picks are.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A token is a small chunk of text. About four English characters make one token.</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Tokens decide cost (you pay per token), speed (one token at a time) and limits (the context window).</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Temperature is the dial between predictable and adventurous. Low for tasks, high for creativity. Neither guarantees truth.</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3, Prompt engineering: how to write instructions that make an AI do what you actually want, and how to test them.</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1651</Words>
  <Application>Microsoft Office PowerPoint</Application>
  <PresentationFormat>On-screen Show (16:9)</PresentationFormat>
  <Paragraphs>146</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 Tokens: how an AI reads, and why it matters</dc:title>
  <dc:subject>PptxGenJS Presentation</dc:subject>
  <dc:creator>Agentic AI Builder</dc:creator>
  <cp:lastModifiedBy>DEV DOMINIC</cp:lastModifiedBy>
  <cp:revision>2</cp:revision>
  <dcterms:created xsi:type="dcterms:W3CDTF">2026-10-28T23:53:07Z</dcterms:created>
  <dcterms:modified xsi:type="dcterms:W3CDTF">2026-10-28T23:56:23Z</dcterms:modified>
</cp:coreProperties>
</file>