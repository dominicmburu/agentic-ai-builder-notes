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241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9. It takes about 50 minutes. How data moves between boxes in n8n, and how other systems can start your workflow.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JSON in Lesson 1. Here it is again, built up one step at a time, using a spreadsheet as the comparison. Reminder of the rules: keys need double quotes, and true and false are lowercase with no quotes.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expression goes inside double curly braces. It tells n8n: “put the value from over there into this field.” Why turn data into text? A language model reads text. If you want it to read a row of data, convert the data into text first with JSON.stringify. In an n8n field you may need to switch the field to Expression mode (or just type two curly braces) before it understands the braces.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rarely arrives in the shape you need. The Edit Fields node lets you rename fields, add new ones and keep only what you want. For example, to build a single sentence for the AI from a row of a sheet, add a field called text and set it 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API endpoint is an address that accepts requests. You used one in Lesson 1 when you sent a question to an AI. A webhook is the other way around: it is an address that your workflow gives out, so that other systems can call it when something happens. Add a Webhook node and set the method to POST. Give it a path. The node shows two addresses. The test URL only works while you press “Listen for test event”. The production URL works when the workflow is active. Send a test request from a terminal, or a tool like Postman: The data you sent appears under body, so the name is read with {{ $json.body.name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lesson page on the course site and use the interactive demo together. Let students suggest the inputs.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Reads the name field from the item that just arrived. $json is the current item's data, and.name picks one field. 2. Refer to the node by its name, for example $('Google Sheets').item.json.email. Expressions can reach back to earlier nodes by name. 3. An address that other systems call when something happens, so your workflow starts. It is the doorbell of your workflow. 4. POST. GET fetches. POST sends. 5. A model reads text, so the data must be turned into text. Stringify converts structured data into a piece of text.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2  ·  LESSON 9</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Data, expressions and webhooks</a:t>
            </a:r>
            <a:endParaRPr lang="en-US" sz="38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How data moves between boxes in n8n, and how other systems can start your workflow.</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Data in n8n is a list of items, each written as JSON. Expressions are how one box picks values out of data that came before. A webhook is a doorbell that lets other systems start your workflow.</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Read and write JSON data inside a workflow.</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Use n8n expressions to pull values from earlier nodes.</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Receive data through a webhook.</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JSON in four steps</a:t>
            </a:r>
            <a:endParaRPr lang="en-US" sz="3000" dirty="0"/>
          </a:p>
        </p:txBody>
      </p:sp>
      <p:sp>
        <p:nvSpPr>
          <p:cNvPr id="5" name="Shape 2"/>
          <p:cNvSpPr/>
          <p:nvPr/>
        </p:nvSpPr>
        <p:spPr>
          <a:xfrm>
            <a:off x="502920" y="1280160"/>
            <a:ext cx="1863090" cy="310896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186309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140589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1. Key and value</a:t>
            </a:r>
            <a:endParaRPr lang="en-US" sz="1800" dirty="0"/>
          </a:p>
        </p:txBody>
      </p:sp>
      <p:sp>
        <p:nvSpPr>
          <p:cNvPr id="8" name="Text 5"/>
          <p:cNvSpPr/>
          <p:nvPr/>
        </p:nvSpPr>
        <p:spPr>
          <a:xfrm>
            <a:off x="731520" y="2331720"/>
            <a:ext cx="140589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One cell with its heading.</a:t>
            </a:r>
            <a:endParaRPr lang="en-US" sz="1500" dirty="0"/>
          </a:p>
        </p:txBody>
      </p:sp>
      <p:sp>
        <p:nvSpPr>
          <p:cNvPr id="9" name="Shape 6"/>
          <p:cNvSpPr/>
          <p:nvPr/>
        </p:nvSpPr>
        <p:spPr>
          <a:xfrm>
            <a:off x="2594610" y="1280160"/>
            <a:ext cx="1863090" cy="310896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2594610" y="1280160"/>
            <a:ext cx="186309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2823210" y="1554480"/>
            <a:ext cx="140589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2. Object</a:t>
            </a:r>
            <a:endParaRPr lang="en-US" sz="1800" dirty="0"/>
          </a:p>
        </p:txBody>
      </p:sp>
      <p:sp>
        <p:nvSpPr>
          <p:cNvPr id="12" name="Text 9"/>
          <p:cNvSpPr/>
          <p:nvPr/>
        </p:nvSpPr>
        <p:spPr>
          <a:xfrm>
            <a:off x="2823210" y="2331720"/>
            <a:ext cx="140589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One whole row, wrapped in curly braces.</a:t>
            </a:r>
            <a:endParaRPr lang="en-US" sz="1500" dirty="0"/>
          </a:p>
        </p:txBody>
      </p:sp>
      <p:sp>
        <p:nvSpPr>
          <p:cNvPr id="13" name="Shape 10"/>
          <p:cNvSpPr/>
          <p:nvPr/>
        </p:nvSpPr>
        <p:spPr>
          <a:xfrm>
            <a:off x="4686300" y="1280160"/>
            <a:ext cx="1863090" cy="310896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4" name="Shape 11"/>
          <p:cNvSpPr/>
          <p:nvPr/>
        </p:nvSpPr>
        <p:spPr>
          <a:xfrm>
            <a:off x="4686300" y="1280160"/>
            <a:ext cx="1863090" cy="91440"/>
          </a:xfrm>
          <a:prstGeom prst="rect">
            <a:avLst/>
          </a:prstGeom>
          <a:solidFill>
            <a:srgbClr val="0B7A75"/>
          </a:solidFill>
          <a:ln w="12700">
            <a:solidFill>
              <a:srgbClr val="0B7A75"/>
            </a:solidFill>
            <a:prstDash val="solid"/>
          </a:ln>
        </p:spPr>
        <p:txBody>
          <a:bodyPr/>
          <a:lstStyle/>
          <a:p>
            <a:endParaRPr lang="en-US"/>
          </a:p>
        </p:txBody>
      </p:sp>
      <p:sp>
        <p:nvSpPr>
          <p:cNvPr id="15" name="Text 12"/>
          <p:cNvSpPr/>
          <p:nvPr/>
        </p:nvSpPr>
        <p:spPr>
          <a:xfrm>
            <a:off x="4914900" y="1554480"/>
            <a:ext cx="140589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3. Array</a:t>
            </a:r>
            <a:endParaRPr lang="en-US" sz="1800" dirty="0"/>
          </a:p>
        </p:txBody>
      </p:sp>
      <p:sp>
        <p:nvSpPr>
          <p:cNvPr id="16" name="Text 13"/>
          <p:cNvSpPr/>
          <p:nvPr/>
        </p:nvSpPr>
        <p:spPr>
          <a:xfrm>
            <a:off x="4914900" y="2331720"/>
            <a:ext cx="140589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A list of rows, in square brackets.</a:t>
            </a:r>
            <a:endParaRPr lang="en-US" sz="1500" dirty="0"/>
          </a:p>
        </p:txBody>
      </p:sp>
      <p:sp>
        <p:nvSpPr>
          <p:cNvPr id="17" name="Shape 14"/>
          <p:cNvSpPr/>
          <p:nvPr/>
        </p:nvSpPr>
        <p:spPr>
          <a:xfrm>
            <a:off x="6777990" y="1280160"/>
            <a:ext cx="1863090" cy="3108960"/>
          </a:xfrm>
          <a:prstGeom prst="roundRect">
            <a:avLst>
              <a:gd name="adj" fmla="val 5890"/>
            </a:avLst>
          </a:prstGeom>
          <a:solidFill>
            <a:srgbClr val="E8F3F2"/>
          </a:solidFill>
          <a:ln w="9525">
            <a:solidFill>
              <a:srgbClr val="E8F3F2"/>
            </a:solidFill>
            <a:prstDash val="solid"/>
          </a:ln>
        </p:spPr>
        <p:txBody>
          <a:bodyPr/>
          <a:lstStyle/>
          <a:p>
            <a:endParaRPr lang="en-US"/>
          </a:p>
        </p:txBody>
      </p:sp>
      <p:sp>
        <p:nvSpPr>
          <p:cNvPr id="18" name="Shape 15"/>
          <p:cNvSpPr/>
          <p:nvPr/>
        </p:nvSpPr>
        <p:spPr>
          <a:xfrm>
            <a:off x="6777990" y="1280160"/>
            <a:ext cx="1863090" cy="91440"/>
          </a:xfrm>
          <a:prstGeom prst="rect">
            <a:avLst/>
          </a:prstGeom>
          <a:solidFill>
            <a:srgbClr val="0B7A75"/>
          </a:solidFill>
          <a:ln w="12700">
            <a:solidFill>
              <a:srgbClr val="0B7A75"/>
            </a:solidFill>
            <a:prstDash val="solid"/>
          </a:ln>
        </p:spPr>
        <p:txBody>
          <a:bodyPr/>
          <a:lstStyle/>
          <a:p>
            <a:endParaRPr lang="en-US"/>
          </a:p>
        </p:txBody>
      </p:sp>
      <p:sp>
        <p:nvSpPr>
          <p:cNvPr id="19" name="Text 16"/>
          <p:cNvSpPr/>
          <p:nvPr/>
        </p:nvSpPr>
        <p:spPr>
          <a:xfrm>
            <a:off x="7006590" y="1554480"/>
            <a:ext cx="140589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4. Nesting</a:t>
            </a:r>
            <a:endParaRPr lang="en-US" sz="1800" dirty="0"/>
          </a:p>
        </p:txBody>
      </p:sp>
      <p:sp>
        <p:nvSpPr>
          <p:cNvPr id="20" name="Text 17"/>
          <p:cNvSpPr/>
          <p:nvPr/>
        </p:nvSpPr>
        <p:spPr>
          <a:xfrm>
            <a:off x="7006590" y="2331720"/>
            <a:ext cx="140589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A value that is itself an object or list.</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spreadsheet</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A spreadsheet of five customers is a list of five rows. n8n treats it the same way: five items. A node that processes items runs once for each one.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Expressions: picking values out of data</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406908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You type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It means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 $json.name }}</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name field of the item that just arrived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 $json.orders[0].item }}</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item inside the first order in the orders list.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 $('Google Sheets').item.json.email }}</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email field from an earlier node…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 JSON.stringify($json) }}</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Turn all the data into plain text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A form converter</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One office uses a form with “Full Name” and another uses “name”. Edit Fields is the clerk who copies the information from one form to the other.</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doorbell</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Your workflow is a house. A webhook is the doorbell. Anyone with the address can ring it, and when they do, the workflow wakes up and handles the visit.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APIs and webhooks</a:t>
            </a:r>
            <a:endParaRPr lang="en-US" sz="3000" dirty="0"/>
          </a:p>
        </p:txBody>
      </p:sp>
      <p:sp>
        <p:nvSpPr>
          <p:cNvPr id="4"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6"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GET</a:t>
            </a:r>
            <a:endParaRPr lang="en-US" sz="2200" dirty="0"/>
          </a:p>
        </p:txBody>
      </p:sp>
      <p:sp>
        <p:nvSpPr>
          <p:cNvPr id="7"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“Please give me some data.” No order slip needed.</a:t>
            </a:r>
            <a:endParaRPr lang="en-US" sz="1800" dirty="0"/>
          </a:p>
        </p:txBody>
      </p:sp>
      <p:sp>
        <p:nvSpPr>
          <p:cNvPr id="8"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9"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0"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POST</a:t>
            </a:r>
            <a:endParaRPr lang="en-US" sz="2200" dirty="0"/>
          </a:p>
        </p:txBody>
      </p:sp>
      <p:sp>
        <p:nvSpPr>
          <p:cNvPr id="11"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“Here is some data for you.” It carries a JSON body, like the order form in Lesson 1.</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APIs and webhooks</a:t>
            </a:r>
            <a:endParaRPr lang="en-US" sz="3000" dirty="0"/>
          </a:p>
        </p:txBody>
      </p:sp>
      <p:sp>
        <p:nvSpPr>
          <p:cNvPr id="4"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5"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Add a Webhook node and set the method to POST. Give it a path.</a:t>
            </a:r>
            <a:endParaRPr lang="en-US" sz="1800" dirty="0"/>
          </a:p>
        </p:txBody>
      </p:sp>
      <p:sp>
        <p:nvSpPr>
          <p:cNvPr id="7"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8"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node shows two addresses.</a:t>
            </a:r>
            <a:endParaRPr lang="en-US" sz="1800" dirty="0"/>
          </a:p>
        </p:txBody>
      </p:sp>
      <p:sp>
        <p:nvSpPr>
          <p:cNvPr id="10"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1"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Send a test request from a terminal, or a tool like Postman:</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 webhook is an open door</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Anyone who finds the address can call it. For real use, add a secret check, for example a required header, so only trusted senders get in.</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Try it live</a:t>
            </a:r>
            <a:endParaRPr lang="en-US" sz="3000" dirty="0"/>
          </a:p>
        </p:txBody>
      </p:sp>
      <p:sp>
        <p:nvSpPr>
          <p:cNvPr id="5" name="Shape 2"/>
          <p:cNvSpPr/>
          <p:nvPr/>
        </p:nvSpPr>
        <p:spPr>
          <a:xfrm>
            <a:off x="502920" y="1371600"/>
            <a:ext cx="8138160" cy="256032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822960" y="1737360"/>
            <a:ext cx="822960" cy="82296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04011" y="1918411"/>
            <a:ext cx="460858" cy="460858"/>
          </a:xfrm>
          <a:prstGeom prst="rect">
            <a:avLst/>
          </a:prstGeom>
        </p:spPr>
      </p:pic>
      <p:sp>
        <p:nvSpPr>
          <p:cNvPr id="8" name="Text 4"/>
          <p:cNvSpPr/>
          <p:nvPr/>
        </p:nvSpPr>
        <p:spPr>
          <a:xfrm>
            <a:off x="1920240" y="1691640"/>
            <a:ext cx="6400800" cy="91440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Open this lesson's page on the course site and play with the interactive demo.</a:t>
            </a:r>
            <a:endParaRPr lang="en-US" sz="2200" dirty="0"/>
          </a:p>
        </p:txBody>
      </p:sp>
      <p:sp>
        <p:nvSpPr>
          <p:cNvPr id="9" name="Text 5"/>
          <p:cNvSpPr/>
          <p:nvPr/>
        </p:nvSpPr>
        <p:spPr>
          <a:xfrm>
            <a:off x="1920240" y="2743200"/>
            <a:ext cx="6400800" cy="91440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the inputs, watch what happens, and say out loud what you think will change before you click.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Pull rows from a Google Sheet, reshape the fields with Edit Fields, and send each row to an agent that writes a one-line summary.</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Make a Google Sheet with a header row and five rows, for example name, city, item and quantity.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Add a Google Sheets node to get the rows. Check that you see five items in the output.</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Add an Edit Fields node that creates one field called text, a sentence built from the columns.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Add an AI Agent whose prompt is the text field and whose instruction is “Write a one-line summary.”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Run it. Open the agent's execution and confirm it ran five times, once per row.</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 $json.name }} do?</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How can you read a value from an earlier node?</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What is a webhook?</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Which method sends data with a JSON body?</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Why use JSON.stringify before giving data to a model?</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Item</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One piece of data passing through n8n, usually one row of a sheet.</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Key and value</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label with its data, like a spreadsheet heading and a cell.</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Object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group of key-value pairs wrapped in curly braces. One row.</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Array</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list written in square brackets. Counting starts at 0.</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Nesting</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Putting objects or lists inside other objects.</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$json</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In an n8n expression, the data of the current item.</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n8n data is a list of items. Each item is JSON: keys and values, objects, arrays and nesting.</a:t>
            </a:r>
            <a:endParaRPr lang="en-US" sz="1600" dirty="0"/>
          </a:p>
        </p:txBody>
      </p:sp>
      <p:sp>
        <p:nvSpPr>
          <p:cNvPr id="8" name="Shape 4"/>
          <p:cNvSpPr/>
          <p:nvPr/>
        </p:nvSpPr>
        <p:spPr>
          <a:xfrm>
            <a:off x="548640" y="20802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180844"/>
            <a:ext cx="256032" cy="256032"/>
          </a:xfrm>
          <a:prstGeom prst="rect">
            <a:avLst/>
          </a:prstGeom>
        </p:spPr>
      </p:pic>
      <p:sp>
        <p:nvSpPr>
          <p:cNvPr id="10" name="Text 5"/>
          <p:cNvSpPr/>
          <p:nvPr/>
        </p:nvSpPr>
        <p:spPr>
          <a:xfrm>
            <a:off x="1234440" y="20528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Expressions in double curly braces pull values from the current item or from earlier nodes.</a:t>
            </a:r>
            <a:endParaRPr lang="en-US" sz="1600" dirty="0"/>
          </a:p>
        </p:txBody>
      </p:sp>
      <p:sp>
        <p:nvSpPr>
          <p:cNvPr id="11" name="Shape 6"/>
          <p:cNvSpPr/>
          <p:nvPr/>
        </p:nvSpPr>
        <p:spPr>
          <a:xfrm>
            <a:off x="548640" y="28803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2980944"/>
            <a:ext cx="256032" cy="256032"/>
          </a:xfrm>
          <a:prstGeom prst="rect">
            <a:avLst/>
          </a:prstGeom>
        </p:spPr>
      </p:pic>
      <p:sp>
        <p:nvSpPr>
          <p:cNvPr id="13" name="Text 7"/>
          <p:cNvSpPr/>
          <p:nvPr/>
        </p:nvSpPr>
        <p:spPr>
          <a:xfrm>
            <a:off x="1234440" y="28529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Edit Fields reshapes data. JSON.stringify turns data into text a model can read.</a:t>
            </a:r>
            <a:endParaRPr lang="en-US" sz="1600" dirty="0"/>
          </a:p>
        </p:txBody>
      </p:sp>
      <p:sp>
        <p:nvSpPr>
          <p:cNvPr id="14" name="Shape 8"/>
          <p:cNvSpPr/>
          <p:nvPr/>
        </p:nvSpPr>
        <p:spPr>
          <a:xfrm>
            <a:off x="548640" y="36804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5" name="Image 3" descr="icon"/>
          <p:cNvPicPr>
            <a:picLocks noChangeAspect="1"/>
          </p:cNvPicPr>
          <p:nvPr/>
        </p:nvPicPr>
        <p:blipFill>
          <a:blip r:embed="rId3"/>
          <a:stretch>
            <a:fillRect/>
          </a:stretch>
        </p:blipFill>
        <p:spPr>
          <a:xfrm>
            <a:off x="649224" y="3781044"/>
            <a:ext cx="256032" cy="256032"/>
          </a:xfrm>
          <a:prstGeom prst="rect">
            <a:avLst/>
          </a:prstGeom>
        </p:spPr>
      </p:pic>
      <p:sp>
        <p:nvSpPr>
          <p:cNvPr id="16" name="Text 9"/>
          <p:cNvSpPr/>
          <p:nvPr/>
        </p:nvSpPr>
        <p:spPr>
          <a:xfrm>
            <a:off x="1234440" y="3653028"/>
            <a:ext cx="7406640" cy="754380"/>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A webhook is a doorbell that starts a workflow. Use GET to fetch and POST to send.</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10, the Week 2 project: a Daily Portfolio Rebalancer that runs on a schedule, measures drift from target weights and emails a summary.</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1571</Words>
  <Application>Microsoft Office PowerPoint</Application>
  <PresentationFormat>On-screen Show (16:9)</PresentationFormat>
  <Paragraphs>134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Data, expressions and webhooks</dc:title>
  <dc:subject>PptxGenJS Presentation</dc:subject>
  <dc:creator>Agentic AI Builder</dc:creator>
  <cp:lastModifiedBy>DEV DOMINIC</cp:lastModifiedBy>
  <cp:revision>2</cp:revision>
  <dcterms:created xsi:type="dcterms:W3CDTF">2026-10-28T23:53:08Z</dcterms:created>
  <dcterms:modified xsi:type="dcterms:W3CDTF">2026-10-28T23:59:47Z</dcterms:modified>
</cp:coreProperties>
</file>