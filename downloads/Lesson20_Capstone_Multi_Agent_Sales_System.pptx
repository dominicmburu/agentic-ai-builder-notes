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0811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20. It takes about 120 minutes. Bring the whole course together: a business-development manager agent with specialist sub-agents.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workflow JSON files: starting versions of the manager and the specialists, to import into n8n. ICP.pdf: the Ideal Customer Profile, a description of the kind of company we want to sell to. Use the files your teacher shares. In n8n, import a file from the workflow menu. Then replace placeholder credentials with your 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in first. It takes thirty minutes and saves hours.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and run each specialist alone. Make sure each one works by itself with a fixed test input. Connect Prospecting to its MCP tools (Lesson 18). Allow only the tools it needs. Make the SDR draft, not send. Its output goes to a draft or a sheet for review. Make RevOps record results with consistent fields: company, contact, status, date. Add error handling (Lesson 17): retries for lookups, an error branch, and an error workflow. Assemble the BDM. Attach the specialists as tools with clear names and descriptions (Lesson 19) and write the manager prompt. Test the whole system using the table below, then fix and test again.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10 test requests before you start fixing. Include easy ones, vague ones and ones that should be refused or questioned (for example “Email the CEO of every company in the list now”, which should produce drafts and ask for approval, not send). The table shows five rows. Continue the pattern for all ten in your notes. Also track: how long each run takes, roughly what each run costs, and how often the manager chose the wrong specialist.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these in one page: What it does, in two sentences a customer would understand. How it works: a simple diagram and one line per agent. How well it works: your test score, and the failures you found. What could go wrong: the biggest risk and how you reduced it. What you would do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for 5 minutes: The problem (30 seconds): what the sales team struggles with. The live run (2 minutes): give the BDM one request and show the specialists being used. Open the execution so people see who did what. A failure on purpose (1 minute): show a request that should be refused or approved first, and what the system did. Your results (1 minute): the test score and one thing you fixed. Questions (30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Understands the request, delegates to specialists, and combines their results. It is the team lead. The specialists do the specific jobs. 2. A person should approve outreach before anything is sent. A sent message cannot be unsent, and AI makes mistakes. 3. It reads untrusted web pages, so removing those abilities breaks the lethal trifecta. Untrusted content plus private data plus a way out is the dangerous combination. 4. Before you start fixing problems. Tests written first stop you from only checking what you already know works. 5. Firecrawl and Hunter.io, through MCP. MCP connects the agent to outside services in a standard 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4  ·  LESSON 20</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Capstone: a multi-agent sales system</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Bring the whole course together: a business-development manager agent with specialist sub-agents.</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F26B5B"/>
          </a:solidFill>
          <a:ln w="9525">
            <a:solidFill>
              <a:srgbClr val="F26B5B"/>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
        <p:nvSpPr>
          <p:cNvPr id="8" name="Shape 5"/>
          <p:cNvSpPr/>
          <p:nvPr/>
        </p:nvSpPr>
        <p:spPr>
          <a:xfrm>
            <a:off x="6858000" y="3429000"/>
            <a:ext cx="1737360" cy="411480"/>
          </a:xfrm>
          <a:prstGeom prst="roundRect">
            <a:avLst>
              <a:gd name="adj" fmla="val 22222"/>
            </a:avLst>
          </a:prstGeom>
          <a:solidFill>
            <a:srgbClr val="F4B942"/>
          </a:solidFill>
          <a:ln w="9525">
            <a:solidFill>
              <a:srgbClr val="F4B942"/>
            </a:solidFill>
            <a:prstDash val="solid"/>
          </a:ln>
        </p:spPr>
        <p:txBody>
          <a:bodyPr/>
          <a:lstStyle/>
          <a:p>
            <a:endParaRPr lang="en-US"/>
          </a:p>
        </p:txBody>
      </p:sp>
      <p:sp>
        <p:nvSpPr>
          <p:cNvPr id="9" name="Text 6"/>
          <p:cNvSpPr/>
          <p:nvPr/>
        </p:nvSpPr>
        <p:spPr>
          <a:xfrm>
            <a:off x="6858000" y="3429000"/>
            <a:ext cx="1737360" cy="411480"/>
          </a:xfrm>
          <a:prstGeom prst="rect">
            <a:avLst/>
          </a:prstGeom>
          <a:noFill/>
          <a:ln/>
        </p:spPr>
        <p:txBody>
          <a:bodyPr wrap="square" lIns="0" tIns="0" rIns="0" bIns="0" rtlCol="0" anchor="ctr"/>
          <a:lstStyle/>
          <a:p>
            <a:pPr marL="0" indent="0" algn="ctr">
              <a:buNone/>
            </a:pPr>
            <a:r>
              <a:rPr lang="en-US" sz="1600" b="1" dirty="0">
                <a:solidFill>
                  <a:srgbClr val="1B2B34"/>
                </a:solidFill>
                <a:latin typeface="Calibri" pitchFamily="34" charset="0"/>
                <a:ea typeface="Calibri" pitchFamily="34" charset="-122"/>
                <a:cs typeface="Calibri" pitchFamily="34" charset="-120"/>
              </a:rPr>
              <a:t>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You will plan, build, test and present a system where a manager agent coordinates four specialists to help a sales team. This is the course in one project: prompts, tools, data, workflows, MCP, sub-agents and safety.</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system</a:t>
            </a:r>
            <a:endParaRPr lang="en-US" sz="3000" dirty="0"/>
          </a:p>
        </p:txBody>
      </p:sp>
      <p:sp>
        <p:nvSpPr>
          <p:cNvPr id="4" name="Shape 2"/>
          <p:cNvSpPr/>
          <p:nvPr/>
        </p:nvSpPr>
        <p:spPr>
          <a:xfrm>
            <a:off x="502920" y="1280160"/>
            <a:ext cx="8138160" cy="3474720"/>
          </a:xfrm>
          <a:prstGeom prst="roundRect">
            <a:avLst>
              <a:gd name="adj" fmla="val 2632"/>
            </a:avLst>
          </a:prstGeom>
          <a:solidFill>
            <a:srgbClr val="FFFFFF"/>
          </a:solidFill>
          <a:ln w="12700">
            <a:solidFill>
              <a:srgbClr val="CFE3E1"/>
            </a:solidFill>
            <a:prstDash val="solid"/>
          </a:ln>
        </p:spPr>
        <p:txBody>
          <a:bodyPr/>
          <a:lstStyle/>
          <a:p>
            <a:endParaRPr lang="en-US"/>
          </a:p>
        </p:txBody>
      </p:sp>
      <p:pic>
        <p:nvPicPr>
          <p:cNvPr id="5" name="Image 0" descr="Each specialist has a short prompt and only the tools for its job."/>
          <p:cNvPicPr>
            <a:picLocks noChangeAspect="1"/>
          </p:cNvPicPr>
          <p:nvPr/>
        </p:nvPicPr>
        <p:blipFill>
          <a:blip r:embed="rId3"/>
          <a:stretch>
            <a:fillRect/>
          </a:stretch>
        </p:blipFill>
        <p:spPr>
          <a:xfrm>
            <a:off x="736703" y="1417320"/>
            <a:ext cx="7670594" cy="3200400"/>
          </a:xfrm>
          <a:prstGeom prst="rect">
            <a:avLst/>
          </a:prstGeom>
        </p:spPr>
      </p:pic>
      <p:sp>
        <p:nvSpPr>
          <p:cNvPr id="6" name="Text 3"/>
          <p:cNvSpPr/>
          <p:nvPr/>
        </p:nvSpPr>
        <p:spPr>
          <a:xfrm>
            <a:off x="502920" y="4892040"/>
            <a:ext cx="8138160" cy="274320"/>
          </a:xfrm>
          <a:prstGeom prst="rect">
            <a:avLst/>
          </a:prstGeom>
          <a:noFill/>
          <a:ln/>
        </p:spPr>
        <p:txBody>
          <a:bodyPr wrap="square" lIns="0" tIns="0" rIns="0" bIns="0" rtlCol="0" anchor="t"/>
          <a:lstStyle/>
          <a:p>
            <a:pPr marL="0" indent="0" algn="ctr">
              <a:buNone/>
            </a:pPr>
            <a:r>
              <a:rPr lang="en-US" sz="1400" i="1" dirty="0">
                <a:solidFill>
                  <a:srgbClr val="5B6B73"/>
                </a:solidFill>
                <a:latin typeface="Calibri" pitchFamily="34" charset="0"/>
                <a:ea typeface="Calibri" pitchFamily="34" charset="-122"/>
                <a:cs typeface="Calibri" pitchFamily="34" charset="-120"/>
              </a:rPr>
              <a:t>Each specialist has a short prompt and only the tools for its job.</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system</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Agent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Job</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Tools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BDM (manager)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Understands the request, decides who helps, combines results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four specialists as tools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Prospecting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Finds companies that match the ideal customer profile…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Firecrawl (reads web pages) and Hunter.io (finds work emails)…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SDR (sales development rep)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Drafts a short, personal first message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Drafts only. Never sends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RevOps (revenue operations)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Records results, checks data quality, reports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Sheet or CRM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Account Executive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Prepares a briefing before a meeting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Reads records, company notes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small sales team</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BDM is the team lead. Prospecting finds the leads, the SDR writes to them, RevOps keeps the books, and the Account Executive talks to the interested ones. You are building a digital version of that team.</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starting files</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Five workflow JSON files: starting versions of the manager and the specialists, to import into n8n.</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ICP.pdf: the Ideal Customer Profile, a description of the kind of company we want to sell to.</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Step 1: plan before you build (worksheet)</a:t>
            </a:r>
            <a:endParaRPr lang="en-US" sz="26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Who is the ideal customer? (from ICP.pdf, in my words)</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What is the one request the BDM should handle best?</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Which agent does what? (one line each)</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What can each agent not do?</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Which actions need a person to approve?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2: build in this order</a:t>
            </a:r>
            <a:endParaRPr lang="en-US" sz="3000" dirty="0"/>
          </a:p>
        </p:txBody>
      </p:sp>
      <p:sp>
        <p:nvSpPr>
          <p:cNvPr id="5"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Import and run each specialist alone. Make sure each one works by itself with a fixed test input.</a:t>
            </a:r>
            <a:endParaRPr lang="en-US" sz="1600" dirty="0"/>
          </a:p>
        </p:txBody>
      </p:sp>
      <p:sp>
        <p:nvSpPr>
          <p:cNvPr id="8" name="Shape 5"/>
          <p:cNvSpPr/>
          <p:nvPr/>
        </p:nvSpPr>
        <p:spPr>
          <a:xfrm>
            <a:off x="548640" y="1938528"/>
            <a:ext cx="411480" cy="411480"/>
          </a:xfrm>
          <a:prstGeom prst="ellipse">
            <a:avLst/>
          </a:prstGeom>
          <a:solidFill>
            <a:srgbClr val="F26B5B"/>
          </a:solidFill>
          <a:ln w="9525">
            <a:solidFill>
              <a:srgbClr val="F26B5B"/>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Connect Prospecting to its MCP tools (Lesson 18). Allow only the tools it needs.</a:t>
            </a:r>
            <a:endParaRPr lang="en-US" sz="1600" dirty="0"/>
          </a:p>
        </p:txBody>
      </p:sp>
      <p:sp>
        <p:nvSpPr>
          <p:cNvPr id="11" name="Shape 8"/>
          <p:cNvSpPr/>
          <p:nvPr/>
        </p:nvSpPr>
        <p:spPr>
          <a:xfrm>
            <a:off x="548640" y="2596896"/>
            <a:ext cx="411480" cy="411480"/>
          </a:xfrm>
          <a:prstGeom prst="ellipse">
            <a:avLst/>
          </a:prstGeom>
          <a:solidFill>
            <a:srgbClr val="F26B5B"/>
          </a:solidFill>
          <a:ln w="9525">
            <a:solidFill>
              <a:srgbClr val="F26B5B"/>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Make the SDR draft, not send. Its output goes to a draft or a sheet for review.</a:t>
            </a:r>
            <a:endParaRPr lang="en-US" sz="1600" dirty="0"/>
          </a:p>
        </p:txBody>
      </p:sp>
      <p:sp>
        <p:nvSpPr>
          <p:cNvPr id="14" name="Shape 11"/>
          <p:cNvSpPr/>
          <p:nvPr/>
        </p:nvSpPr>
        <p:spPr>
          <a:xfrm>
            <a:off x="548640" y="3255264"/>
            <a:ext cx="411480" cy="411480"/>
          </a:xfrm>
          <a:prstGeom prst="ellipse">
            <a:avLst/>
          </a:prstGeom>
          <a:solidFill>
            <a:srgbClr val="F26B5B"/>
          </a:solidFill>
          <a:ln w="9525">
            <a:solidFill>
              <a:srgbClr val="F26B5B"/>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Make RevOps record results with consistent fields: company, contact, status, date.</a:t>
            </a:r>
            <a:endParaRPr lang="en-US" sz="1600" dirty="0"/>
          </a:p>
        </p:txBody>
      </p:sp>
      <p:sp>
        <p:nvSpPr>
          <p:cNvPr id="17" name="Shape 14"/>
          <p:cNvSpPr/>
          <p:nvPr/>
        </p:nvSpPr>
        <p:spPr>
          <a:xfrm>
            <a:off x="548640" y="3913632"/>
            <a:ext cx="411480" cy="411480"/>
          </a:xfrm>
          <a:prstGeom prst="ellipse">
            <a:avLst/>
          </a:prstGeom>
          <a:solidFill>
            <a:srgbClr val="F26B5B"/>
          </a:solidFill>
          <a:ln w="9525">
            <a:solidFill>
              <a:srgbClr val="F26B5B"/>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Add error handling (Lesson 17): retries for lookups, an error branch, and an error workflow.</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Safety rules for this project</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Draft, never send. Use test companies and your own email address for tests. Keep keys in credentials. A web page that Prospecting reads is untrusted content, so Prospecting must not be able to send anything out or see private records. That is how you break the trifecta.</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Step 3: evaluate it honestly (worksheet)</a:t>
            </a:r>
            <a:endParaRPr lang="en-US" sz="26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Request</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Expected behaviour</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What happened</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Pass?</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4: the one-page write-up</a:t>
            </a:r>
            <a:endParaRPr lang="en-US" sz="3000" dirty="0"/>
          </a:p>
        </p:txBody>
      </p:sp>
      <p:sp>
        <p:nvSpPr>
          <p:cNvPr id="5"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What it does, in two sentences a customer would understand.</a:t>
            </a:r>
            <a:endParaRPr lang="en-US" sz="1600" dirty="0"/>
          </a:p>
        </p:txBody>
      </p:sp>
      <p:sp>
        <p:nvSpPr>
          <p:cNvPr id="8" name="Shape 5"/>
          <p:cNvSpPr/>
          <p:nvPr/>
        </p:nvSpPr>
        <p:spPr>
          <a:xfrm>
            <a:off x="548640" y="1938528"/>
            <a:ext cx="411480" cy="411480"/>
          </a:xfrm>
          <a:prstGeom prst="ellipse">
            <a:avLst/>
          </a:prstGeom>
          <a:solidFill>
            <a:srgbClr val="F26B5B"/>
          </a:solidFill>
          <a:ln w="9525">
            <a:solidFill>
              <a:srgbClr val="F26B5B"/>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How it works: a simple diagram and one line per agent.</a:t>
            </a:r>
            <a:endParaRPr lang="en-US" sz="1600" dirty="0"/>
          </a:p>
        </p:txBody>
      </p:sp>
      <p:sp>
        <p:nvSpPr>
          <p:cNvPr id="11" name="Shape 8"/>
          <p:cNvSpPr/>
          <p:nvPr/>
        </p:nvSpPr>
        <p:spPr>
          <a:xfrm>
            <a:off x="548640" y="2596896"/>
            <a:ext cx="411480" cy="411480"/>
          </a:xfrm>
          <a:prstGeom prst="ellipse">
            <a:avLst/>
          </a:prstGeom>
          <a:solidFill>
            <a:srgbClr val="F26B5B"/>
          </a:solidFill>
          <a:ln w="9525">
            <a:solidFill>
              <a:srgbClr val="F26B5B"/>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How well it works: your test score, and the failures you found.</a:t>
            </a:r>
            <a:endParaRPr lang="en-US" sz="1600" dirty="0"/>
          </a:p>
        </p:txBody>
      </p:sp>
      <p:sp>
        <p:nvSpPr>
          <p:cNvPr id="14" name="Shape 11"/>
          <p:cNvSpPr/>
          <p:nvPr/>
        </p:nvSpPr>
        <p:spPr>
          <a:xfrm>
            <a:off x="548640" y="3255264"/>
            <a:ext cx="411480" cy="411480"/>
          </a:xfrm>
          <a:prstGeom prst="ellipse">
            <a:avLst/>
          </a:prstGeom>
          <a:solidFill>
            <a:srgbClr val="F26B5B"/>
          </a:solidFill>
          <a:ln w="9525">
            <a:solidFill>
              <a:srgbClr val="F26B5B"/>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What could go wrong: the biggest risk and how you reduced it.</a:t>
            </a:r>
            <a:endParaRPr lang="en-US" sz="1600" dirty="0"/>
          </a:p>
        </p:txBody>
      </p:sp>
      <p:sp>
        <p:nvSpPr>
          <p:cNvPr id="17" name="Shape 14"/>
          <p:cNvSpPr/>
          <p:nvPr/>
        </p:nvSpPr>
        <p:spPr>
          <a:xfrm>
            <a:off x="548640" y="3913632"/>
            <a:ext cx="411480" cy="411480"/>
          </a:xfrm>
          <a:prstGeom prst="ellipse">
            <a:avLst/>
          </a:prstGeom>
          <a:solidFill>
            <a:srgbClr val="F26B5B"/>
          </a:solidFill>
          <a:ln w="9525">
            <a:solidFill>
              <a:srgbClr val="F26B5B"/>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What you would do next.</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Step 5: the demo</a:t>
            </a:r>
            <a:endParaRPr lang="en-US" sz="3000" dirty="0"/>
          </a:p>
        </p:txBody>
      </p:sp>
      <p:sp>
        <p:nvSpPr>
          <p:cNvPr id="5" name="Shape 2"/>
          <p:cNvSpPr/>
          <p:nvPr/>
        </p:nvSpPr>
        <p:spPr>
          <a:xfrm>
            <a:off x="548640" y="1280160"/>
            <a:ext cx="411480" cy="411480"/>
          </a:xfrm>
          <a:prstGeom prst="ellipse">
            <a:avLst/>
          </a:prstGeom>
          <a:solidFill>
            <a:srgbClr val="F26B5B"/>
          </a:solidFill>
          <a:ln w="9525">
            <a:solidFill>
              <a:srgbClr val="F26B5B"/>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The problem (30 seconds): what the sales team struggles with.</a:t>
            </a:r>
            <a:endParaRPr lang="en-US" sz="1600" dirty="0"/>
          </a:p>
        </p:txBody>
      </p:sp>
      <p:sp>
        <p:nvSpPr>
          <p:cNvPr id="8" name="Shape 5"/>
          <p:cNvSpPr/>
          <p:nvPr/>
        </p:nvSpPr>
        <p:spPr>
          <a:xfrm>
            <a:off x="548640" y="1938528"/>
            <a:ext cx="411480" cy="411480"/>
          </a:xfrm>
          <a:prstGeom prst="ellipse">
            <a:avLst/>
          </a:prstGeom>
          <a:solidFill>
            <a:srgbClr val="F26B5B"/>
          </a:solidFill>
          <a:ln w="9525">
            <a:solidFill>
              <a:srgbClr val="F26B5B"/>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The live run (2 minutes): give the BDM one request and show the specialists being used.</a:t>
            </a:r>
            <a:endParaRPr lang="en-US" sz="1600" dirty="0"/>
          </a:p>
        </p:txBody>
      </p:sp>
      <p:sp>
        <p:nvSpPr>
          <p:cNvPr id="11" name="Shape 8"/>
          <p:cNvSpPr/>
          <p:nvPr/>
        </p:nvSpPr>
        <p:spPr>
          <a:xfrm>
            <a:off x="548640" y="2596896"/>
            <a:ext cx="411480" cy="411480"/>
          </a:xfrm>
          <a:prstGeom prst="ellipse">
            <a:avLst/>
          </a:prstGeom>
          <a:solidFill>
            <a:srgbClr val="F26B5B"/>
          </a:solidFill>
          <a:ln w="9525">
            <a:solidFill>
              <a:srgbClr val="F26B5B"/>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failure on purpose (1 minute): show a request that should be refused or approved first, and what the system did.</a:t>
            </a:r>
            <a:endParaRPr lang="en-US" sz="1600" dirty="0"/>
          </a:p>
        </p:txBody>
      </p:sp>
      <p:sp>
        <p:nvSpPr>
          <p:cNvPr id="14" name="Shape 11"/>
          <p:cNvSpPr/>
          <p:nvPr/>
        </p:nvSpPr>
        <p:spPr>
          <a:xfrm>
            <a:off x="548640" y="3255264"/>
            <a:ext cx="411480" cy="411480"/>
          </a:xfrm>
          <a:prstGeom prst="ellipse">
            <a:avLst/>
          </a:prstGeom>
          <a:solidFill>
            <a:srgbClr val="F26B5B"/>
          </a:solidFill>
          <a:ln w="9525">
            <a:solidFill>
              <a:srgbClr val="F26B5B"/>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Your results (1 minute): the test score and one thing you fixed.</a:t>
            </a:r>
            <a:endParaRPr lang="en-US" sz="1600" dirty="0"/>
          </a:p>
        </p:txBody>
      </p:sp>
      <p:sp>
        <p:nvSpPr>
          <p:cNvPr id="17" name="Shape 14"/>
          <p:cNvSpPr/>
          <p:nvPr/>
        </p:nvSpPr>
        <p:spPr>
          <a:xfrm>
            <a:off x="548640" y="3913632"/>
            <a:ext cx="411480" cy="411480"/>
          </a:xfrm>
          <a:prstGeom prst="ellipse">
            <a:avLst/>
          </a:prstGeom>
          <a:solidFill>
            <a:srgbClr val="F26B5B"/>
          </a:solidFill>
          <a:ln w="9525">
            <a:solidFill>
              <a:srgbClr val="F26B5B"/>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Questions (30 seconds).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How it will be judged</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Strong work looks like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Design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Each agent has one clear job, a short prompt…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Working system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manager delegates correctly on most test requests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Safety</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trifecta is broken on purpose, nothing is sent unapproved…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Failures are retried or recorded, not hidden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Honest testing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Tests written first, real results, fixes tied to causes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does the BDM manager agent do?</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Why must the SDR agent only create drafts?</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Why should Prospecting not be able to send data out or see private records?</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When should you write your test requests?</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Which tools does the Prospecting agent use in this project?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Capstone</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final project that combines everything in the course.</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BDM</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Business development manager. Here, the manager agent that directs the others.</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SDR</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Sales development representative. Here, the agent that drafts outreach.</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RevOps</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Revenue operations. Here, the agent that records and checks sales data.</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Account Executive</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person who talks to interested customers.</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ICP</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Ideal Customer Profile. A description of the kind of company you most want to sell to.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26B5B"/>
          </a:solidFill>
          <a:ln w="12700">
            <a:solidFill>
              <a:srgbClr val="F26B5B"/>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capstone is a manager agent (BDM) with four specialists: Prospecting, SDR, RevOps and Account Executive.</a:t>
            </a:r>
            <a:endParaRPr lang="en-US" sz="1800" dirty="0"/>
          </a:p>
        </p:txBody>
      </p:sp>
      <p:sp>
        <p:nvSpPr>
          <p:cNvPr id="8" name="Shape 4"/>
          <p:cNvSpPr/>
          <p:nvPr/>
        </p:nvSpPr>
        <p:spPr>
          <a:xfrm>
            <a:off x="548640" y="23469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Plan first, build each specialist alone, then assemble the manager. Draft, never send. Break the lethal trifecta on purpose.</a:t>
            </a:r>
            <a:endParaRPr lang="en-US" sz="1800" dirty="0"/>
          </a:p>
        </p:txBody>
      </p:sp>
      <p:sp>
        <p:nvSpPr>
          <p:cNvPr id="11" name="Shape 6"/>
          <p:cNvSpPr/>
          <p:nvPr/>
        </p:nvSpPr>
        <p:spPr>
          <a:xfrm>
            <a:off x="548640" y="3413760"/>
            <a:ext cx="457200" cy="457200"/>
          </a:xfrm>
          <a:prstGeom prst="ellipse">
            <a:avLst/>
          </a:prstGeom>
          <a:solidFill>
            <a:srgbClr val="F26B5B"/>
          </a:solidFill>
          <a:ln w="9525">
            <a:solidFill>
              <a:srgbClr val="F26B5B"/>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Write ten tests before fixing, record honest results, and show your work in a one-page write-up and a five-minute demo.</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You have finished the course. You can now explain how agents work, build them in code and in n8n, give them voice, data and tools, and judge when they are safe to use. Keep building small projects, and keep testing honestly.</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1778</Words>
  <Application>Microsoft Office PowerPoint</Application>
  <PresentationFormat>On-screen Show (16:9)</PresentationFormat>
  <Paragraphs>162</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 Capstone: a multi-agent sales system</dc:title>
  <dc:subject>PptxGenJS Presentation</dc:subject>
  <dc:creator>Agentic AI Builder</dc:creator>
  <cp:lastModifiedBy>DEV DOMINIC</cp:lastModifiedBy>
  <cp:revision>2</cp:revision>
  <dcterms:created xsi:type="dcterms:W3CDTF">2026-10-28T23:53:08Z</dcterms:created>
  <dcterms:modified xsi:type="dcterms:W3CDTF">2026-10-29T00:05:54Z</dcterms:modified>
</cp:coreProperties>
</file>