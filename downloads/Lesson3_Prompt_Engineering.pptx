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08602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This is Lesson 3. It takes about 45 minutes. How to write a prompt that works, and how to prove it works. Remind students they can reread the notes on the course site afterwards.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slowly in your own words, then ask: what is the one word that sticks out for you?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goals aloud. Come back to them in the recap and ask who can now do each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time you call an AI, it sees only what you send in that call. It does not remember the last call.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system prompt can be reused for thousands of different user prompts. That is why we write it carefully, once.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Who is the AI acting as? “You are a customer-support triage assistant.” Task. What should it do, in one clear sentence? “Classify each message into one category.” Data. The material to work on, clearly separated from the instructions, for example after the words “Message:”. Rules. The limits. Say what to do, not only what to avoid. “The category must be billing, technical or general.” Format. Exactly what the reply must look like. “Reply with the category word only, in lowercase.” You will get a paragraph, different each time, that is hard for a program to use. Now compare: Now the answer is one word, in a predictable format, ready for a program to use.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program will read the answer, ask for JSON with exact key names, such as {"category": "billing", "confidence": "high"}. Keep the temperature low. Then check it is valid JSON before using it. Sometimes the AI adds a friendly sentence in front or wraps the answer in extra symbols, and a program trying to read that will break. If the check fails, try once more or flag it for a person. You practised the JSON rules in Lesson 1.</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prompt that worked on three examples tells you very little. The professional habit has four steps: Build a test set: a fixed list of example inputs with the correct answers (the “labels”). Run every prompt version on the same list. Score each version, for example 14 correct out of 20. Change one thing at a time, so you know what helped. Keep the best.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Tuning on the test set. Copying test messages into your examples inflates the score. Changing many things at once. You cannot tell which change helped. Vague goals such as “be helpful”. Say exactly what good looks like. Trusting one run. If a score surprises you, run the set again. Asking for JSON without checking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work. Walk around, and look at what they have rather than waiting for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question aloud before showing options. Answers: 1. Nothing. Everything it needs must be in the current call. Each call starts fresh. That is why a prompt must be a complete note. 2. The system prompt sets the role and rules. The user prompt carries today's request. Think job description (system) and today's task (user). 3. A few worked examples placed inside the prompt to show what you want. Showing a few finished examples is often faster than explaining in words. 4. If the AI has seen the answers, the score no longer measures anything real. A fair test uses cases the AI has not been shown. 5. Check that it is valid JSON, and handle the case where it is not. Models sometimes add extra words or symbols around JSON, which makes a program fail.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each word as you say it. Ask students to explain two of them to the person beside them.</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say each point back to you in their own words.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students what to prepare, for example an account to create or something to install, so the next lesson starts smoothly.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4F5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914400"/>
            <a:ext cx="6035040" cy="32004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WEEK 1  ·  LESSON 3</a:t>
            </a:r>
            <a:endParaRPr lang="en-US" sz="1600" dirty="0"/>
          </a:p>
        </p:txBody>
      </p:sp>
      <p:sp>
        <p:nvSpPr>
          <p:cNvPr id="3" name="Text 1"/>
          <p:cNvSpPr/>
          <p:nvPr/>
        </p:nvSpPr>
        <p:spPr>
          <a:xfrm>
            <a:off x="548640" y="1371600"/>
            <a:ext cx="5943600" cy="164592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Prompt engineering: giving clear instructions</a:t>
            </a:r>
            <a:endParaRPr lang="en-US" sz="3200" dirty="0"/>
          </a:p>
        </p:txBody>
      </p:sp>
      <p:sp>
        <p:nvSpPr>
          <p:cNvPr id="4" name="Text 2"/>
          <p:cNvSpPr/>
          <p:nvPr/>
        </p:nvSpPr>
        <p:spPr>
          <a:xfrm>
            <a:off x="548640" y="3154680"/>
            <a:ext cx="5943600" cy="822960"/>
          </a:xfrm>
          <a:prstGeom prst="rect">
            <a:avLst/>
          </a:prstGeom>
          <a:noFill/>
          <a:ln/>
        </p:spPr>
        <p:txBody>
          <a:bodyPr wrap="square" lIns="0" tIns="0" rIns="0" bIns="0" rtlCol="0" anchor="t"/>
          <a:lstStyle/>
          <a:p>
            <a:pPr marL="0" indent="0">
              <a:buNone/>
            </a:pPr>
            <a:r>
              <a:rPr lang="en-US" sz="1800" dirty="0">
                <a:solidFill>
                  <a:srgbClr val="E8F3F2"/>
                </a:solidFill>
                <a:latin typeface="Calibri" pitchFamily="34" charset="0"/>
                <a:ea typeface="Calibri" pitchFamily="34" charset="-122"/>
                <a:cs typeface="Calibri" pitchFamily="34" charset="-120"/>
              </a:rPr>
              <a:t>How to write a prompt that works, and how to prove it works.</a:t>
            </a:r>
            <a:endParaRPr lang="en-US" sz="1800" dirty="0"/>
          </a:p>
        </p:txBody>
      </p:sp>
      <p:sp>
        <p:nvSpPr>
          <p:cNvPr id="5" name="Text 3"/>
          <p:cNvSpPr/>
          <p:nvPr/>
        </p:nvSpPr>
        <p:spPr>
          <a:xfrm>
            <a:off x="548640" y="4343400"/>
            <a:ext cx="5943600" cy="320040"/>
          </a:xfrm>
          <a:prstGeom prst="rect">
            <a:avLst/>
          </a:prstGeom>
          <a:noFill/>
          <a:ln/>
        </p:spPr>
        <p:txBody>
          <a:bodyPr wrap="square" lIns="0" tIns="0" rIns="0" bIns="0" rtlCol="0" anchor="t"/>
          <a:lstStyle/>
          <a:p>
            <a:pPr marL="0" indent="0">
              <a:buNone/>
            </a:pPr>
            <a:r>
              <a:rPr lang="en-US" sz="1400" dirty="0">
                <a:solidFill>
                  <a:srgbClr val="E8F3F2"/>
                </a:solidFill>
                <a:latin typeface="Calibri" pitchFamily="34" charset="0"/>
                <a:ea typeface="Calibri" pitchFamily="34" charset="-122"/>
                <a:cs typeface="Calibri" pitchFamily="34" charset="-120"/>
              </a:rPr>
              <a:t>Agentic AI Builder </a:t>
            </a:r>
            <a:endParaRPr lang="en-US" sz="1400" dirty="0"/>
          </a:p>
        </p:txBody>
      </p:sp>
      <p:sp>
        <p:nvSpPr>
          <p:cNvPr id="6" name="Shape 4"/>
          <p:cNvSpPr/>
          <p:nvPr/>
        </p:nvSpPr>
        <p:spPr>
          <a:xfrm>
            <a:off x="6858000" y="1463040"/>
            <a:ext cx="1737360" cy="1737360"/>
          </a:xfrm>
          <a:prstGeom prst="ellipse">
            <a:avLst/>
          </a:prstGeom>
          <a:solidFill>
            <a:srgbClr val="0B7A75"/>
          </a:solidFill>
          <a:ln w="9525">
            <a:solidFill>
              <a:srgbClr val="0B7A75"/>
            </a:solidFill>
            <a:prstDash val="solid"/>
          </a:ln>
        </p:spPr>
        <p:txBody>
          <a:bodyPr/>
          <a:lstStyle/>
          <a:p>
            <a:endParaRPr lang="en-US"/>
          </a:p>
        </p:txBody>
      </p:sp>
      <p:pic>
        <p:nvPicPr>
          <p:cNvPr id="7" name="Image 0" descr="Robot icon"/>
          <p:cNvPicPr>
            <a:picLocks noChangeAspect="1"/>
          </p:cNvPicPr>
          <p:nvPr/>
        </p:nvPicPr>
        <p:blipFill>
          <a:blip r:embed="rId3"/>
          <a:stretch>
            <a:fillRect/>
          </a:stretch>
        </p:blipFill>
        <p:spPr>
          <a:xfrm>
            <a:off x="7242048" y="1847088"/>
            <a:ext cx="969264" cy="9692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31520" y="73152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THE BIG IDEA</a:t>
            </a:r>
            <a:endParaRPr lang="en-US" sz="1600" dirty="0"/>
          </a:p>
        </p:txBody>
      </p:sp>
      <p:sp>
        <p:nvSpPr>
          <p:cNvPr id="3" name="Text 1"/>
          <p:cNvSpPr/>
          <p:nvPr/>
        </p:nvSpPr>
        <p:spPr>
          <a:xfrm>
            <a:off x="731520" y="1280160"/>
            <a:ext cx="7680960" cy="3017520"/>
          </a:xfrm>
          <a:prstGeom prst="rect">
            <a:avLst/>
          </a:prstGeom>
          <a:noFill/>
          <a:ln/>
        </p:spPr>
        <p:txBody>
          <a:bodyPr wrap="square" lIns="0" tIns="0" rIns="0" bIns="0" rtlCol="0" anchor="ctr"/>
          <a:lstStyle/>
          <a:p>
            <a:pPr marL="0" indent="0">
              <a:buNone/>
            </a:pPr>
            <a:r>
              <a:rPr lang="en-US" sz="2600" dirty="0">
                <a:solidFill>
                  <a:srgbClr val="FFFFFF"/>
                </a:solidFill>
                <a:latin typeface="Cambria" pitchFamily="34" charset="0"/>
                <a:ea typeface="Cambria" pitchFamily="34" charset="-122"/>
                <a:cs typeface="Cambria" pitchFamily="34" charset="-120"/>
              </a:rPr>
              <a:t>An AI only knows what you put in front of it. A good prompt is a clear set of instructions, and a good builder tests the prompt instead of guessing.</a:t>
            </a:r>
            <a:endParaRPr lang="en-US"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By the end you can…</a:t>
            </a:r>
            <a:endParaRPr lang="en-US" sz="3000" dirty="0"/>
          </a:p>
        </p:txBody>
      </p:sp>
      <p:sp>
        <p:nvSpPr>
          <p:cNvPr id="5" name="Shape 2"/>
          <p:cNvSpPr/>
          <p:nvPr/>
        </p:nvSpPr>
        <p:spPr>
          <a:xfrm>
            <a:off x="50292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3152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872338" y="1741018"/>
            <a:ext cx="358445" cy="358445"/>
          </a:xfrm>
          <a:prstGeom prst="rect">
            <a:avLst/>
          </a:prstGeom>
        </p:spPr>
      </p:pic>
      <p:sp>
        <p:nvSpPr>
          <p:cNvPr id="8" name="Text 4"/>
          <p:cNvSpPr/>
          <p:nvPr/>
        </p:nvSpPr>
        <p:spPr>
          <a:xfrm>
            <a:off x="73152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Write a prompt with a system part, a user part and a stated output format.</a:t>
            </a:r>
            <a:endParaRPr lang="en-US" sz="1700" dirty="0"/>
          </a:p>
        </p:txBody>
      </p:sp>
      <p:sp>
        <p:nvSpPr>
          <p:cNvPr id="9" name="Shape 5"/>
          <p:cNvSpPr/>
          <p:nvPr/>
        </p:nvSpPr>
        <p:spPr>
          <a:xfrm>
            <a:off x="329184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0" name="Shape 6"/>
          <p:cNvSpPr/>
          <p:nvPr/>
        </p:nvSpPr>
        <p:spPr>
          <a:xfrm>
            <a:off x="352044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1" name="Image 1" descr="icon"/>
          <p:cNvPicPr>
            <a:picLocks noChangeAspect="1"/>
          </p:cNvPicPr>
          <p:nvPr/>
        </p:nvPicPr>
        <p:blipFill>
          <a:blip r:embed="rId3"/>
          <a:stretch>
            <a:fillRect/>
          </a:stretch>
        </p:blipFill>
        <p:spPr>
          <a:xfrm>
            <a:off x="3661258" y="1741018"/>
            <a:ext cx="358445" cy="358445"/>
          </a:xfrm>
          <a:prstGeom prst="rect">
            <a:avLst/>
          </a:prstGeom>
        </p:spPr>
      </p:pic>
      <p:sp>
        <p:nvSpPr>
          <p:cNvPr id="12" name="Text 7"/>
          <p:cNvSpPr/>
          <p:nvPr/>
        </p:nvSpPr>
        <p:spPr>
          <a:xfrm>
            <a:off x="352044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Add examples and step-by-step reasoning when they help.</a:t>
            </a:r>
            <a:endParaRPr lang="en-US" sz="1700" dirty="0"/>
          </a:p>
        </p:txBody>
      </p:sp>
      <p:sp>
        <p:nvSpPr>
          <p:cNvPr id="13" name="Shape 8"/>
          <p:cNvSpPr/>
          <p:nvPr/>
        </p:nvSpPr>
        <p:spPr>
          <a:xfrm>
            <a:off x="6080760" y="1371600"/>
            <a:ext cx="2560320" cy="2743200"/>
          </a:xfrm>
          <a:prstGeom prst="roundRect">
            <a:avLst>
              <a:gd name="adj" fmla="val 4286"/>
            </a:avLst>
          </a:prstGeom>
          <a:solidFill>
            <a:srgbClr val="E8F3F2"/>
          </a:solidFill>
          <a:ln w="9525">
            <a:solidFill>
              <a:srgbClr val="E8F3F2"/>
            </a:solidFill>
            <a:prstDash val="solid"/>
          </a:ln>
        </p:spPr>
        <p:txBody>
          <a:bodyPr/>
          <a:lstStyle/>
          <a:p>
            <a:endParaRPr lang="en-US"/>
          </a:p>
        </p:txBody>
      </p:sp>
      <p:sp>
        <p:nvSpPr>
          <p:cNvPr id="14" name="Shape 9"/>
          <p:cNvSpPr/>
          <p:nvPr/>
        </p:nvSpPr>
        <p:spPr>
          <a:xfrm>
            <a:off x="6309360" y="1600200"/>
            <a:ext cx="640080" cy="640080"/>
          </a:xfrm>
          <a:prstGeom prst="ellipse">
            <a:avLst/>
          </a:prstGeom>
          <a:solidFill>
            <a:srgbClr val="0B7A75"/>
          </a:solidFill>
          <a:ln w="9525">
            <a:solidFill>
              <a:srgbClr val="0B7A75"/>
            </a:solidFill>
            <a:prstDash val="solid"/>
          </a:ln>
        </p:spPr>
        <p:txBody>
          <a:bodyPr/>
          <a:lstStyle/>
          <a:p>
            <a:endParaRPr lang="en-US"/>
          </a:p>
        </p:txBody>
      </p:sp>
      <p:pic>
        <p:nvPicPr>
          <p:cNvPr id="15" name="Image 2" descr="icon"/>
          <p:cNvPicPr>
            <a:picLocks noChangeAspect="1"/>
          </p:cNvPicPr>
          <p:nvPr/>
        </p:nvPicPr>
        <p:blipFill>
          <a:blip r:embed="rId3"/>
          <a:stretch>
            <a:fillRect/>
          </a:stretch>
        </p:blipFill>
        <p:spPr>
          <a:xfrm>
            <a:off x="6450178" y="1741018"/>
            <a:ext cx="358445" cy="358445"/>
          </a:xfrm>
          <a:prstGeom prst="rect">
            <a:avLst/>
          </a:prstGeom>
        </p:spPr>
      </p:pic>
      <p:sp>
        <p:nvSpPr>
          <p:cNvPr id="16" name="Text 10"/>
          <p:cNvSpPr/>
          <p:nvPr/>
        </p:nvSpPr>
        <p:spPr>
          <a:xfrm>
            <a:off x="6309360" y="2423160"/>
            <a:ext cx="2103120" cy="1554480"/>
          </a:xfrm>
          <a:prstGeom prst="rect">
            <a:avLst/>
          </a:prstGeom>
          <a:noFill/>
          <a:ln/>
        </p:spPr>
        <p:txBody>
          <a:bodyPr wrap="square" lIns="0" tIns="0" rIns="0" bIns="0" rtlCol="0" anchor="t"/>
          <a:lstStyle/>
          <a:p>
            <a:pPr marL="0" indent="0">
              <a:buNone/>
            </a:pPr>
            <a:r>
              <a:rPr lang="en-US" sz="1700" dirty="0">
                <a:solidFill>
                  <a:srgbClr val="1B2B34"/>
                </a:solidFill>
                <a:latin typeface="Calibri" pitchFamily="34" charset="0"/>
                <a:ea typeface="Calibri" pitchFamily="34" charset="-122"/>
                <a:cs typeface="Calibri" pitchFamily="34" charset="-120"/>
              </a:rPr>
              <a:t>Test several versions of a prompt against the same set of cases and keep the best.</a:t>
            </a:r>
            <a:endParaRPr lang="en-US" sz="17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5"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8"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The helper with no memory</a:t>
            </a:r>
            <a:endParaRPr lang="en-US" sz="2200" dirty="0"/>
          </a:p>
        </p:txBody>
      </p:sp>
      <p:sp>
        <p:nvSpPr>
          <p:cNvPr id="9"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Imagine a very fast helper who forgets everything after each task. Every note you give them must be complete. If you say “do the same as yesterday”, they have no idea what that means. Writing a prompt is writing that complete note.</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Two parts: system and user</a:t>
            </a:r>
            <a:endParaRPr lang="en-US" sz="3000" dirty="0"/>
          </a:p>
        </p:txBody>
      </p:sp>
      <p:sp>
        <p:nvSpPr>
          <p:cNvPr id="5" name="Shape 2"/>
          <p:cNvSpPr/>
          <p:nvPr/>
        </p:nvSpPr>
        <p:spPr>
          <a:xfrm>
            <a:off x="50292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6" name="Shape 3"/>
          <p:cNvSpPr/>
          <p:nvPr/>
        </p:nvSpPr>
        <p:spPr>
          <a:xfrm>
            <a:off x="50292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7" name="Text 4"/>
          <p:cNvSpPr/>
          <p:nvPr/>
        </p:nvSpPr>
        <p:spPr>
          <a:xfrm>
            <a:off x="73152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System prompt</a:t>
            </a:r>
            <a:endParaRPr lang="en-US" sz="2200" dirty="0"/>
          </a:p>
        </p:txBody>
      </p:sp>
      <p:sp>
        <p:nvSpPr>
          <p:cNvPr id="8" name="Text 5"/>
          <p:cNvSpPr/>
          <p:nvPr/>
        </p:nvSpPr>
        <p:spPr>
          <a:xfrm>
            <a:off x="73152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standing instructions: who the AI is and what rules it follows. Like a job description.</a:t>
            </a:r>
            <a:endParaRPr lang="en-US" sz="1800" dirty="0"/>
          </a:p>
        </p:txBody>
      </p:sp>
      <p:sp>
        <p:nvSpPr>
          <p:cNvPr id="9" name="Shape 6"/>
          <p:cNvSpPr/>
          <p:nvPr/>
        </p:nvSpPr>
        <p:spPr>
          <a:xfrm>
            <a:off x="4686300" y="1280160"/>
            <a:ext cx="395478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10" name="Shape 7"/>
          <p:cNvSpPr/>
          <p:nvPr/>
        </p:nvSpPr>
        <p:spPr>
          <a:xfrm>
            <a:off x="4686300" y="1280160"/>
            <a:ext cx="3954780" cy="91440"/>
          </a:xfrm>
          <a:prstGeom prst="rect">
            <a:avLst/>
          </a:prstGeom>
          <a:solidFill>
            <a:srgbClr val="0B7A75"/>
          </a:solidFill>
          <a:ln w="12700">
            <a:solidFill>
              <a:srgbClr val="0B7A75"/>
            </a:solidFill>
            <a:prstDash val="solid"/>
          </a:ln>
        </p:spPr>
        <p:txBody>
          <a:bodyPr/>
          <a:lstStyle/>
          <a:p>
            <a:endParaRPr lang="en-US"/>
          </a:p>
        </p:txBody>
      </p:sp>
      <p:sp>
        <p:nvSpPr>
          <p:cNvPr id="11" name="Text 8"/>
          <p:cNvSpPr/>
          <p:nvPr/>
        </p:nvSpPr>
        <p:spPr>
          <a:xfrm>
            <a:off x="4914900" y="1554480"/>
            <a:ext cx="3497580" cy="731520"/>
          </a:xfrm>
          <a:prstGeom prst="rect">
            <a:avLst/>
          </a:prstGeom>
          <a:noFill/>
          <a:ln/>
        </p:spPr>
        <p:txBody>
          <a:bodyPr wrap="square" lIns="0" tIns="0" rIns="0" bIns="0" rtlCol="0" anchor="t"/>
          <a:lstStyle/>
          <a:p>
            <a:pPr marL="0" indent="0">
              <a:buNone/>
            </a:pPr>
            <a:r>
              <a:rPr lang="en-US" sz="2200" b="1" dirty="0">
                <a:solidFill>
                  <a:srgbClr val="0B4F5C"/>
                </a:solidFill>
                <a:latin typeface="Cambria" pitchFamily="34" charset="0"/>
                <a:ea typeface="Cambria" pitchFamily="34" charset="-122"/>
                <a:cs typeface="Cambria" pitchFamily="34" charset="-120"/>
              </a:rPr>
              <a:t>User prompt</a:t>
            </a:r>
            <a:endParaRPr lang="en-US" sz="2200" dirty="0"/>
          </a:p>
        </p:txBody>
      </p:sp>
      <p:sp>
        <p:nvSpPr>
          <p:cNvPr id="12" name="Text 9"/>
          <p:cNvSpPr/>
          <p:nvPr/>
        </p:nvSpPr>
        <p:spPr>
          <a:xfrm>
            <a:off x="4914900" y="2331720"/>
            <a:ext cx="3497580" cy="192024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specific request or data for this call. Like today's task.</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five-part recipe</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Role. Who is the AI acting as? “You are a customer-support triage assistant.”</a:t>
            </a:r>
            <a:endParaRPr lang="en-US" sz="1600" dirty="0"/>
          </a:p>
        </p:txBody>
      </p:sp>
      <p:sp>
        <p:nvSpPr>
          <p:cNvPr id="8" name="Shape 5"/>
          <p:cNvSpPr/>
          <p:nvPr/>
        </p:nvSpPr>
        <p:spPr>
          <a:xfrm>
            <a:off x="548640" y="1938528"/>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385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20240"/>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Task. What should it do, in one clear sentence? “Classify each message into one category.”</a:t>
            </a:r>
            <a:endParaRPr lang="en-US" sz="1600" dirty="0"/>
          </a:p>
        </p:txBody>
      </p:sp>
      <p:sp>
        <p:nvSpPr>
          <p:cNvPr id="11" name="Shape 8"/>
          <p:cNvSpPr/>
          <p:nvPr/>
        </p:nvSpPr>
        <p:spPr>
          <a:xfrm>
            <a:off x="548640" y="2596896"/>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5968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578608"/>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Data. The material to work on, clearly separated from the instructions, for example after the words “Message:”.</a:t>
            </a:r>
            <a:endParaRPr lang="en-US" sz="1600" dirty="0"/>
          </a:p>
        </p:txBody>
      </p:sp>
      <p:sp>
        <p:nvSpPr>
          <p:cNvPr id="14" name="Shape 11"/>
          <p:cNvSpPr/>
          <p:nvPr/>
        </p:nvSpPr>
        <p:spPr>
          <a:xfrm>
            <a:off x="548640" y="3255264"/>
            <a:ext cx="411480" cy="411480"/>
          </a:xfrm>
          <a:prstGeom prst="ellipse">
            <a:avLst/>
          </a:prstGeom>
          <a:solidFill>
            <a:srgbClr val="0B7A75"/>
          </a:solidFill>
          <a:ln w="9525">
            <a:solidFill>
              <a:srgbClr val="0B7A75"/>
            </a:solidFill>
            <a:prstDash val="solid"/>
          </a:ln>
        </p:spPr>
        <p:txBody>
          <a:bodyPr/>
          <a:lstStyle/>
          <a:p>
            <a:endParaRPr lang="en-US"/>
          </a:p>
        </p:txBody>
      </p:sp>
      <p:sp>
        <p:nvSpPr>
          <p:cNvPr id="15" name="Text 12"/>
          <p:cNvSpPr/>
          <p:nvPr/>
        </p:nvSpPr>
        <p:spPr>
          <a:xfrm>
            <a:off x="548640" y="3255264"/>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236976"/>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Rules. The limits. Say what to do, not only what to avoid. “The category must be billing, technical or general.”</a:t>
            </a:r>
            <a:endParaRPr lang="en-US" sz="1600" dirty="0"/>
          </a:p>
        </p:txBody>
      </p:sp>
      <p:sp>
        <p:nvSpPr>
          <p:cNvPr id="17" name="Shape 14"/>
          <p:cNvSpPr/>
          <p:nvPr/>
        </p:nvSpPr>
        <p:spPr>
          <a:xfrm>
            <a:off x="548640" y="3913632"/>
            <a:ext cx="411480" cy="411480"/>
          </a:xfrm>
          <a:prstGeom prst="ellipse">
            <a:avLst/>
          </a:prstGeom>
          <a:solidFill>
            <a:srgbClr val="0B7A75"/>
          </a:solidFill>
          <a:ln w="9525">
            <a:solidFill>
              <a:srgbClr val="0B7A75"/>
            </a:solidFill>
            <a:prstDash val="solid"/>
          </a:ln>
        </p:spPr>
        <p:txBody>
          <a:bodyPr/>
          <a:lstStyle/>
          <a:p>
            <a:endParaRPr lang="en-US"/>
          </a:p>
        </p:txBody>
      </p:sp>
      <p:sp>
        <p:nvSpPr>
          <p:cNvPr id="18" name="Text 15"/>
          <p:cNvSpPr/>
          <p:nvPr/>
        </p:nvSpPr>
        <p:spPr>
          <a:xfrm>
            <a:off x="548640" y="3913632"/>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9" name="Text 16"/>
          <p:cNvSpPr/>
          <p:nvPr/>
        </p:nvSpPr>
        <p:spPr>
          <a:xfrm>
            <a:off x="1143000" y="3895344"/>
            <a:ext cx="7498080" cy="612648"/>
          </a:xfrm>
          <a:prstGeom prst="rect">
            <a:avLst/>
          </a:prstGeom>
          <a:noFill/>
          <a:ln/>
        </p:spPr>
        <p:txBody>
          <a:bodyPr wrap="square" lIns="0" tIns="0" rIns="0" bIns="0" rtlCol="0" anchor="t"/>
          <a:lstStyle/>
          <a:p>
            <a:pPr marL="0" indent="0">
              <a:buNone/>
            </a:pPr>
            <a:r>
              <a:rPr lang="en-US" sz="1600" dirty="0">
                <a:solidFill>
                  <a:srgbClr val="1B2B34"/>
                </a:solidFill>
                <a:latin typeface="Calibri" pitchFamily="34" charset="0"/>
                <a:ea typeface="Calibri" pitchFamily="34" charset="-122"/>
                <a:cs typeface="Calibri" pitchFamily="34" charset="-120"/>
              </a:rPr>
              <a:t>Format. Exactly what the reply must look like. “Reply with the category word only, in lowercase.”</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Weak prompt</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WEAK PROMPT</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400" dirty="0">
                <a:solidFill>
                  <a:srgbClr val="FFFFFF"/>
                </a:solidFill>
                <a:latin typeface="Consolas" pitchFamily="34" charset="0"/>
                <a:ea typeface="Consolas" pitchFamily="34" charset="-122"/>
                <a:cs typeface="Consolas" pitchFamily="34" charset="-120"/>
              </a:rPr>
              <a:t>What is this message about? Error 500 when I press Pay.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Strong prompt: system part</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STRONG PROMPT: SYSTEM PART</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400" dirty="0">
                <a:solidFill>
                  <a:srgbClr val="FFFFFF"/>
                </a:solidFill>
                <a:latin typeface="Consolas" pitchFamily="34" charset="0"/>
                <a:ea typeface="Consolas" pitchFamily="34" charset="-122"/>
                <a:cs typeface="Consolas" pitchFamily="34" charset="-120"/>
              </a:rPr>
              <a:t>You are a customer-support triage assistant. Classify each message into exactly one category: billing, technical or general.</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Reply with the category word only, in lowercase, with no punctuation.</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Strong prompt: user part</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STRONG PROMPT: USER PART</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400" dirty="0">
                <a:solidFill>
                  <a:srgbClr val="FFFFFF"/>
                </a:solidFill>
                <a:latin typeface="Consolas" pitchFamily="34" charset="0"/>
                <a:ea typeface="Consolas" pitchFamily="34" charset="-122"/>
                <a:cs typeface="Consolas" pitchFamily="34" charset="-120"/>
              </a:rPr>
              <a:t>Message: Error 500 when I press Pay.</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Category:</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Techniques that help</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138160" cy="2346960"/>
        </p:xfrm>
        <a:graphic>
          <a:graphicData uri="http://schemas.openxmlformats.org/drawingml/2006/table">
            <a:tbl>
              <a:tblPr/>
              <a:tblGrid>
                <a:gridCol w="2712720">
                  <a:extLst>
                    <a:ext uri="{9D8B030D-6E8A-4147-A177-3AD203B41FA5}">
                      <a16:colId xmlns:a16="http://schemas.microsoft.com/office/drawing/2014/main" val="20000"/>
                    </a:ext>
                  </a:extLst>
                </a:gridCol>
                <a:gridCol w="2712720">
                  <a:extLst>
                    <a:ext uri="{9D8B030D-6E8A-4147-A177-3AD203B41FA5}">
                      <a16:colId xmlns:a16="http://schemas.microsoft.com/office/drawing/2014/main" val="20001"/>
                    </a:ext>
                  </a:extLst>
                </a:gridCol>
                <a:gridCol w="2712720">
                  <a:extLst>
                    <a:ext uri="{9D8B030D-6E8A-4147-A177-3AD203B41FA5}">
                      <a16:colId xmlns:a16="http://schemas.microsoft.com/office/drawing/2014/main" val="20002"/>
                    </a:ext>
                  </a:extLst>
                </a:gridCol>
              </a:tblGrid>
              <a:tr h="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Technique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means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Use it when</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0B4F5C"/>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Clear role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Tell the AI who it is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Always. It sets tone and scope.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Explicit rules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Allowed answers, length, language</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 program will use the output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2"/>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Few-shot examples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Show 2 to 5 worked examples inside the prompt</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The format or tricky cases are hard to describe in words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Step by step</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Ask it to work through the steps before answering</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tc>
                  <a:txBody>
                    <a:bodyPr/>
                    <a:lstStyle/>
                    <a:p>
                      <a:pPr marL="0" indent="0">
                        <a:buNone/>
                      </a:pPr>
                      <a:r>
                        <a:rPr lang="en-US" sz="1400" dirty="0">
                          <a:solidFill>
                            <a:srgbClr val="1B2B34"/>
                          </a:solidFill>
                          <a:latin typeface="Calibri" pitchFamily="34" charset="0"/>
                          <a:ea typeface="Calibri" pitchFamily="34" charset="-122"/>
                          <a:cs typeface="Calibri" pitchFamily="34" charset="-120"/>
                        </a:rPr>
                        <a:t>Multi-step problems on chat models. Reasoning models already do this.</a:t>
                      </a:r>
                      <a:endParaRPr lang="en-US" sz="1400" dirty="0">
                        <a:latin typeface="Calibri" charset="0"/>
                        <a:ea typeface="Calibri" charset="0"/>
                        <a:cs typeface="Calibri" charset="0"/>
                      </a:endParaRPr>
                    </a:p>
                  </a:txBody>
                  <a:tcPr marT="64008" marB="64008" anchor="ctr">
                    <a:lnL w="6350" cap="flat" cmpd="sng" algn="ctr">
                      <a:solidFill>
                        <a:srgbClr val="CFE3E1"/>
                      </a:solidFill>
                      <a:prstDash val="solid"/>
                      <a:round/>
                      <a:headEnd type="none" w="med" len="med"/>
                      <a:tailEnd type="none" w="med" len="med"/>
                    </a:lnL>
                    <a:lnR w="6350" cap="flat" cmpd="sng" algn="ctr">
                      <a:solidFill>
                        <a:srgbClr val="CFE3E1"/>
                      </a:solidFill>
                      <a:prstDash val="solid"/>
                      <a:round/>
                      <a:headEnd type="none" w="med" len="med"/>
                      <a:tailEnd type="none" w="med" len="med"/>
                    </a:lnR>
                    <a:lnT w="6350" cap="flat" cmpd="sng" algn="ctr">
                      <a:solidFill>
                        <a:srgbClr val="CFE3E1"/>
                      </a:solidFill>
                      <a:prstDash val="solid"/>
                      <a:round/>
                      <a:headEnd type="none" w="med" len="med"/>
                      <a:tailEnd type="none" w="med" len="med"/>
                    </a:lnT>
                    <a:lnB w="6350" cap="flat" cmpd="sng" algn="ctr">
                      <a:solidFill>
                        <a:srgbClr val="CFE3E1"/>
                      </a:solidFill>
                      <a:prstDash val="solid"/>
                      <a:round/>
                      <a:headEnd type="none" w="med" len="med"/>
                      <a:tailEnd type="none" w="med" len="med"/>
                    </a:lnB>
                    <a:solidFill>
                      <a:srgbClr val="E8F3F2"/>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Think of it like this</a:t>
            </a:r>
            <a:endParaRPr lang="en-US" sz="3000" dirty="0"/>
          </a:p>
        </p:txBody>
      </p:sp>
      <p:sp>
        <p:nvSpPr>
          <p:cNvPr id="4" name="Shape 2"/>
          <p:cNvSpPr/>
          <p:nvPr/>
        </p:nvSpPr>
        <p:spPr>
          <a:xfrm>
            <a:off x="502920" y="1280160"/>
            <a:ext cx="8138160" cy="3108960"/>
          </a:xfrm>
          <a:prstGeom prst="roundRect">
            <a:avLst>
              <a:gd name="adj" fmla="val 3529"/>
            </a:avLst>
          </a:prstGeom>
          <a:solidFill>
            <a:srgbClr val="E8F3F2"/>
          </a:solidFill>
          <a:ln w="9525">
            <a:solidFill>
              <a:srgbClr val="E8F3F2"/>
            </a:solidFill>
            <a:prstDash val="solid"/>
          </a:ln>
        </p:spPr>
        <p:txBody>
          <a:bodyPr/>
          <a:lstStyle/>
          <a:p>
            <a:endParaRPr lang="en-US"/>
          </a:p>
        </p:txBody>
      </p:sp>
      <p:sp>
        <p:nvSpPr>
          <p:cNvPr id="5" name="Shape 3"/>
          <p:cNvSpPr/>
          <p:nvPr/>
        </p:nvSpPr>
        <p:spPr>
          <a:xfrm>
            <a:off x="777240" y="1554480"/>
            <a:ext cx="731520" cy="731520"/>
          </a:xfrm>
          <a:prstGeom prst="ellipse">
            <a:avLst/>
          </a:prstGeom>
          <a:solidFill>
            <a:srgbClr val="F4B942"/>
          </a:solidFill>
          <a:ln w="9525">
            <a:solidFill>
              <a:srgbClr val="F4B942"/>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938174" y="1715414"/>
            <a:ext cx="409651" cy="409651"/>
          </a:xfrm>
          <a:prstGeom prst="rect">
            <a:avLst/>
          </a:prstGeom>
        </p:spPr>
      </p:pic>
      <p:sp>
        <p:nvSpPr>
          <p:cNvPr id="7" name="Text 4"/>
          <p:cNvSpPr/>
          <p:nvPr/>
        </p:nvSpPr>
        <p:spPr>
          <a:xfrm>
            <a:off x="1737360" y="1600200"/>
            <a:ext cx="6583680" cy="640080"/>
          </a:xfrm>
          <a:prstGeom prst="rect">
            <a:avLst/>
          </a:prstGeom>
          <a:noFill/>
          <a:ln/>
        </p:spPr>
        <p:txBody>
          <a:bodyPr wrap="square" lIns="0" tIns="0" rIns="0" bIns="0" rtlCol="0" anchor="ctr"/>
          <a:lstStyle/>
          <a:p>
            <a:pPr marL="0" indent="0">
              <a:buNone/>
            </a:pPr>
            <a:r>
              <a:rPr lang="en-US" sz="2200" b="1" dirty="0">
                <a:solidFill>
                  <a:srgbClr val="0B4F5C"/>
                </a:solidFill>
                <a:latin typeface="Cambria" pitchFamily="34" charset="0"/>
                <a:ea typeface="Cambria" pitchFamily="34" charset="-122"/>
                <a:cs typeface="Cambria" pitchFamily="34" charset="-120"/>
              </a:rPr>
              <a:t>Few-shot is training by example</a:t>
            </a:r>
            <a:endParaRPr lang="en-US" sz="2200" dirty="0"/>
          </a:p>
        </p:txBody>
      </p:sp>
      <p:sp>
        <p:nvSpPr>
          <p:cNvPr id="8" name="Text 5"/>
          <p:cNvSpPr/>
          <p:nvPr/>
        </p:nvSpPr>
        <p:spPr>
          <a:xfrm>
            <a:off x="868680" y="2514600"/>
            <a:ext cx="7406640" cy="1737360"/>
          </a:xfrm>
          <a:prstGeom prst="rect">
            <a:avLst/>
          </a:prstGeom>
          <a:noFill/>
          <a:ln/>
        </p:spPr>
        <p:txBody>
          <a:bodyPr wrap="square" lIns="0" tIns="0" rIns="0" bIns="0" rtlCol="0" anchor="t"/>
          <a:lstStyle/>
          <a:p>
            <a:pPr marL="0" indent="0">
              <a:buNone/>
            </a:pPr>
            <a:r>
              <a:rPr lang="en-US" sz="2000" dirty="0">
                <a:solidFill>
                  <a:srgbClr val="1B2B34"/>
                </a:solidFill>
                <a:latin typeface="Calibri" pitchFamily="34" charset="0"/>
                <a:ea typeface="Calibri" pitchFamily="34" charset="-122"/>
                <a:cs typeface="Calibri" pitchFamily="34" charset="-120"/>
              </a:rPr>
              <a:t>If you show a new employee three finished reports, they understand what you want faster than from a long explanation. Few-shot examples do the same for an AI.</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A few-shot example block</a:t>
            </a:r>
            <a:endParaRPr lang="en-US" sz="3000" dirty="0"/>
          </a:p>
        </p:txBody>
      </p:sp>
      <p:sp>
        <p:nvSpPr>
          <p:cNvPr id="4" name="Shape 2"/>
          <p:cNvSpPr/>
          <p:nvPr/>
        </p:nvSpPr>
        <p:spPr>
          <a:xfrm>
            <a:off x="502920" y="1280160"/>
            <a:ext cx="8138160" cy="3337560"/>
          </a:xfrm>
          <a:prstGeom prst="roundRect">
            <a:avLst>
              <a:gd name="adj" fmla="val 3288"/>
            </a:avLst>
          </a:prstGeom>
          <a:solidFill>
            <a:srgbClr val="1B2B34"/>
          </a:solidFill>
          <a:ln w="9525">
            <a:solidFill>
              <a:srgbClr val="1B2B34"/>
            </a:solidFill>
            <a:prstDash val="solid"/>
          </a:ln>
        </p:spPr>
        <p:txBody>
          <a:bodyPr/>
          <a:lstStyle/>
          <a:p>
            <a:endParaRPr lang="en-US"/>
          </a:p>
        </p:txBody>
      </p:sp>
      <p:sp>
        <p:nvSpPr>
          <p:cNvPr id="5" name="Text 3"/>
          <p:cNvSpPr/>
          <p:nvPr/>
        </p:nvSpPr>
        <p:spPr>
          <a:xfrm>
            <a:off x="777240" y="1417320"/>
            <a:ext cx="7589520" cy="274320"/>
          </a:xfrm>
          <a:prstGeom prst="rect">
            <a:avLst/>
          </a:prstGeom>
          <a:noFill/>
          <a:ln/>
        </p:spPr>
        <p:txBody>
          <a:bodyPr wrap="square" lIns="0" tIns="0" rIns="0" bIns="0" rtlCol="0" anchor="t"/>
          <a:lstStyle/>
          <a:p>
            <a:pPr marL="0" indent="0">
              <a:buNone/>
            </a:pPr>
            <a:r>
              <a:rPr lang="en-US" sz="1200" b="1" dirty="0">
                <a:solidFill>
                  <a:srgbClr val="F4B942"/>
                </a:solidFill>
                <a:latin typeface="Calibri" pitchFamily="34" charset="0"/>
                <a:ea typeface="Calibri" pitchFamily="34" charset="-122"/>
                <a:cs typeface="Calibri" pitchFamily="34" charset="-120"/>
              </a:rPr>
              <a:t>A FEW-SHOT EXAMPLE BLOCK</a:t>
            </a:r>
            <a:endParaRPr lang="en-US" sz="1200" dirty="0"/>
          </a:p>
        </p:txBody>
      </p:sp>
      <p:sp>
        <p:nvSpPr>
          <p:cNvPr id="6" name="Text 4"/>
          <p:cNvSpPr/>
          <p:nvPr/>
        </p:nvSpPr>
        <p:spPr>
          <a:xfrm>
            <a:off x="777240" y="1783080"/>
            <a:ext cx="7589520" cy="2743200"/>
          </a:xfrm>
          <a:prstGeom prst="rect">
            <a:avLst/>
          </a:prstGeom>
          <a:noFill/>
          <a:ln/>
        </p:spPr>
        <p:txBody>
          <a:bodyPr wrap="square" lIns="0" tIns="0" rIns="0" bIns="0" rtlCol="0" anchor="t"/>
          <a:lstStyle/>
          <a:p>
            <a:pPr marL="0" indent="0">
              <a:buNone/>
            </a:pPr>
            <a:r>
              <a:rPr lang="en-US" sz="1400" dirty="0">
                <a:solidFill>
                  <a:srgbClr val="FFFFFF"/>
                </a:solidFill>
                <a:latin typeface="Consolas" pitchFamily="34" charset="0"/>
                <a:ea typeface="Consolas" pitchFamily="34" charset="-122"/>
                <a:cs typeface="Consolas" pitchFamily="34" charset="-120"/>
              </a:rPr>
              <a:t>Examples:</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Message: My bill is higher than usual this month.</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Category: billing</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Message: The page shows a blank screen after I log in.</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Category: technical</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Message: Where is your head office located?</a:t>
            </a:r>
            <a:endParaRPr lang="en-US" sz="1400" dirty="0"/>
          </a:p>
          <a:p>
            <a:pPr marL="0" indent="0">
              <a:buNone/>
            </a:pPr>
            <a:r>
              <a:rPr lang="en-US" sz="1400" dirty="0">
                <a:solidFill>
                  <a:srgbClr val="FFFFFF"/>
                </a:solidFill>
                <a:latin typeface="Consolas" pitchFamily="34" charset="0"/>
                <a:ea typeface="Consolas" pitchFamily="34" charset="-122"/>
                <a:cs typeface="Consolas" pitchFamily="34" charset="-120"/>
              </a:rPr>
              <a:t>Category: general</a:t>
            </a:r>
            <a:endParaRPr lang="en-US" sz="14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Asking for structured output</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200" dirty="0">
                <a:solidFill>
                  <a:srgbClr val="1B2B34"/>
                </a:solidFill>
                <a:latin typeface="Calibri" pitchFamily="34" charset="0"/>
                <a:ea typeface="Calibri" pitchFamily="34" charset="-122"/>
                <a:cs typeface="Calibri" pitchFamily="34" charset="-120"/>
              </a:rPr>
              <a:t>When a program will read the answer, ask for JSON with exact key names, such as {"category": "billing", "confidence": "high"}.</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Test, do not guess</a:t>
            </a:r>
            <a:endParaRPr lang="en-US" sz="3000" dirty="0"/>
          </a:p>
        </p:txBody>
      </p:sp>
      <p:sp>
        <p:nvSpPr>
          <p:cNvPr id="5" name="Shape 2"/>
          <p:cNvSpPr/>
          <p:nvPr/>
        </p:nvSpPr>
        <p:spPr>
          <a:xfrm>
            <a:off x="548640" y="1280160"/>
            <a:ext cx="411480" cy="411480"/>
          </a:xfrm>
          <a:prstGeom prst="ellipse">
            <a:avLst/>
          </a:prstGeom>
          <a:solidFill>
            <a:srgbClr val="0B7A75"/>
          </a:solidFill>
          <a:ln w="9525">
            <a:solidFill>
              <a:srgbClr val="0B7A75"/>
            </a:solidFill>
            <a:prstDash val="solid"/>
          </a:ln>
        </p:spPr>
        <p:txBody>
          <a:bodyPr/>
          <a:lstStyle/>
          <a:p>
            <a:endParaRPr lang="en-US"/>
          </a:p>
        </p:txBody>
      </p:sp>
      <p:sp>
        <p:nvSpPr>
          <p:cNvPr id="6" name="Text 3"/>
          <p:cNvSpPr/>
          <p:nvPr/>
        </p:nvSpPr>
        <p:spPr>
          <a:xfrm>
            <a:off x="548640" y="12801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p:nvPr/>
        </p:nvSpPr>
        <p:spPr>
          <a:xfrm>
            <a:off x="1143000" y="12618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Build a test set: a fixed list of example inputs with the correct answers (the “labels”).</a:t>
            </a:r>
            <a:endParaRPr lang="en-US" sz="1800" dirty="0"/>
          </a:p>
        </p:txBody>
      </p:sp>
      <p:sp>
        <p:nvSpPr>
          <p:cNvPr id="8" name="Shape 5"/>
          <p:cNvSpPr/>
          <p:nvPr/>
        </p:nvSpPr>
        <p:spPr>
          <a:xfrm>
            <a:off x="548640" y="1965960"/>
            <a:ext cx="411480" cy="411480"/>
          </a:xfrm>
          <a:prstGeom prst="ellipse">
            <a:avLst/>
          </a:prstGeom>
          <a:solidFill>
            <a:srgbClr val="0B7A75"/>
          </a:solidFill>
          <a:ln w="9525">
            <a:solidFill>
              <a:srgbClr val="0B7A75"/>
            </a:solidFill>
            <a:prstDash val="solid"/>
          </a:ln>
        </p:spPr>
        <p:txBody>
          <a:bodyPr/>
          <a:lstStyle/>
          <a:p>
            <a:endParaRPr lang="en-US"/>
          </a:p>
        </p:txBody>
      </p:sp>
      <p:sp>
        <p:nvSpPr>
          <p:cNvPr id="9" name="Text 6"/>
          <p:cNvSpPr/>
          <p:nvPr/>
        </p:nvSpPr>
        <p:spPr>
          <a:xfrm>
            <a:off x="548640" y="1965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7"/>
          <p:cNvSpPr/>
          <p:nvPr/>
        </p:nvSpPr>
        <p:spPr>
          <a:xfrm>
            <a:off x="1143000" y="19476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Run every prompt version on the same list.</a:t>
            </a:r>
            <a:endParaRPr lang="en-US" sz="1800" dirty="0"/>
          </a:p>
        </p:txBody>
      </p:sp>
      <p:sp>
        <p:nvSpPr>
          <p:cNvPr id="11" name="Shape 8"/>
          <p:cNvSpPr/>
          <p:nvPr/>
        </p:nvSpPr>
        <p:spPr>
          <a:xfrm>
            <a:off x="548640" y="2651760"/>
            <a:ext cx="411480" cy="411480"/>
          </a:xfrm>
          <a:prstGeom prst="ellipse">
            <a:avLst/>
          </a:prstGeom>
          <a:solidFill>
            <a:srgbClr val="0B7A75"/>
          </a:solidFill>
          <a:ln w="9525">
            <a:solidFill>
              <a:srgbClr val="0B7A75"/>
            </a:solidFill>
            <a:prstDash val="solid"/>
          </a:ln>
        </p:spPr>
        <p:txBody>
          <a:bodyPr/>
          <a:lstStyle/>
          <a:p>
            <a:endParaRPr lang="en-US"/>
          </a:p>
        </p:txBody>
      </p:sp>
      <p:sp>
        <p:nvSpPr>
          <p:cNvPr id="12" name="Text 9"/>
          <p:cNvSpPr/>
          <p:nvPr/>
        </p:nvSpPr>
        <p:spPr>
          <a:xfrm>
            <a:off x="548640" y="2651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3" name="Text 10"/>
          <p:cNvSpPr/>
          <p:nvPr/>
        </p:nvSpPr>
        <p:spPr>
          <a:xfrm>
            <a:off x="1143000" y="26334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Score each version, for example 14 correct out of 20.</a:t>
            </a:r>
            <a:endParaRPr lang="en-US" sz="1800" dirty="0"/>
          </a:p>
        </p:txBody>
      </p:sp>
      <p:sp>
        <p:nvSpPr>
          <p:cNvPr id="14" name="Shape 11"/>
          <p:cNvSpPr/>
          <p:nvPr/>
        </p:nvSpPr>
        <p:spPr>
          <a:xfrm>
            <a:off x="548640" y="3337560"/>
            <a:ext cx="411480" cy="411480"/>
          </a:xfrm>
          <a:prstGeom prst="ellipse">
            <a:avLst/>
          </a:prstGeom>
          <a:solidFill>
            <a:srgbClr val="0B7A75"/>
          </a:solidFill>
          <a:ln w="9525">
            <a:solidFill>
              <a:srgbClr val="0B7A75"/>
            </a:solidFill>
            <a:prstDash val="solid"/>
          </a:ln>
        </p:spPr>
        <p:txBody>
          <a:bodyPr/>
          <a:lstStyle/>
          <a:p>
            <a:endParaRPr lang="en-US"/>
          </a:p>
        </p:txBody>
      </p:sp>
      <p:sp>
        <p:nvSpPr>
          <p:cNvPr id="15" name="Text 12"/>
          <p:cNvSpPr/>
          <p:nvPr/>
        </p:nvSpPr>
        <p:spPr>
          <a:xfrm>
            <a:off x="548640" y="33375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6" name="Text 13"/>
          <p:cNvSpPr/>
          <p:nvPr/>
        </p:nvSpPr>
        <p:spPr>
          <a:xfrm>
            <a:off x="1143000" y="3319272"/>
            <a:ext cx="7498080" cy="640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Change one thing at a time, so you know what helped. Keep the best.</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The cheating trap</a:t>
            </a:r>
            <a:endParaRPr lang="en-US" sz="3000" dirty="0"/>
          </a:p>
        </p:txBody>
      </p:sp>
      <p:sp>
        <p:nvSpPr>
          <p:cNvPr id="4" name="Shape 2"/>
          <p:cNvSpPr/>
          <p:nvPr/>
        </p:nvSpPr>
        <p:spPr>
          <a:xfrm>
            <a:off x="502920" y="1280160"/>
            <a:ext cx="8138160" cy="2743200"/>
          </a:xfrm>
          <a:prstGeom prst="roundRect">
            <a:avLst>
              <a:gd name="adj" fmla="val 4000"/>
            </a:avLst>
          </a:prstGeom>
          <a:solidFill>
            <a:srgbClr val="FDECEA"/>
          </a:solidFill>
          <a:ln w="9525">
            <a:solidFill>
              <a:srgbClr val="FDECEA"/>
            </a:solidFill>
            <a:prstDash val="solid"/>
          </a:ln>
        </p:spPr>
        <p:txBody>
          <a:bodyPr/>
          <a:lstStyle/>
          <a:p>
            <a:endParaRPr lang="en-US"/>
          </a:p>
        </p:txBody>
      </p:sp>
      <p:sp>
        <p:nvSpPr>
          <p:cNvPr id="5" name="Shape 3"/>
          <p:cNvSpPr/>
          <p:nvPr/>
        </p:nvSpPr>
        <p:spPr>
          <a:xfrm>
            <a:off x="502920" y="1280160"/>
            <a:ext cx="109728" cy="2743200"/>
          </a:xfrm>
          <a:prstGeom prst="rect">
            <a:avLst/>
          </a:prstGeom>
          <a:solidFill>
            <a:srgbClr val="F26B5B"/>
          </a:solidFill>
          <a:ln w="12700">
            <a:solidFill>
              <a:srgbClr val="F26B5B"/>
            </a:solidFill>
            <a:prstDash val="solid"/>
          </a:ln>
        </p:spPr>
        <p:txBody>
          <a:bodyPr/>
          <a:lstStyle/>
          <a:p>
            <a:endParaRPr lang="en-US"/>
          </a:p>
        </p:txBody>
      </p:sp>
      <p:sp>
        <p:nvSpPr>
          <p:cNvPr id="6" name="Shape 4"/>
          <p:cNvSpPr/>
          <p:nvPr/>
        </p:nvSpPr>
        <p:spPr>
          <a:xfrm>
            <a:off x="868680" y="1600200"/>
            <a:ext cx="685800" cy="685800"/>
          </a:xfrm>
          <a:prstGeom prst="ellipse">
            <a:avLst/>
          </a:prstGeom>
          <a:solidFill>
            <a:srgbClr val="F26B5B"/>
          </a:solidFill>
          <a:ln w="9525">
            <a:solidFill>
              <a:srgbClr val="F26B5B"/>
            </a:solidFill>
            <a:prstDash val="solid"/>
          </a:ln>
        </p:spPr>
        <p:txBody>
          <a:bodyPr/>
          <a:lstStyle/>
          <a:p>
            <a:endParaRPr lang="en-US"/>
          </a:p>
        </p:txBody>
      </p:sp>
      <p:pic>
        <p:nvPicPr>
          <p:cNvPr id="7" name="Image 0" descr="icon"/>
          <p:cNvPicPr>
            <a:picLocks noChangeAspect="1"/>
          </p:cNvPicPr>
          <p:nvPr/>
        </p:nvPicPr>
        <p:blipFill>
          <a:blip r:embed="rId3"/>
          <a:stretch>
            <a:fillRect/>
          </a:stretch>
        </p:blipFill>
        <p:spPr>
          <a:xfrm>
            <a:off x="1019556" y="1751076"/>
            <a:ext cx="384048" cy="384048"/>
          </a:xfrm>
          <a:prstGeom prst="rect">
            <a:avLst/>
          </a:prstGeom>
        </p:spPr>
      </p:pic>
      <p:sp>
        <p:nvSpPr>
          <p:cNvPr id="8" name="Text 5"/>
          <p:cNvSpPr/>
          <p:nvPr/>
        </p:nvSpPr>
        <p:spPr>
          <a:xfrm>
            <a:off x="1828800" y="1600200"/>
            <a:ext cx="6583680" cy="2286000"/>
          </a:xfrm>
          <a:prstGeom prst="rect">
            <a:avLst/>
          </a:prstGeom>
          <a:noFill/>
          <a:ln/>
        </p:spPr>
        <p:txBody>
          <a:bodyPr wrap="square" lIns="0" tIns="0" rIns="0" bIns="0" rtlCol="0" anchor="ctr"/>
          <a:lstStyle/>
          <a:p>
            <a:pPr marL="0" indent="0">
              <a:buNone/>
            </a:pPr>
            <a:r>
              <a:rPr lang="en-US" sz="2200" dirty="0">
                <a:solidFill>
                  <a:srgbClr val="1B2B34"/>
                </a:solidFill>
                <a:latin typeface="Calibri" pitchFamily="34" charset="0"/>
                <a:ea typeface="Calibri" pitchFamily="34" charset="-122"/>
                <a:cs typeface="Calibri" pitchFamily="34" charset="-120"/>
              </a:rPr>
              <a:t>Never copy test messages into your few-shot examples. If the AI has seen the answers, your score is meaningless. Keep examples and test cases separate.</a:t>
            </a:r>
            <a:endParaRPr lang="en-US" sz="2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Common mistakes</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Tuning on the test set. Copying test messages into your examples inflates the score.</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Changing many things at once. You cannot tell which change helped.</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Vague goals such as “be helpful”. Say exactly what good looks like.</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Trusting one run. If a score surprises you, run the set again.</a:t>
            </a:r>
            <a:endParaRPr lang="en-US" sz="2000" dirty="0"/>
          </a:p>
          <a:p>
            <a:pPr marL="342900" indent="-342900">
              <a:spcAft>
                <a:spcPts val="1200"/>
              </a:spcAft>
              <a:buSzPct val="100000"/>
              <a:buChar char="●"/>
            </a:pPr>
            <a:r>
              <a:rPr lang="en-US" sz="2000" dirty="0">
                <a:solidFill>
                  <a:srgbClr val="1B2B34"/>
                </a:solidFill>
                <a:latin typeface="Calibri" pitchFamily="34" charset="0"/>
                <a:ea typeface="Calibri" pitchFamily="34" charset="-122"/>
                <a:cs typeface="Calibri" pitchFamily="34" charset="-120"/>
              </a:rPr>
              <a:t>Asking for JSON without checking it.</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Your exercise</a:t>
            </a:r>
            <a:endParaRPr lang="en-US" sz="3000" dirty="0"/>
          </a:p>
        </p:txBody>
      </p:sp>
      <p:sp>
        <p:nvSpPr>
          <p:cNvPr id="5" name="Text 2"/>
          <p:cNvSpPr/>
          <p:nvPr/>
        </p:nvSpPr>
        <p:spPr>
          <a:xfrm>
            <a:off x="548640" y="1188720"/>
            <a:ext cx="8046720" cy="868680"/>
          </a:xfrm>
          <a:prstGeom prst="rect">
            <a:avLst/>
          </a:prstGeom>
          <a:noFill/>
          <a:ln/>
        </p:spPr>
        <p:txBody>
          <a:bodyPr wrap="square" lIns="0" tIns="0" rIns="0" bIns="0" rtlCol="0" anchor="t"/>
          <a:lstStyle/>
          <a:p>
            <a:pPr marL="0" indent="0">
              <a:buNone/>
            </a:pPr>
            <a:r>
              <a:rPr lang="en-US" sz="1700" dirty="0">
                <a:solidFill>
                  <a:srgbClr val="5B6B73"/>
                </a:solidFill>
                <a:latin typeface="Calibri" pitchFamily="34" charset="0"/>
                <a:ea typeface="Calibri" pitchFamily="34" charset="-122"/>
                <a:cs typeface="Calibri" pitchFamily="34" charset="-120"/>
              </a:rPr>
              <a:t>Sort these messages into billing, technical or general. The “correct label” column is your answer key. A few are tricky on purpose, and they are marked.</a:t>
            </a:r>
            <a:endParaRPr lang="en-US" sz="1700" dirty="0"/>
          </a:p>
        </p:txBody>
      </p:sp>
      <p:sp>
        <p:nvSpPr>
          <p:cNvPr id="6" name="Text 3"/>
          <p:cNvSpPr/>
          <p:nvPr/>
        </p:nvSpPr>
        <p:spPr>
          <a:xfrm>
            <a:off x="548640" y="2103120"/>
            <a:ext cx="3657600" cy="274320"/>
          </a:xfrm>
          <a:prstGeom prst="rect">
            <a:avLst/>
          </a:prstGeom>
          <a:noFill/>
          <a:ln/>
        </p:spPr>
        <p:txBody>
          <a:bodyPr wrap="square" lIns="0" tIns="0" rIns="0" bIns="0" rtlCol="0" anchor="t"/>
          <a:lstStyle/>
          <a:p>
            <a:pPr marL="0" indent="0">
              <a:buNone/>
            </a:pPr>
            <a:r>
              <a:rPr lang="en-US" sz="1200" b="1" dirty="0">
                <a:solidFill>
                  <a:srgbClr val="0B7A75"/>
                </a:solidFill>
                <a:latin typeface="Calibri" pitchFamily="34" charset="0"/>
                <a:ea typeface="Calibri" pitchFamily="34" charset="-122"/>
                <a:cs typeface="Calibri" pitchFamily="34" charset="-120"/>
              </a:rPr>
              <a:t>STEPS</a:t>
            </a:r>
            <a:endParaRPr lang="en-US" sz="1200" dirty="0"/>
          </a:p>
        </p:txBody>
      </p:sp>
      <p:sp>
        <p:nvSpPr>
          <p:cNvPr id="7" name="Text 4"/>
          <p:cNvSpPr/>
          <p:nvPr/>
        </p:nvSpPr>
        <p:spPr>
          <a:xfrm>
            <a:off x="548640" y="2423160"/>
            <a:ext cx="8046720" cy="22860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Version 1, vague. Write a loose prompt such as “What is this message about?” Try it on all 20.</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Version 2, role and rules. Use the five-part recipe with the format “category word only”.</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Version 3, add examples. Add three few-shot examples that are not from the 20 above.</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Score each version. Count how many of the 20 matched the label exactly.</a:t>
            </a:r>
            <a:endParaRPr lang="en-US" sz="1500" dirty="0"/>
          </a:p>
          <a:p>
            <a:pPr marL="342900" indent="-342900">
              <a:spcAft>
                <a:spcPts val="600"/>
              </a:spcAft>
              <a:buSzPct val="100000"/>
              <a:buChar char="●"/>
            </a:pPr>
            <a:r>
              <a:rPr lang="en-US" sz="1500" dirty="0">
                <a:solidFill>
                  <a:srgbClr val="1B2B34"/>
                </a:solidFill>
                <a:latin typeface="Calibri" pitchFamily="34" charset="0"/>
                <a:ea typeface="Calibri" pitchFamily="34" charset="-122"/>
                <a:cs typeface="Calibri" pitchFamily="34" charset="-120"/>
              </a:rPr>
              <a:t>Keep the best and note why it still misses some.</a:t>
            </a:r>
            <a:endParaRPr lang="en-US" sz="15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Quick check</a:t>
            </a:r>
            <a:endParaRPr lang="en-US" sz="3000" dirty="0"/>
          </a:p>
        </p:txBody>
      </p:sp>
      <p:sp>
        <p:nvSpPr>
          <p:cNvPr id="5" name="Text 2"/>
          <p:cNvSpPr/>
          <p:nvPr/>
        </p:nvSpPr>
        <p:spPr>
          <a:xfrm>
            <a:off x="548640" y="1280160"/>
            <a:ext cx="8046720" cy="3383280"/>
          </a:xfrm>
          <a:prstGeom prst="rect">
            <a:avLst/>
          </a:prstGeom>
          <a:noFill/>
          <a:ln/>
        </p:spPr>
        <p:txBody>
          <a:bodyPr wrap="square" lIns="0" tIns="0" rIns="0" bIns="0" rtlCol="0" anchor="t"/>
          <a:lstStyle/>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1.  What does the AI remember from your previous call?</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2.  What is the difference between a system prompt and a user prompt?</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3.  What are few-shot examples?</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4.  Why must few-shot examples be kept out of your test set?</a:t>
            </a:r>
            <a:endParaRPr lang="en-US" sz="2000" dirty="0"/>
          </a:p>
          <a:p>
            <a:pPr marL="0" indent="0">
              <a:spcAft>
                <a:spcPts val="1200"/>
              </a:spcAft>
              <a:buNone/>
            </a:pPr>
            <a:r>
              <a:rPr lang="en-US" sz="2000" dirty="0">
                <a:solidFill>
                  <a:srgbClr val="1B2B34"/>
                </a:solidFill>
                <a:latin typeface="Calibri" pitchFamily="34" charset="0"/>
                <a:ea typeface="Calibri" pitchFamily="34" charset="-122"/>
                <a:cs typeface="Calibri" pitchFamily="34" charset="-120"/>
              </a:rPr>
              <a:t>5.  The AI returns JSON that your program will use. What should you do first?</a:t>
            </a:r>
            <a:endParaRPr lang="en-US" sz="20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Words to know</a:t>
            </a:r>
            <a:endParaRPr lang="en-US" sz="3000" dirty="0"/>
          </a:p>
        </p:txBody>
      </p:sp>
      <p:sp>
        <p:nvSpPr>
          <p:cNvPr id="5" name="Shape 2"/>
          <p:cNvSpPr/>
          <p:nvPr/>
        </p:nvSpPr>
        <p:spPr>
          <a:xfrm>
            <a:off x="50292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6" name="Text 3"/>
          <p:cNvSpPr/>
          <p:nvPr/>
        </p:nvSpPr>
        <p:spPr>
          <a:xfrm>
            <a:off x="68580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Prompt</a:t>
            </a:r>
            <a:endParaRPr lang="en-US" sz="1500" dirty="0"/>
          </a:p>
        </p:txBody>
      </p:sp>
      <p:sp>
        <p:nvSpPr>
          <p:cNvPr id="7" name="Text 4"/>
          <p:cNvSpPr/>
          <p:nvPr/>
        </p:nvSpPr>
        <p:spPr>
          <a:xfrm>
            <a:off x="68580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instructions and data you send to an AI.</a:t>
            </a:r>
            <a:endParaRPr lang="en-US" sz="1200" dirty="0"/>
          </a:p>
        </p:txBody>
      </p:sp>
      <p:sp>
        <p:nvSpPr>
          <p:cNvPr id="8" name="Shape 5"/>
          <p:cNvSpPr/>
          <p:nvPr/>
        </p:nvSpPr>
        <p:spPr>
          <a:xfrm>
            <a:off x="4709160" y="123444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9" name="Text 6"/>
          <p:cNvSpPr/>
          <p:nvPr/>
        </p:nvSpPr>
        <p:spPr>
          <a:xfrm>
            <a:off x="4892040" y="132588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System prompt</a:t>
            </a:r>
            <a:endParaRPr lang="en-US" sz="1500" dirty="0"/>
          </a:p>
        </p:txBody>
      </p:sp>
      <p:sp>
        <p:nvSpPr>
          <p:cNvPr id="10" name="Text 7"/>
          <p:cNvSpPr/>
          <p:nvPr/>
        </p:nvSpPr>
        <p:spPr>
          <a:xfrm>
            <a:off x="4892040" y="161848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standing role and rules for the AI, set once. Like a job description.</a:t>
            </a:r>
            <a:endParaRPr lang="en-US" sz="1200" dirty="0"/>
          </a:p>
        </p:txBody>
      </p:sp>
      <p:sp>
        <p:nvSpPr>
          <p:cNvPr id="11" name="Shape 8"/>
          <p:cNvSpPr/>
          <p:nvPr/>
        </p:nvSpPr>
        <p:spPr>
          <a:xfrm>
            <a:off x="50292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2" name="Text 9"/>
          <p:cNvSpPr/>
          <p:nvPr/>
        </p:nvSpPr>
        <p:spPr>
          <a:xfrm>
            <a:off x="68580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User prompt</a:t>
            </a:r>
            <a:endParaRPr lang="en-US" sz="1500" dirty="0"/>
          </a:p>
        </p:txBody>
      </p:sp>
      <p:sp>
        <p:nvSpPr>
          <p:cNvPr id="13" name="Text 10"/>
          <p:cNvSpPr/>
          <p:nvPr/>
        </p:nvSpPr>
        <p:spPr>
          <a:xfrm>
            <a:off x="68580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The specific request or data for this call. Like today's task.</a:t>
            </a:r>
            <a:endParaRPr lang="en-US" sz="1200" dirty="0"/>
          </a:p>
        </p:txBody>
      </p:sp>
      <p:sp>
        <p:nvSpPr>
          <p:cNvPr id="14" name="Shape 11"/>
          <p:cNvSpPr/>
          <p:nvPr/>
        </p:nvSpPr>
        <p:spPr>
          <a:xfrm>
            <a:off x="4709160" y="233172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5" name="Text 12"/>
          <p:cNvSpPr/>
          <p:nvPr/>
        </p:nvSpPr>
        <p:spPr>
          <a:xfrm>
            <a:off x="4892040" y="242316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Few-shot examples</a:t>
            </a:r>
            <a:endParaRPr lang="en-US" sz="1500" dirty="0"/>
          </a:p>
        </p:txBody>
      </p:sp>
      <p:sp>
        <p:nvSpPr>
          <p:cNvPr id="16" name="Text 13"/>
          <p:cNvSpPr/>
          <p:nvPr/>
        </p:nvSpPr>
        <p:spPr>
          <a:xfrm>
            <a:off x="4892040" y="271576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few worked input-and-answer pairs placed in the prompt to show the AI what you want.</a:t>
            </a:r>
            <a:endParaRPr lang="en-US" sz="1200" dirty="0"/>
          </a:p>
        </p:txBody>
      </p:sp>
      <p:sp>
        <p:nvSpPr>
          <p:cNvPr id="17" name="Shape 14"/>
          <p:cNvSpPr/>
          <p:nvPr/>
        </p:nvSpPr>
        <p:spPr>
          <a:xfrm>
            <a:off x="50292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18" name="Text 15"/>
          <p:cNvSpPr/>
          <p:nvPr/>
        </p:nvSpPr>
        <p:spPr>
          <a:xfrm>
            <a:off x="68580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Structured output</a:t>
            </a:r>
            <a:endParaRPr lang="en-US" sz="1500" dirty="0"/>
          </a:p>
        </p:txBody>
      </p:sp>
      <p:sp>
        <p:nvSpPr>
          <p:cNvPr id="19" name="Text 16"/>
          <p:cNvSpPr/>
          <p:nvPr/>
        </p:nvSpPr>
        <p:spPr>
          <a:xfrm>
            <a:off x="68580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reply in a fixed format, such as JSON, that a program can read.</a:t>
            </a:r>
            <a:endParaRPr lang="en-US" sz="1200" dirty="0"/>
          </a:p>
        </p:txBody>
      </p:sp>
      <p:sp>
        <p:nvSpPr>
          <p:cNvPr id="20" name="Shape 17"/>
          <p:cNvSpPr/>
          <p:nvPr/>
        </p:nvSpPr>
        <p:spPr>
          <a:xfrm>
            <a:off x="4709160" y="3429000"/>
            <a:ext cx="3931920" cy="987552"/>
          </a:xfrm>
          <a:prstGeom prst="roundRect">
            <a:avLst>
              <a:gd name="adj" fmla="val 11111"/>
            </a:avLst>
          </a:prstGeom>
          <a:solidFill>
            <a:srgbClr val="E8F3F2"/>
          </a:solidFill>
          <a:ln w="9525">
            <a:solidFill>
              <a:srgbClr val="E8F3F2"/>
            </a:solidFill>
            <a:prstDash val="solid"/>
          </a:ln>
        </p:spPr>
        <p:txBody>
          <a:bodyPr/>
          <a:lstStyle/>
          <a:p>
            <a:endParaRPr lang="en-US"/>
          </a:p>
        </p:txBody>
      </p:sp>
      <p:sp>
        <p:nvSpPr>
          <p:cNvPr id="21" name="Text 18"/>
          <p:cNvSpPr/>
          <p:nvPr/>
        </p:nvSpPr>
        <p:spPr>
          <a:xfrm>
            <a:off x="4892040" y="3520440"/>
            <a:ext cx="3566160" cy="274320"/>
          </a:xfrm>
          <a:prstGeom prst="rect">
            <a:avLst/>
          </a:prstGeom>
          <a:noFill/>
          <a:ln/>
        </p:spPr>
        <p:txBody>
          <a:bodyPr wrap="square" lIns="0" tIns="0" rIns="0" bIns="0" rtlCol="0" anchor="t"/>
          <a:lstStyle/>
          <a:p>
            <a:pPr marL="0" indent="0">
              <a:buNone/>
            </a:pPr>
            <a:r>
              <a:rPr lang="en-US" sz="1500" b="1" dirty="0">
                <a:solidFill>
                  <a:srgbClr val="0B4F5C"/>
                </a:solidFill>
                <a:latin typeface="Calibri" pitchFamily="34" charset="0"/>
                <a:ea typeface="Calibri" pitchFamily="34" charset="-122"/>
                <a:cs typeface="Calibri" pitchFamily="34" charset="-120"/>
              </a:rPr>
              <a:t>Test set</a:t>
            </a:r>
            <a:endParaRPr lang="en-US" sz="1500" dirty="0"/>
          </a:p>
        </p:txBody>
      </p:sp>
      <p:sp>
        <p:nvSpPr>
          <p:cNvPr id="22" name="Text 19"/>
          <p:cNvSpPr/>
          <p:nvPr/>
        </p:nvSpPr>
        <p:spPr>
          <a:xfrm>
            <a:off x="4892040" y="3813048"/>
            <a:ext cx="3566160" cy="548640"/>
          </a:xfrm>
          <a:prstGeom prst="rect">
            <a:avLst/>
          </a:prstGeom>
          <a:noFill/>
          <a:ln/>
        </p:spPr>
        <p:txBody>
          <a:bodyPr wrap="square" lIns="0" tIns="0" rIns="0" bIns="0" rtlCol="0" anchor="t"/>
          <a:lstStyle/>
          <a:p>
            <a:pPr marL="0" indent="0">
              <a:buNone/>
            </a:pPr>
            <a:r>
              <a:rPr lang="en-US" sz="1200" dirty="0">
                <a:solidFill>
                  <a:srgbClr val="1B2B34"/>
                </a:solidFill>
                <a:latin typeface="Calibri" pitchFamily="34" charset="0"/>
                <a:ea typeface="Calibri" pitchFamily="34" charset="-122"/>
                <a:cs typeface="Calibri" pitchFamily="34" charset="-120"/>
              </a:rPr>
              <a:t>A fixed list of example inputs with the correct answers, used to score prompts fairly.</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B7A75"/>
          </a:solidFill>
          <a:ln w="12700">
            <a:solidFill>
              <a:srgbClr val="0B7A75"/>
            </a:solidFill>
            <a:prstDash val="solid"/>
          </a:ln>
        </p:spPr>
        <p:txBody>
          <a:bodyPr/>
          <a:lstStyle/>
          <a:p>
            <a:endParaRPr lang="en-US"/>
          </a:p>
        </p:txBody>
      </p:sp>
      <p:sp>
        <p:nvSpPr>
          <p:cNvPr id="3" name="Text 1"/>
          <p:cNvSpPr/>
          <p:nvPr/>
        </p:nvSpPr>
        <p:spPr>
          <a:xfrm>
            <a:off x="502920" y="320040"/>
            <a:ext cx="8138160" cy="731520"/>
          </a:xfrm>
          <a:prstGeom prst="rect">
            <a:avLst/>
          </a:prstGeom>
          <a:noFill/>
          <a:ln/>
        </p:spPr>
        <p:txBody>
          <a:bodyPr wrap="square" lIns="0" tIns="0" rIns="0" bIns="0" rtlCol="0" anchor="ctr"/>
          <a:lstStyle/>
          <a:p>
            <a:pPr marL="0" indent="0">
              <a:buNone/>
            </a:pPr>
            <a:r>
              <a:rPr lang="en-US" sz="3000" b="1" dirty="0">
                <a:solidFill>
                  <a:srgbClr val="0B4F5C"/>
                </a:solidFill>
                <a:latin typeface="Cambria" pitchFamily="34" charset="0"/>
                <a:ea typeface="Cambria" pitchFamily="34" charset="-122"/>
                <a:cs typeface="Cambria" pitchFamily="34" charset="-120"/>
              </a:rPr>
              <a:t>Recap</a:t>
            </a:r>
            <a:endParaRPr lang="en-US" sz="3000" dirty="0"/>
          </a:p>
        </p:txBody>
      </p:sp>
      <p:sp>
        <p:nvSpPr>
          <p:cNvPr id="5" name="Shape 2"/>
          <p:cNvSpPr/>
          <p:nvPr/>
        </p:nvSpPr>
        <p:spPr>
          <a:xfrm>
            <a:off x="548640" y="12801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6" name="Image 0" descr="icon"/>
          <p:cNvPicPr>
            <a:picLocks noChangeAspect="1"/>
          </p:cNvPicPr>
          <p:nvPr/>
        </p:nvPicPr>
        <p:blipFill>
          <a:blip r:embed="rId3"/>
          <a:stretch>
            <a:fillRect/>
          </a:stretch>
        </p:blipFill>
        <p:spPr>
          <a:xfrm>
            <a:off x="649224" y="1380744"/>
            <a:ext cx="256032" cy="256032"/>
          </a:xfrm>
          <a:prstGeom prst="rect">
            <a:avLst/>
          </a:prstGeom>
        </p:spPr>
      </p:pic>
      <p:sp>
        <p:nvSpPr>
          <p:cNvPr id="7" name="Text 3"/>
          <p:cNvSpPr/>
          <p:nvPr/>
        </p:nvSpPr>
        <p:spPr>
          <a:xfrm>
            <a:off x="1234440" y="12527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The AI starts fresh every call, so a prompt must be a complete note.</a:t>
            </a:r>
            <a:endParaRPr lang="en-US" sz="1800" dirty="0"/>
          </a:p>
        </p:txBody>
      </p:sp>
      <p:sp>
        <p:nvSpPr>
          <p:cNvPr id="8" name="Shape 4"/>
          <p:cNvSpPr/>
          <p:nvPr/>
        </p:nvSpPr>
        <p:spPr>
          <a:xfrm>
            <a:off x="548640" y="23469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9" name="Image 1" descr="icon"/>
          <p:cNvPicPr>
            <a:picLocks noChangeAspect="1"/>
          </p:cNvPicPr>
          <p:nvPr/>
        </p:nvPicPr>
        <p:blipFill>
          <a:blip r:embed="rId3"/>
          <a:stretch>
            <a:fillRect/>
          </a:stretch>
        </p:blipFill>
        <p:spPr>
          <a:xfrm>
            <a:off x="649224" y="2447544"/>
            <a:ext cx="256032" cy="256032"/>
          </a:xfrm>
          <a:prstGeom prst="rect">
            <a:avLst/>
          </a:prstGeom>
        </p:spPr>
      </p:pic>
      <p:sp>
        <p:nvSpPr>
          <p:cNvPr id="10" name="Text 5"/>
          <p:cNvSpPr/>
          <p:nvPr/>
        </p:nvSpPr>
        <p:spPr>
          <a:xfrm>
            <a:off x="1234440" y="23195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Use the five parts: role, task, data, rules, format. Add examples when the format is hard to describe.</a:t>
            </a:r>
            <a:endParaRPr lang="en-US" sz="1800" dirty="0"/>
          </a:p>
        </p:txBody>
      </p:sp>
      <p:sp>
        <p:nvSpPr>
          <p:cNvPr id="11" name="Shape 6"/>
          <p:cNvSpPr/>
          <p:nvPr/>
        </p:nvSpPr>
        <p:spPr>
          <a:xfrm>
            <a:off x="548640" y="3413760"/>
            <a:ext cx="457200" cy="457200"/>
          </a:xfrm>
          <a:prstGeom prst="ellipse">
            <a:avLst/>
          </a:prstGeom>
          <a:solidFill>
            <a:srgbClr val="0B7A75"/>
          </a:solidFill>
          <a:ln w="9525">
            <a:solidFill>
              <a:srgbClr val="0B7A75"/>
            </a:solidFill>
            <a:prstDash val="solid"/>
          </a:ln>
        </p:spPr>
        <p:txBody>
          <a:bodyPr/>
          <a:lstStyle/>
          <a:p>
            <a:endParaRPr lang="en-US"/>
          </a:p>
        </p:txBody>
      </p:sp>
      <p:pic>
        <p:nvPicPr>
          <p:cNvPr id="12" name="Image 2" descr="icon"/>
          <p:cNvPicPr>
            <a:picLocks noChangeAspect="1"/>
          </p:cNvPicPr>
          <p:nvPr/>
        </p:nvPicPr>
        <p:blipFill>
          <a:blip r:embed="rId3"/>
          <a:stretch>
            <a:fillRect/>
          </a:stretch>
        </p:blipFill>
        <p:spPr>
          <a:xfrm>
            <a:off x="649224" y="3514344"/>
            <a:ext cx="256032" cy="256032"/>
          </a:xfrm>
          <a:prstGeom prst="rect">
            <a:avLst/>
          </a:prstGeom>
        </p:spPr>
      </p:pic>
      <p:sp>
        <p:nvSpPr>
          <p:cNvPr id="13" name="Text 7"/>
          <p:cNvSpPr/>
          <p:nvPr/>
        </p:nvSpPr>
        <p:spPr>
          <a:xfrm>
            <a:off x="1234440" y="3386328"/>
            <a:ext cx="7406640" cy="1021080"/>
          </a:xfrm>
          <a:prstGeom prst="rect">
            <a:avLst/>
          </a:prstGeom>
          <a:noFill/>
          <a:ln/>
        </p:spPr>
        <p:txBody>
          <a:bodyPr wrap="square" lIns="0" tIns="0" rIns="0" bIns="0" rtlCol="0" anchor="t"/>
          <a:lstStyle/>
          <a:p>
            <a:pPr marL="0" indent="0">
              <a:buNone/>
            </a:pPr>
            <a:r>
              <a:rPr lang="en-US" sz="1800" dirty="0">
                <a:solidFill>
                  <a:srgbClr val="1B2B34"/>
                </a:solidFill>
                <a:latin typeface="Calibri" pitchFamily="34" charset="0"/>
                <a:ea typeface="Calibri" pitchFamily="34" charset="-122"/>
                <a:cs typeface="Calibri" pitchFamily="34" charset="-120"/>
              </a:rPr>
              <a:t>Test every prompt version on the same fixed set, change one thing at a time, and never mix examples into the test set.</a:t>
            </a:r>
            <a:endParaRPr lang="en-US" sz="18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73"/>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lIns="0" tIns="0" rIns="0" bIns="0" rtlCol="0" anchor="t"/>
          <a:lstStyle/>
          <a:p>
            <a:pPr marL="0" indent="0">
              <a:buNone/>
            </a:pPr>
            <a:r>
              <a:rPr lang="en-US" sz="1600" b="1" dirty="0">
                <a:solidFill>
                  <a:srgbClr val="F4B942"/>
                </a:solidFill>
                <a:latin typeface="Calibri" pitchFamily="34" charset="0"/>
                <a:ea typeface="Calibri" pitchFamily="34" charset="-122"/>
                <a:cs typeface="Calibri" pitchFamily="34" charset="-120"/>
              </a:rPr>
              <a:t>NEXT TIME</a:t>
            </a:r>
            <a:endParaRPr lang="en-US" sz="1600" dirty="0"/>
          </a:p>
        </p:txBody>
      </p:sp>
      <p:sp>
        <p:nvSpPr>
          <p:cNvPr id="3" name="Text 1"/>
          <p:cNvSpPr/>
          <p:nvPr/>
        </p:nvSpPr>
        <p:spPr>
          <a:xfrm>
            <a:off x="731520" y="1645920"/>
            <a:ext cx="7680960" cy="2377440"/>
          </a:xfrm>
          <a:prstGeom prst="rect">
            <a:avLst/>
          </a:prstGeom>
          <a:noFill/>
          <a:ln/>
        </p:spPr>
        <p:txBody>
          <a:bodyPr wrap="square" lIns="0" tIns="0" rIns="0" bIns="0" rtlCol="0" anchor="t"/>
          <a:lstStyle/>
          <a:p>
            <a:pPr marL="0" indent="0">
              <a:buNone/>
            </a:pPr>
            <a:r>
              <a:rPr lang="en-US" sz="2400" dirty="0">
                <a:solidFill>
                  <a:srgbClr val="FFFFFF"/>
                </a:solidFill>
                <a:latin typeface="Cambria" pitchFamily="34" charset="0"/>
                <a:ea typeface="Cambria" pitchFamily="34" charset="-122"/>
                <a:cs typeface="Cambria" pitchFamily="34" charset="-120"/>
              </a:rPr>
              <a:t>Lesson 4, Memory, context and tools: why a chat only seems to remember, and how an AI uses tools to act in the world.</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1991</Words>
  <Application>Microsoft Office PowerPoint</Application>
  <PresentationFormat>On-screen Show (16:9)</PresentationFormat>
  <Paragraphs>173</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 Prompt engineering: giving clear instructions</dc:title>
  <dc:subject>PptxGenJS Presentation</dc:subject>
  <dc:creator>Agentic AI Builder</dc:creator>
  <cp:lastModifiedBy>DEV DOMINIC</cp:lastModifiedBy>
  <cp:revision>2</cp:revision>
  <dcterms:created xsi:type="dcterms:W3CDTF">2026-10-28T23:53:07Z</dcterms:created>
  <dcterms:modified xsi:type="dcterms:W3CDTF">2026-10-28T23:57:36Z</dcterms:modified>
</cp:coreProperties>
</file>