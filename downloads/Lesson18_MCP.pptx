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4" d="100"/>
          <a:sy n="84" d="100"/>
        </p:scale>
        <p:origin x="780" y="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51805411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back. This is Lesson 18. It takes about 50 minutes. How agents connect to outside tools through one common standard, and how to do it safely. Remind students they can reread the notes on the course site afterwards.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this slowly in your own words, then ask: what is the one word that sticks out for you?</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goals aloud. Come back to them in the recap and ask who can now do each one.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Host: the AI application the person uses, such as an n8n agent or a chat app. Client: the part inside the host that speaks MCP and keeps one connection to each server. Server: a program that offers tools (and sometimes data) in the standard format. “Server” just means “the side that offers things”. It may run on your own computer.</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an AI Agent workflow from earlier. Under Tool, add the MCP Client Tool node. Set the endpoint (the server's web address) and the transport the server supports. Choose authentication if the server needs it. Use a credential, not text typed into the node. Choose which of the server's tools the agent may use. Start with only what you need. Ask the agent a question that needs the tool and open the execution to confirm it called it.</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19 explains the worst combination of risks, called the lethal trifecta.</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students time to work. Walk around, and look at what they have rather than waiting for questions.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each question aloud before showing options. Answers: 1. Model Context Protocol. It is a standard way for AI apps to talk to tools. 2. A standard plug that lets any charger fit any phone. Write a tool once, and any compatible agent can use it. 3. The AI application the person uses, such as an n8n agent. The host contains a client. The server offers the tools. 4. Streamable HTTP. SSE is deprecated. stdio is for local programs. 5. A server's tools can read or change things, so give only what is needed. Least privilege reduces what can go wrong.</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at each word as you say it. Ask students to explain two of them to the person beside them.</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students to say each point back to you in their own words.</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Tell students what to prepare, for example an account to create or something to install, so the next lesson starts smoothly.</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a:effectLst/>
      </p:bgPr>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B73"/>
                </a:solidFill>
              </a:defRPr>
            </a:lvl1pPr>
          </a:lstStyle>
          <a:p>
            <a:pPr algn="l"/>
            <a:fld id="{F7021451-1387-4CA6-816F-3879F97B5CBC}" type="slidenum">
              <a:rPr lang="en-US" b="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rgbClr val="0B4F5C"/>
        </a:solidFill>
        <a:effectLst/>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B73"/>
                </a:solidFill>
              </a:defRPr>
            </a:lvl1pPr>
          </a:lstStyle>
          <a:p>
            <a:pPr algn="l"/>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548640" y="914400"/>
            <a:ext cx="6035040" cy="320040"/>
          </a:xfrm>
          <a:prstGeom prst="rect">
            <a:avLst/>
          </a:prstGeom>
          <a:noFill/>
          <a:ln/>
        </p:spPr>
        <p:txBody>
          <a:bodyPr wrap="square" lIns="0" tIns="0" rIns="0" bIns="0" rtlCol="0" anchor="t"/>
          <a:lstStyle/>
          <a:p>
            <a:pPr marL="0" indent="0">
              <a:buNone/>
            </a:pPr>
            <a:r>
              <a:rPr lang="en-US" sz="1600" b="1" dirty="0">
                <a:solidFill>
                  <a:srgbClr val="F4B942"/>
                </a:solidFill>
                <a:latin typeface="Calibri" pitchFamily="34" charset="0"/>
                <a:ea typeface="Calibri" pitchFamily="34" charset="-122"/>
                <a:cs typeface="Calibri" pitchFamily="34" charset="-120"/>
              </a:rPr>
              <a:t>WEEK 4  ·  LESSON 18</a:t>
            </a:r>
            <a:endParaRPr lang="en-US" sz="1600" dirty="0"/>
          </a:p>
        </p:txBody>
      </p:sp>
      <p:sp>
        <p:nvSpPr>
          <p:cNvPr id="3" name="Text 1"/>
          <p:cNvSpPr/>
          <p:nvPr/>
        </p:nvSpPr>
        <p:spPr>
          <a:xfrm>
            <a:off x="548640" y="1371600"/>
            <a:ext cx="5943600" cy="1645920"/>
          </a:xfrm>
          <a:prstGeom prst="rect">
            <a:avLst/>
          </a:prstGeom>
          <a:noFill/>
          <a:ln/>
        </p:spPr>
        <p:txBody>
          <a:bodyPr wrap="square" lIns="0" tIns="0" rIns="0" bIns="0" rtlCol="0" anchor="t"/>
          <a:lstStyle/>
          <a:p>
            <a:pPr marL="0" indent="0">
              <a:buNone/>
            </a:pPr>
            <a:r>
              <a:rPr lang="en-US" sz="3800" b="1" dirty="0">
                <a:solidFill>
                  <a:srgbClr val="FFFFFF"/>
                </a:solidFill>
                <a:latin typeface="Cambria" pitchFamily="34" charset="0"/>
                <a:ea typeface="Cambria" pitchFamily="34" charset="-122"/>
                <a:cs typeface="Cambria" pitchFamily="34" charset="-120"/>
              </a:rPr>
              <a:t>MCP: a standard plug for tools</a:t>
            </a:r>
            <a:endParaRPr lang="en-US" sz="3800" dirty="0"/>
          </a:p>
        </p:txBody>
      </p:sp>
      <p:sp>
        <p:nvSpPr>
          <p:cNvPr id="4" name="Text 2"/>
          <p:cNvSpPr/>
          <p:nvPr/>
        </p:nvSpPr>
        <p:spPr>
          <a:xfrm>
            <a:off x="548640" y="3154680"/>
            <a:ext cx="5943600" cy="822960"/>
          </a:xfrm>
          <a:prstGeom prst="rect">
            <a:avLst/>
          </a:prstGeom>
          <a:noFill/>
          <a:ln/>
        </p:spPr>
        <p:txBody>
          <a:bodyPr wrap="square" lIns="0" tIns="0" rIns="0" bIns="0" rtlCol="0" anchor="t"/>
          <a:lstStyle/>
          <a:p>
            <a:pPr marL="0" indent="0">
              <a:buNone/>
            </a:pPr>
            <a:r>
              <a:rPr lang="en-US" sz="1800" dirty="0">
                <a:solidFill>
                  <a:srgbClr val="E8F3F2"/>
                </a:solidFill>
                <a:latin typeface="Calibri" pitchFamily="34" charset="0"/>
                <a:ea typeface="Calibri" pitchFamily="34" charset="-122"/>
                <a:cs typeface="Calibri" pitchFamily="34" charset="-120"/>
              </a:rPr>
              <a:t>How agents connect to outside tools through one common standard, and how to do it safely.</a:t>
            </a:r>
            <a:endParaRPr lang="en-US" sz="1800" dirty="0"/>
          </a:p>
        </p:txBody>
      </p:sp>
      <p:sp>
        <p:nvSpPr>
          <p:cNvPr id="5" name="Text 3"/>
          <p:cNvSpPr/>
          <p:nvPr/>
        </p:nvSpPr>
        <p:spPr>
          <a:xfrm>
            <a:off x="548640" y="4343400"/>
            <a:ext cx="5943600" cy="320040"/>
          </a:xfrm>
          <a:prstGeom prst="rect">
            <a:avLst/>
          </a:prstGeom>
          <a:noFill/>
          <a:ln/>
        </p:spPr>
        <p:txBody>
          <a:bodyPr wrap="square" lIns="0" tIns="0" rIns="0" bIns="0" rtlCol="0" anchor="t"/>
          <a:lstStyle/>
          <a:p>
            <a:pPr marL="0" indent="0">
              <a:buNone/>
            </a:pPr>
            <a:r>
              <a:rPr lang="en-US" sz="1400" dirty="0">
                <a:solidFill>
                  <a:srgbClr val="E8F3F2"/>
                </a:solidFill>
                <a:latin typeface="Calibri" pitchFamily="34" charset="0"/>
                <a:ea typeface="Calibri" pitchFamily="34" charset="-122"/>
                <a:cs typeface="Calibri" pitchFamily="34" charset="-120"/>
              </a:rPr>
              <a:t>Agentic </a:t>
            </a:r>
            <a:r>
              <a:rPr lang="en-US" sz="1400">
                <a:solidFill>
                  <a:srgbClr val="E8F3F2"/>
                </a:solidFill>
                <a:latin typeface="Calibri" pitchFamily="34" charset="0"/>
                <a:ea typeface="Calibri" pitchFamily="34" charset="-122"/>
                <a:cs typeface="Calibri" pitchFamily="34" charset="-120"/>
              </a:rPr>
              <a:t>AI Builder</a:t>
            </a:r>
            <a:endParaRPr lang="en-US" sz="1400" dirty="0"/>
          </a:p>
        </p:txBody>
      </p:sp>
      <p:sp>
        <p:nvSpPr>
          <p:cNvPr id="6" name="Shape 4"/>
          <p:cNvSpPr/>
          <p:nvPr/>
        </p:nvSpPr>
        <p:spPr>
          <a:xfrm>
            <a:off x="6858000" y="1463040"/>
            <a:ext cx="1737360" cy="1737360"/>
          </a:xfrm>
          <a:prstGeom prst="ellipse">
            <a:avLst/>
          </a:prstGeom>
          <a:solidFill>
            <a:srgbClr val="0B7A75"/>
          </a:solidFill>
          <a:ln w="9525">
            <a:solidFill>
              <a:srgbClr val="0B7A75"/>
            </a:solidFill>
            <a:prstDash val="solid"/>
          </a:ln>
        </p:spPr>
        <p:txBody>
          <a:bodyPr/>
          <a:lstStyle/>
          <a:p>
            <a:endParaRPr lang="en-US"/>
          </a:p>
        </p:txBody>
      </p:sp>
      <p:pic>
        <p:nvPicPr>
          <p:cNvPr id="7" name="Image 0" descr="Robot icon"/>
          <p:cNvPicPr>
            <a:picLocks noChangeAspect="1"/>
          </p:cNvPicPr>
          <p:nvPr/>
        </p:nvPicPr>
        <p:blipFill>
          <a:blip r:embed="rId3"/>
          <a:stretch>
            <a:fillRect/>
          </a:stretch>
        </p:blipFill>
        <p:spPr>
          <a:xfrm>
            <a:off x="7242048" y="1847088"/>
            <a:ext cx="969264" cy="969264"/>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731520" y="731520"/>
            <a:ext cx="7315200" cy="365760"/>
          </a:xfrm>
          <a:prstGeom prst="rect">
            <a:avLst/>
          </a:prstGeom>
          <a:noFill/>
          <a:ln/>
        </p:spPr>
        <p:txBody>
          <a:bodyPr wrap="square" lIns="0" tIns="0" rIns="0" bIns="0" rtlCol="0" anchor="t"/>
          <a:lstStyle/>
          <a:p>
            <a:pPr marL="0" indent="0">
              <a:buNone/>
            </a:pPr>
            <a:r>
              <a:rPr lang="en-US" sz="1600" b="1" dirty="0">
                <a:solidFill>
                  <a:srgbClr val="F4B942"/>
                </a:solidFill>
                <a:latin typeface="Calibri" pitchFamily="34" charset="0"/>
                <a:ea typeface="Calibri" pitchFamily="34" charset="-122"/>
                <a:cs typeface="Calibri" pitchFamily="34" charset="-120"/>
              </a:rPr>
              <a:t>THE BIG IDEA</a:t>
            </a:r>
            <a:endParaRPr lang="en-US" sz="1600" dirty="0"/>
          </a:p>
        </p:txBody>
      </p:sp>
      <p:sp>
        <p:nvSpPr>
          <p:cNvPr id="3" name="Text 1"/>
          <p:cNvSpPr/>
          <p:nvPr/>
        </p:nvSpPr>
        <p:spPr>
          <a:xfrm>
            <a:off x="731520" y="1280160"/>
            <a:ext cx="7680960" cy="3017520"/>
          </a:xfrm>
          <a:prstGeom prst="rect">
            <a:avLst/>
          </a:prstGeom>
          <a:noFill/>
          <a:ln/>
        </p:spPr>
        <p:txBody>
          <a:bodyPr wrap="square" lIns="0" tIns="0" rIns="0" bIns="0" rtlCol="0" anchor="ctr"/>
          <a:lstStyle/>
          <a:p>
            <a:pPr marL="0" indent="0">
              <a:buNone/>
            </a:pPr>
            <a:r>
              <a:rPr lang="en-US" sz="2600" dirty="0">
                <a:solidFill>
                  <a:srgbClr val="FFFFFF"/>
                </a:solidFill>
                <a:latin typeface="Cambria" pitchFamily="34" charset="0"/>
                <a:ea typeface="Cambria" pitchFamily="34" charset="-122"/>
                <a:cs typeface="Cambria" pitchFamily="34" charset="-120"/>
              </a:rPr>
              <a:t>MCP (Model Context Protocol) is a standard plug. Any AI app that speaks MCP can use any tool that speaks MCP, without custom wiring for each pair.</a:t>
            </a:r>
            <a:endParaRPr lang="en-US" sz="2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B7A75"/>
          </a:solidFill>
          <a:ln w="12700">
            <a:solidFill>
              <a:srgbClr val="0B7A75"/>
            </a:solidFill>
            <a:prstDash val="solid"/>
          </a:ln>
        </p:spPr>
        <p:txBody>
          <a:bodyPr/>
          <a:lstStyle/>
          <a:p>
            <a:endParaRPr lang="en-US"/>
          </a:p>
        </p:txBody>
      </p:sp>
      <p:sp>
        <p:nvSpPr>
          <p:cNvPr id="3" name="Text 1"/>
          <p:cNvSpPr/>
          <p:nvPr/>
        </p:nvSpPr>
        <p:spPr>
          <a:xfrm>
            <a:off x="502920" y="320040"/>
            <a:ext cx="8138160" cy="731520"/>
          </a:xfrm>
          <a:prstGeom prst="rect">
            <a:avLst/>
          </a:prstGeom>
          <a:noFill/>
          <a:ln/>
        </p:spPr>
        <p:txBody>
          <a:bodyPr wrap="square" lIns="0" tIns="0" rIns="0" bIns="0" rtlCol="0" anchor="ctr"/>
          <a:lstStyle/>
          <a:p>
            <a:pPr marL="0" indent="0">
              <a:buNone/>
            </a:pPr>
            <a:r>
              <a:rPr lang="en-US" sz="3000" b="1" dirty="0">
                <a:solidFill>
                  <a:srgbClr val="0B4F5C"/>
                </a:solidFill>
                <a:latin typeface="Cambria" pitchFamily="34" charset="0"/>
                <a:ea typeface="Cambria" pitchFamily="34" charset="-122"/>
                <a:cs typeface="Cambria" pitchFamily="34" charset="-120"/>
              </a:rPr>
              <a:t>By the end you can…</a:t>
            </a:r>
            <a:endParaRPr lang="en-US" sz="3000" dirty="0"/>
          </a:p>
        </p:txBody>
      </p:sp>
      <p:sp>
        <p:nvSpPr>
          <p:cNvPr id="5" name="Shape 2"/>
          <p:cNvSpPr/>
          <p:nvPr/>
        </p:nvSpPr>
        <p:spPr>
          <a:xfrm>
            <a:off x="502920" y="1371600"/>
            <a:ext cx="1863090" cy="2743200"/>
          </a:xfrm>
          <a:prstGeom prst="roundRect">
            <a:avLst>
              <a:gd name="adj" fmla="val 5890"/>
            </a:avLst>
          </a:prstGeom>
          <a:solidFill>
            <a:srgbClr val="E8F3F2"/>
          </a:solidFill>
          <a:ln w="9525">
            <a:solidFill>
              <a:srgbClr val="E8F3F2"/>
            </a:solidFill>
            <a:prstDash val="solid"/>
          </a:ln>
        </p:spPr>
        <p:txBody>
          <a:bodyPr/>
          <a:lstStyle/>
          <a:p>
            <a:endParaRPr lang="en-US"/>
          </a:p>
        </p:txBody>
      </p:sp>
      <p:sp>
        <p:nvSpPr>
          <p:cNvPr id="6" name="Shape 3"/>
          <p:cNvSpPr/>
          <p:nvPr/>
        </p:nvSpPr>
        <p:spPr>
          <a:xfrm>
            <a:off x="731520" y="1600200"/>
            <a:ext cx="640080" cy="640080"/>
          </a:xfrm>
          <a:prstGeom prst="ellipse">
            <a:avLst/>
          </a:prstGeom>
          <a:solidFill>
            <a:srgbClr val="0B7A75"/>
          </a:solidFill>
          <a:ln w="9525">
            <a:solidFill>
              <a:srgbClr val="0B7A75"/>
            </a:solidFill>
            <a:prstDash val="solid"/>
          </a:ln>
        </p:spPr>
        <p:txBody>
          <a:bodyPr/>
          <a:lstStyle/>
          <a:p>
            <a:endParaRPr lang="en-US"/>
          </a:p>
        </p:txBody>
      </p:sp>
      <p:pic>
        <p:nvPicPr>
          <p:cNvPr id="7" name="Image 0" descr="icon"/>
          <p:cNvPicPr>
            <a:picLocks noChangeAspect="1"/>
          </p:cNvPicPr>
          <p:nvPr/>
        </p:nvPicPr>
        <p:blipFill>
          <a:blip r:embed="rId3"/>
          <a:stretch>
            <a:fillRect/>
          </a:stretch>
        </p:blipFill>
        <p:spPr>
          <a:xfrm>
            <a:off x="872338" y="1741018"/>
            <a:ext cx="358445" cy="358445"/>
          </a:xfrm>
          <a:prstGeom prst="rect">
            <a:avLst/>
          </a:prstGeom>
        </p:spPr>
      </p:pic>
      <p:sp>
        <p:nvSpPr>
          <p:cNvPr id="8" name="Text 4"/>
          <p:cNvSpPr/>
          <p:nvPr/>
        </p:nvSpPr>
        <p:spPr>
          <a:xfrm>
            <a:off x="731520" y="2423160"/>
            <a:ext cx="1405890" cy="1554480"/>
          </a:xfrm>
          <a:prstGeom prst="rect">
            <a:avLst/>
          </a:prstGeom>
          <a:noFill/>
          <a:ln/>
        </p:spPr>
        <p:txBody>
          <a:bodyPr wrap="square" lIns="0" tIns="0" rIns="0" bIns="0" rtlCol="0" anchor="t"/>
          <a:lstStyle/>
          <a:p>
            <a:pPr marL="0" indent="0">
              <a:buNone/>
            </a:pPr>
            <a:r>
              <a:rPr lang="en-US" sz="1500" dirty="0">
                <a:solidFill>
                  <a:srgbClr val="1B2B34"/>
                </a:solidFill>
                <a:latin typeface="Calibri" pitchFamily="34" charset="0"/>
                <a:ea typeface="Calibri" pitchFamily="34" charset="-122"/>
                <a:cs typeface="Calibri" pitchFamily="34" charset="-120"/>
              </a:rPr>
              <a:t>Explain MCP and the roles of host, client and server.</a:t>
            </a:r>
            <a:endParaRPr lang="en-US" sz="1500" dirty="0"/>
          </a:p>
        </p:txBody>
      </p:sp>
      <p:sp>
        <p:nvSpPr>
          <p:cNvPr id="9" name="Shape 5"/>
          <p:cNvSpPr/>
          <p:nvPr/>
        </p:nvSpPr>
        <p:spPr>
          <a:xfrm>
            <a:off x="2594610" y="1371600"/>
            <a:ext cx="1863090" cy="2743200"/>
          </a:xfrm>
          <a:prstGeom prst="roundRect">
            <a:avLst>
              <a:gd name="adj" fmla="val 5890"/>
            </a:avLst>
          </a:prstGeom>
          <a:solidFill>
            <a:srgbClr val="E8F3F2"/>
          </a:solidFill>
          <a:ln w="9525">
            <a:solidFill>
              <a:srgbClr val="E8F3F2"/>
            </a:solidFill>
            <a:prstDash val="solid"/>
          </a:ln>
        </p:spPr>
        <p:txBody>
          <a:bodyPr/>
          <a:lstStyle/>
          <a:p>
            <a:endParaRPr lang="en-US"/>
          </a:p>
        </p:txBody>
      </p:sp>
      <p:sp>
        <p:nvSpPr>
          <p:cNvPr id="10" name="Shape 6"/>
          <p:cNvSpPr/>
          <p:nvPr/>
        </p:nvSpPr>
        <p:spPr>
          <a:xfrm>
            <a:off x="2823210" y="1600200"/>
            <a:ext cx="640080" cy="640080"/>
          </a:xfrm>
          <a:prstGeom prst="ellipse">
            <a:avLst/>
          </a:prstGeom>
          <a:solidFill>
            <a:srgbClr val="0B7A75"/>
          </a:solidFill>
          <a:ln w="9525">
            <a:solidFill>
              <a:srgbClr val="0B7A75"/>
            </a:solidFill>
            <a:prstDash val="solid"/>
          </a:ln>
        </p:spPr>
        <p:txBody>
          <a:bodyPr/>
          <a:lstStyle/>
          <a:p>
            <a:endParaRPr lang="en-US"/>
          </a:p>
        </p:txBody>
      </p:sp>
      <p:pic>
        <p:nvPicPr>
          <p:cNvPr id="11" name="Image 1" descr="icon"/>
          <p:cNvPicPr>
            <a:picLocks noChangeAspect="1"/>
          </p:cNvPicPr>
          <p:nvPr/>
        </p:nvPicPr>
        <p:blipFill>
          <a:blip r:embed="rId3"/>
          <a:stretch>
            <a:fillRect/>
          </a:stretch>
        </p:blipFill>
        <p:spPr>
          <a:xfrm>
            <a:off x="2964028" y="1741018"/>
            <a:ext cx="358445" cy="358445"/>
          </a:xfrm>
          <a:prstGeom prst="rect">
            <a:avLst/>
          </a:prstGeom>
        </p:spPr>
      </p:pic>
      <p:sp>
        <p:nvSpPr>
          <p:cNvPr id="12" name="Text 7"/>
          <p:cNvSpPr/>
          <p:nvPr/>
        </p:nvSpPr>
        <p:spPr>
          <a:xfrm>
            <a:off x="2823210" y="2423160"/>
            <a:ext cx="1405890" cy="1554480"/>
          </a:xfrm>
          <a:prstGeom prst="rect">
            <a:avLst/>
          </a:prstGeom>
          <a:noFill/>
          <a:ln/>
        </p:spPr>
        <p:txBody>
          <a:bodyPr wrap="square" lIns="0" tIns="0" rIns="0" bIns="0" rtlCol="0" anchor="t"/>
          <a:lstStyle/>
          <a:p>
            <a:pPr marL="0" indent="0">
              <a:buNone/>
            </a:pPr>
            <a:r>
              <a:rPr lang="en-US" sz="1500" dirty="0">
                <a:solidFill>
                  <a:srgbClr val="1B2B34"/>
                </a:solidFill>
                <a:latin typeface="Calibri" pitchFamily="34" charset="0"/>
                <a:ea typeface="Calibri" pitchFamily="34" charset="-122"/>
                <a:cs typeface="Calibri" pitchFamily="34" charset="-120"/>
              </a:rPr>
              <a:t>Choose between the ways MCP connects.</a:t>
            </a:r>
            <a:endParaRPr lang="en-US" sz="1500" dirty="0"/>
          </a:p>
        </p:txBody>
      </p:sp>
      <p:sp>
        <p:nvSpPr>
          <p:cNvPr id="13" name="Shape 8"/>
          <p:cNvSpPr/>
          <p:nvPr/>
        </p:nvSpPr>
        <p:spPr>
          <a:xfrm>
            <a:off x="4686300" y="1371600"/>
            <a:ext cx="1863090" cy="2743200"/>
          </a:xfrm>
          <a:prstGeom prst="roundRect">
            <a:avLst>
              <a:gd name="adj" fmla="val 5890"/>
            </a:avLst>
          </a:prstGeom>
          <a:solidFill>
            <a:srgbClr val="E8F3F2"/>
          </a:solidFill>
          <a:ln w="9525">
            <a:solidFill>
              <a:srgbClr val="E8F3F2"/>
            </a:solidFill>
            <a:prstDash val="solid"/>
          </a:ln>
        </p:spPr>
        <p:txBody>
          <a:bodyPr/>
          <a:lstStyle/>
          <a:p>
            <a:endParaRPr lang="en-US"/>
          </a:p>
        </p:txBody>
      </p:sp>
      <p:sp>
        <p:nvSpPr>
          <p:cNvPr id="14" name="Shape 9"/>
          <p:cNvSpPr/>
          <p:nvPr/>
        </p:nvSpPr>
        <p:spPr>
          <a:xfrm>
            <a:off x="4914900" y="1600200"/>
            <a:ext cx="640080" cy="640080"/>
          </a:xfrm>
          <a:prstGeom prst="ellipse">
            <a:avLst/>
          </a:prstGeom>
          <a:solidFill>
            <a:srgbClr val="0B7A75"/>
          </a:solidFill>
          <a:ln w="9525">
            <a:solidFill>
              <a:srgbClr val="0B7A75"/>
            </a:solidFill>
            <a:prstDash val="solid"/>
          </a:ln>
        </p:spPr>
        <p:txBody>
          <a:bodyPr/>
          <a:lstStyle/>
          <a:p>
            <a:endParaRPr lang="en-US"/>
          </a:p>
        </p:txBody>
      </p:sp>
      <p:pic>
        <p:nvPicPr>
          <p:cNvPr id="15" name="Image 2" descr="icon"/>
          <p:cNvPicPr>
            <a:picLocks noChangeAspect="1"/>
          </p:cNvPicPr>
          <p:nvPr/>
        </p:nvPicPr>
        <p:blipFill>
          <a:blip r:embed="rId3"/>
          <a:stretch>
            <a:fillRect/>
          </a:stretch>
        </p:blipFill>
        <p:spPr>
          <a:xfrm>
            <a:off x="5055718" y="1741018"/>
            <a:ext cx="358445" cy="358445"/>
          </a:xfrm>
          <a:prstGeom prst="rect">
            <a:avLst/>
          </a:prstGeom>
        </p:spPr>
      </p:pic>
      <p:sp>
        <p:nvSpPr>
          <p:cNvPr id="16" name="Text 10"/>
          <p:cNvSpPr/>
          <p:nvPr/>
        </p:nvSpPr>
        <p:spPr>
          <a:xfrm>
            <a:off x="4914900" y="2423160"/>
            <a:ext cx="1405890" cy="1554480"/>
          </a:xfrm>
          <a:prstGeom prst="rect">
            <a:avLst/>
          </a:prstGeom>
          <a:noFill/>
          <a:ln/>
        </p:spPr>
        <p:txBody>
          <a:bodyPr wrap="square" lIns="0" tIns="0" rIns="0" bIns="0" rtlCol="0" anchor="t"/>
          <a:lstStyle/>
          <a:p>
            <a:pPr marL="0" indent="0">
              <a:buNone/>
            </a:pPr>
            <a:r>
              <a:rPr lang="en-US" sz="1500" dirty="0">
                <a:solidFill>
                  <a:srgbClr val="1B2B34"/>
                </a:solidFill>
                <a:latin typeface="Calibri" pitchFamily="34" charset="0"/>
                <a:ea typeface="Calibri" pitchFamily="34" charset="-122"/>
                <a:cs typeface="Calibri" pitchFamily="34" charset="-120"/>
              </a:rPr>
              <a:t>Connect an MCP server to an n8n agent, or expose your own workflows as an MCP server.</a:t>
            </a:r>
            <a:endParaRPr lang="en-US" sz="1500" dirty="0"/>
          </a:p>
        </p:txBody>
      </p:sp>
      <p:sp>
        <p:nvSpPr>
          <p:cNvPr id="17" name="Shape 11"/>
          <p:cNvSpPr/>
          <p:nvPr/>
        </p:nvSpPr>
        <p:spPr>
          <a:xfrm>
            <a:off x="6777990" y="1371600"/>
            <a:ext cx="1863090" cy="2743200"/>
          </a:xfrm>
          <a:prstGeom prst="roundRect">
            <a:avLst>
              <a:gd name="adj" fmla="val 5890"/>
            </a:avLst>
          </a:prstGeom>
          <a:solidFill>
            <a:srgbClr val="E8F3F2"/>
          </a:solidFill>
          <a:ln w="9525">
            <a:solidFill>
              <a:srgbClr val="E8F3F2"/>
            </a:solidFill>
            <a:prstDash val="solid"/>
          </a:ln>
        </p:spPr>
        <p:txBody>
          <a:bodyPr/>
          <a:lstStyle/>
          <a:p>
            <a:endParaRPr lang="en-US"/>
          </a:p>
        </p:txBody>
      </p:sp>
      <p:sp>
        <p:nvSpPr>
          <p:cNvPr id="18" name="Shape 12"/>
          <p:cNvSpPr/>
          <p:nvPr/>
        </p:nvSpPr>
        <p:spPr>
          <a:xfrm>
            <a:off x="7006590" y="1600200"/>
            <a:ext cx="640080" cy="640080"/>
          </a:xfrm>
          <a:prstGeom prst="ellipse">
            <a:avLst/>
          </a:prstGeom>
          <a:solidFill>
            <a:srgbClr val="0B7A75"/>
          </a:solidFill>
          <a:ln w="9525">
            <a:solidFill>
              <a:srgbClr val="0B7A75"/>
            </a:solidFill>
            <a:prstDash val="solid"/>
          </a:ln>
        </p:spPr>
        <p:txBody>
          <a:bodyPr/>
          <a:lstStyle/>
          <a:p>
            <a:endParaRPr lang="en-US"/>
          </a:p>
        </p:txBody>
      </p:sp>
      <p:pic>
        <p:nvPicPr>
          <p:cNvPr id="19" name="Image 3" descr="icon"/>
          <p:cNvPicPr>
            <a:picLocks noChangeAspect="1"/>
          </p:cNvPicPr>
          <p:nvPr/>
        </p:nvPicPr>
        <p:blipFill>
          <a:blip r:embed="rId3"/>
          <a:stretch>
            <a:fillRect/>
          </a:stretch>
        </p:blipFill>
        <p:spPr>
          <a:xfrm>
            <a:off x="7147408" y="1741018"/>
            <a:ext cx="358445" cy="358445"/>
          </a:xfrm>
          <a:prstGeom prst="rect">
            <a:avLst/>
          </a:prstGeom>
        </p:spPr>
      </p:pic>
      <p:sp>
        <p:nvSpPr>
          <p:cNvPr id="20" name="Text 13"/>
          <p:cNvSpPr/>
          <p:nvPr/>
        </p:nvSpPr>
        <p:spPr>
          <a:xfrm>
            <a:off x="7006590" y="2423160"/>
            <a:ext cx="1405890" cy="1554480"/>
          </a:xfrm>
          <a:prstGeom prst="rect">
            <a:avLst/>
          </a:prstGeom>
          <a:noFill/>
          <a:ln/>
        </p:spPr>
        <p:txBody>
          <a:bodyPr wrap="square" lIns="0" tIns="0" rIns="0" bIns="0" rtlCol="0" anchor="t"/>
          <a:lstStyle/>
          <a:p>
            <a:pPr marL="0" indent="0">
              <a:buNone/>
            </a:pPr>
            <a:r>
              <a:rPr lang="en-US" sz="1500" dirty="0">
                <a:solidFill>
                  <a:srgbClr val="1B2B34"/>
                </a:solidFill>
                <a:latin typeface="Calibri" pitchFamily="34" charset="0"/>
                <a:ea typeface="Calibri" pitchFamily="34" charset="-122"/>
                <a:cs typeface="Calibri" pitchFamily="34" charset="-120"/>
              </a:rPr>
              <a:t>Judge whether an MCP server is safe to trust.</a:t>
            </a:r>
            <a:endParaRPr lang="en-US" sz="15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B73"/>
                </a:solidFill>
              </a:defRPr>
            </a:lvl1pPr>
          </a:lstStyle>
          <a:p>
            <a:pPr algn="l"/>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B7A75"/>
          </a:solidFill>
          <a:ln w="12700">
            <a:solidFill>
              <a:srgbClr val="0B7A75"/>
            </a:solidFill>
            <a:prstDash val="solid"/>
          </a:ln>
        </p:spPr>
        <p:txBody>
          <a:bodyPr/>
          <a:lstStyle/>
          <a:p>
            <a:endParaRPr lang="en-US"/>
          </a:p>
        </p:txBody>
      </p:sp>
      <p:sp>
        <p:nvSpPr>
          <p:cNvPr id="3" name="Text 1"/>
          <p:cNvSpPr/>
          <p:nvPr/>
        </p:nvSpPr>
        <p:spPr>
          <a:xfrm>
            <a:off x="502920" y="320040"/>
            <a:ext cx="8138160" cy="731520"/>
          </a:xfrm>
          <a:prstGeom prst="rect">
            <a:avLst/>
          </a:prstGeom>
          <a:noFill/>
          <a:ln/>
        </p:spPr>
        <p:txBody>
          <a:bodyPr wrap="square" lIns="0" tIns="0" rIns="0" bIns="0" rtlCol="0" anchor="ctr"/>
          <a:lstStyle/>
          <a:p>
            <a:pPr marL="0" indent="0">
              <a:buNone/>
            </a:pPr>
            <a:r>
              <a:rPr lang="en-US" sz="3000" b="1" dirty="0">
                <a:solidFill>
                  <a:srgbClr val="0B4F5C"/>
                </a:solidFill>
                <a:latin typeface="Cambria" pitchFamily="34" charset="0"/>
                <a:ea typeface="Cambria" pitchFamily="34" charset="-122"/>
                <a:cs typeface="Cambria" pitchFamily="34" charset="-120"/>
              </a:rPr>
              <a:t>Think of it like this</a:t>
            </a:r>
            <a:endParaRPr lang="en-US" sz="3000" dirty="0"/>
          </a:p>
        </p:txBody>
      </p:sp>
      <p:sp>
        <p:nvSpPr>
          <p:cNvPr id="4" name="Shape 2"/>
          <p:cNvSpPr/>
          <p:nvPr/>
        </p:nvSpPr>
        <p:spPr>
          <a:xfrm>
            <a:off x="502920" y="1280160"/>
            <a:ext cx="8138160" cy="3108960"/>
          </a:xfrm>
          <a:prstGeom prst="roundRect">
            <a:avLst>
              <a:gd name="adj" fmla="val 3529"/>
            </a:avLst>
          </a:prstGeom>
          <a:solidFill>
            <a:srgbClr val="E8F3F2"/>
          </a:solidFill>
          <a:ln w="9525">
            <a:solidFill>
              <a:srgbClr val="E8F3F2"/>
            </a:solidFill>
            <a:prstDash val="solid"/>
          </a:ln>
        </p:spPr>
        <p:txBody>
          <a:bodyPr/>
          <a:lstStyle/>
          <a:p>
            <a:endParaRPr lang="en-US"/>
          </a:p>
        </p:txBody>
      </p:sp>
      <p:sp>
        <p:nvSpPr>
          <p:cNvPr id="5" name="Shape 3"/>
          <p:cNvSpPr/>
          <p:nvPr/>
        </p:nvSpPr>
        <p:spPr>
          <a:xfrm>
            <a:off x="777240" y="1554480"/>
            <a:ext cx="731520" cy="731520"/>
          </a:xfrm>
          <a:prstGeom prst="ellipse">
            <a:avLst/>
          </a:prstGeom>
          <a:solidFill>
            <a:srgbClr val="F4B942"/>
          </a:solidFill>
          <a:ln w="9525">
            <a:solidFill>
              <a:srgbClr val="F4B942"/>
            </a:solidFill>
            <a:prstDash val="solid"/>
          </a:ln>
        </p:spPr>
        <p:txBody>
          <a:bodyPr/>
          <a:lstStyle/>
          <a:p>
            <a:endParaRPr lang="en-US"/>
          </a:p>
        </p:txBody>
      </p:sp>
      <p:pic>
        <p:nvPicPr>
          <p:cNvPr id="6" name="Image 0" descr="icon"/>
          <p:cNvPicPr>
            <a:picLocks noChangeAspect="1"/>
          </p:cNvPicPr>
          <p:nvPr/>
        </p:nvPicPr>
        <p:blipFill>
          <a:blip r:embed="rId3"/>
          <a:stretch>
            <a:fillRect/>
          </a:stretch>
        </p:blipFill>
        <p:spPr>
          <a:xfrm>
            <a:off x="938174" y="1715414"/>
            <a:ext cx="409651" cy="409651"/>
          </a:xfrm>
          <a:prstGeom prst="rect">
            <a:avLst/>
          </a:prstGeom>
        </p:spPr>
      </p:pic>
      <p:sp>
        <p:nvSpPr>
          <p:cNvPr id="7" name="Text 4"/>
          <p:cNvSpPr/>
          <p:nvPr/>
        </p:nvSpPr>
        <p:spPr>
          <a:xfrm>
            <a:off x="1737360" y="1600200"/>
            <a:ext cx="6583680" cy="640080"/>
          </a:xfrm>
          <a:prstGeom prst="rect">
            <a:avLst/>
          </a:prstGeom>
          <a:noFill/>
          <a:ln/>
        </p:spPr>
        <p:txBody>
          <a:bodyPr wrap="square" lIns="0" tIns="0" rIns="0" bIns="0" rtlCol="0" anchor="ctr"/>
          <a:lstStyle/>
          <a:p>
            <a:pPr marL="0" indent="0">
              <a:buNone/>
            </a:pPr>
            <a:r>
              <a:rPr lang="en-US" sz="2200" b="1" dirty="0">
                <a:solidFill>
                  <a:srgbClr val="0B4F5C"/>
                </a:solidFill>
                <a:latin typeface="Cambria" pitchFamily="34" charset="0"/>
                <a:ea typeface="Cambria" pitchFamily="34" charset="-122"/>
                <a:cs typeface="Cambria" pitchFamily="34" charset="-120"/>
              </a:rPr>
              <a:t>The phone charger</a:t>
            </a:r>
            <a:endParaRPr lang="en-US" sz="2200" dirty="0"/>
          </a:p>
        </p:txBody>
      </p:sp>
      <p:sp>
        <p:nvSpPr>
          <p:cNvPr id="8" name="Text 5"/>
          <p:cNvSpPr/>
          <p:nvPr/>
        </p:nvSpPr>
        <p:spPr>
          <a:xfrm>
            <a:off x="868680" y="2514600"/>
            <a:ext cx="7406640" cy="1737360"/>
          </a:xfrm>
          <a:prstGeom prst="rect">
            <a:avLst/>
          </a:prstGeom>
          <a:noFill/>
          <a:ln/>
        </p:spPr>
        <p:txBody>
          <a:bodyPr wrap="square" lIns="0" tIns="0" rIns="0" bIns="0" rtlCol="0" anchor="t"/>
          <a:lstStyle/>
          <a:p>
            <a:pPr marL="0" indent="0">
              <a:buNone/>
            </a:pPr>
            <a:r>
              <a:rPr lang="en-US" sz="1800" dirty="0">
                <a:solidFill>
                  <a:srgbClr val="1B2B34"/>
                </a:solidFill>
                <a:latin typeface="Calibri" pitchFamily="34" charset="0"/>
                <a:ea typeface="Calibri" pitchFamily="34" charset="-122"/>
                <a:cs typeface="Calibri" pitchFamily="34" charset="-120"/>
              </a:rPr>
              <a:t>Before USB-C, every phone had its own charger. You needed a drawer full of them. With one standard plug, any charger fits any phone. MCP is that standard plug for AI tools: write a tool once, and any compatible agent can use it.</a:t>
            </a:r>
            <a:endParaRPr lang="en-US" sz="18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B73"/>
                </a:solidFill>
              </a:defRPr>
            </a:lvl1pPr>
          </a:lstStyle>
          <a:p>
            <a:pPr algn="l"/>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B7A75"/>
          </a:solidFill>
          <a:ln w="12700">
            <a:solidFill>
              <a:srgbClr val="0B7A75"/>
            </a:solidFill>
            <a:prstDash val="solid"/>
          </a:ln>
        </p:spPr>
        <p:txBody>
          <a:bodyPr/>
          <a:lstStyle/>
          <a:p>
            <a:endParaRPr lang="en-US"/>
          </a:p>
        </p:txBody>
      </p:sp>
      <p:sp>
        <p:nvSpPr>
          <p:cNvPr id="3" name="Text 1"/>
          <p:cNvSpPr/>
          <p:nvPr/>
        </p:nvSpPr>
        <p:spPr>
          <a:xfrm>
            <a:off x="502920" y="320040"/>
            <a:ext cx="8138160" cy="731520"/>
          </a:xfrm>
          <a:prstGeom prst="rect">
            <a:avLst/>
          </a:prstGeom>
          <a:noFill/>
          <a:ln/>
        </p:spPr>
        <p:txBody>
          <a:bodyPr wrap="square" lIns="0" tIns="0" rIns="0" bIns="0" rtlCol="0" anchor="ctr"/>
          <a:lstStyle/>
          <a:p>
            <a:pPr marL="0" indent="0">
              <a:buNone/>
            </a:pPr>
            <a:r>
              <a:rPr lang="en-US" sz="3000" b="1" dirty="0">
                <a:solidFill>
                  <a:srgbClr val="0B4F5C"/>
                </a:solidFill>
                <a:latin typeface="Cambria" pitchFamily="34" charset="0"/>
                <a:ea typeface="Cambria" pitchFamily="34" charset="-122"/>
                <a:cs typeface="Cambria" pitchFamily="34" charset="-120"/>
              </a:rPr>
              <a:t>Three roles</a:t>
            </a:r>
            <a:endParaRPr lang="en-US" sz="3000" dirty="0"/>
          </a:p>
        </p:txBody>
      </p:sp>
      <p:sp>
        <p:nvSpPr>
          <p:cNvPr id="5" name="Shape 2"/>
          <p:cNvSpPr/>
          <p:nvPr/>
        </p:nvSpPr>
        <p:spPr>
          <a:xfrm>
            <a:off x="502920" y="1280160"/>
            <a:ext cx="8138160" cy="2666279"/>
          </a:xfrm>
          <a:prstGeom prst="roundRect">
            <a:avLst>
              <a:gd name="adj" fmla="val 3429"/>
            </a:avLst>
          </a:prstGeom>
          <a:solidFill>
            <a:srgbClr val="FFFFFF"/>
          </a:solidFill>
          <a:ln w="12700">
            <a:solidFill>
              <a:srgbClr val="CFE3E1"/>
            </a:solidFill>
            <a:prstDash val="solid"/>
          </a:ln>
        </p:spPr>
        <p:txBody>
          <a:bodyPr/>
          <a:lstStyle/>
          <a:p>
            <a:endParaRPr lang="en-US"/>
          </a:p>
        </p:txBody>
      </p:sp>
      <p:pic>
        <p:nvPicPr>
          <p:cNvPr id="6" name="Image 0" descr="Host, client and server."/>
          <p:cNvPicPr>
            <a:picLocks noChangeAspect="1"/>
          </p:cNvPicPr>
          <p:nvPr/>
        </p:nvPicPr>
        <p:blipFill>
          <a:blip r:embed="rId3"/>
          <a:stretch>
            <a:fillRect/>
          </a:stretch>
        </p:blipFill>
        <p:spPr>
          <a:xfrm>
            <a:off x="502920" y="1417320"/>
            <a:ext cx="8138160" cy="2391959"/>
          </a:xfrm>
          <a:prstGeom prst="rect">
            <a:avLst/>
          </a:prstGeom>
        </p:spPr>
      </p:pic>
      <p:sp>
        <p:nvSpPr>
          <p:cNvPr id="7" name="Text 3"/>
          <p:cNvSpPr/>
          <p:nvPr/>
        </p:nvSpPr>
        <p:spPr>
          <a:xfrm>
            <a:off x="502920" y="4083599"/>
            <a:ext cx="8138160" cy="274320"/>
          </a:xfrm>
          <a:prstGeom prst="rect">
            <a:avLst/>
          </a:prstGeom>
          <a:noFill/>
          <a:ln/>
        </p:spPr>
        <p:txBody>
          <a:bodyPr wrap="square" lIns="0" tIns="0" rIns="0" bIns="0" rtlCol="0" anchor="t"/>
          <a:lstStyle/>
          <a:p>
            <a:pPr marL="0" indent="0" algn="ctr">
              <a:buNone/>
            </a:pPr>
            <a:r>
              <a:rPr lang="en-US" sz="1400" i="1" dirty="0">
                <a:solidFill>
                  <a:srgbClr val="5B6B73"/>
                </a:solidFill>
                <a:latin typeface="Calibri" pitchFamily="34" charset="0"/>
                <a:ea typeface="Calibri" pitchFamily="34" charset="-122"/>
                <a:cs typeface="Calibri" pitchFamily="34" charset="-120"/>
              </a:rPr>
              <a:t>Host, client and server.</a:t>
            </a:r>
            <a:endParaRPr lang="en-US" sz="14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B73"/>
                </a:solidFill>
              </a:defRPr>
            </a:lvl1pPr>
          </a:lstStyle>
          <a:p>
            <a:pPr algn="l"/>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B7A75"/>
          </a:solidFill>
          <a:ln w="12700">
            <a:solidFill>
              <a:srgbClr val="0B7A75"/>
            </a:solidFill>
            <a:prstDash val="solid"/>
          </a:ln>
        </p:spPr>
        <p:txBody>
          <a:bodyPr/>
          <a:lstStyle/>
          <a:p>
            <a:endParaRPr lang="en-US"/>
          </a:p>
        </p:txBody>
      </p:sp>
      <p:sp>
        <p:nvSpPr>
          <p:cNvPr id="3" name="Text 1"/>
          <p:cNvSpPr/>
          <p:nvPr/>
        </p:nvSpPr>
        <p:spPr>
          <a:xfrm>
            <a:off x="502920" y="320040"/>
            <a:ext cx="8138160" cy="731520"/>
          </a:xfrm>
          <a:prstGeom prst="rect">
            <a:avLst/>
          </a:prstGeom>
          <a:noFill/>
          <a:ln/>
        </p:spPr>
        <p:txBody>
          <a:bodyPr wrap="square" lIns="0" tIns="0" rIns="0" bIns="0" rtlCol="0" anchor="ctr"/>
          <a:lstStyle/>
          <a:p>
            <a:pPr marL="0" indent="0">
              <a:buNone/>
            </a:pPr>
            <a:r>
              <a:rPr lang="en-US" sz="3000" b="1" dirty="0">
                <a:solidFill>
                  <a:srgbClr val="0B4F5C"/>
                </a:solidFill>
                <a:latin typeface="Cambria" pitchFamily="34" charset="0"/>
                <a:ea typeface="Cambria" pitchFamily="34" charset="-122"/>
                <a:cs typeface="Cambria" pitchFamily="34" charset="-120"/>
              </a:rPr>
              <a:t>Three roles</a:t>
            </a:r>
            <a:endParaRPr lang="en-US" sz="3000" dirty="0"/>
          </a:p>
        </p:txBody>
      </p:sp>
      <p:sp>
        <p:nvSpPr>
          <p:cNvPr id="4" name="Text 2"/>
          <p:cNvSpPr/>
          <p:nvPr/>
        </p:nvSpPr>
        <p:spPr>
          <a:xfrm>
            <a:off x="548640" y="1280160"/>
            <a:ext cx="8046720" cy="3383280"/>
          </a:xfrm>
          <a:prstGeom prst="rect">
            <a:avLst/>
          </a:prstGeom>
          <a:noFill/>
          <a:ln/>
        </p:spPr>
        <p:txBody>
          <a:bodyPr wrap="square" lIns="0" tIns="0" rIns="0" bIns="0" rtlCol="0" anchor="t"/>
          <a:lstStyle/>
          <a:p>
            <a:pPr marL="342900" indent="-342900">
              <a:spcAft>
                <a:spcPts val="1200"/>
              </a:spcAft>
              <a:buSzPct val="100000"/>
              <a:buChar char="●"/>
            </a:pPr>
            <a:r>
              <a:rPr lang="en-US" sz="2200" dirty="0">
                <a:solidFill>
                  <a:srgbClr val="1B2B34"/>
                </a:solidFill>
                <a:latin typeface="Calibri" pitchFamily="34" charset="0"/>
                <a:ea typeface="Calibri" pitchFamily="34" charset="-122"/>
                <a:cs typeface="Calibri" pitchFamily="34" charset="-120"/>
              </a:rPr>
              <a:t>Host: the AI application the person uses, such as an n8n agent or a chat app.</a:t>
            </a:r>
            <a:endParaRPr lang="en-US" sz="2200" dirty="0"/>
          </a:p>
          <a:p>
            <a:pPr marL="342900" indent="-342900">
              <a:spcAft>
                <a:spcPts val="1200"/>
              </a:spcAft>
              <a:buSzPct val="100000"/>
              <a:buChar char="●"/>
            </a:pPr>
            <a:r>
              <a:rPr lang="en-US" sz="2200" dirty="0">
                <a:solidFill>
                  <a:srgbClr val="1B2B34"/>
                </a:solidFill>
                <a:latin typeface="Calibri" pitchFamily="34" charset="0"/>
                <a:ea typeface="Calibri" pitchFamily="34" charset="-122"/>
                <a:cs typeface="Calibri" pitchFamily="34" charset="-120"/>
              </a:rPr>
              <a:t>Client: the part inside the host that speaks MCP and keeps one connection to each server.</a:t>
            </a:r>
            <a:endParaRPr lang="en-US" sz="2200" dirty="0"/>
          </a:p>
          <a:p>
            <a:pPr marL="342900" indent="-342900">
              <a:spcAft>
                <a:spcPts val="1200"/>
              </a:spcAft>
              <a:buSzPct val="100000"/>
              <a:buChar char="●"/>
            </a:pPr>
            <a:r>
              <a:rPr lang="en-US" sz="2200" dirty="0">
                <a:solidFill>
                  <a:srgbClr val="1B2B34"/>
                </a:solidFill>
                <a:latin typeface="Calibri" pitchFamily="34" charset="0"/>
                <a:ea typeface="Calibri" pitchFamily="34" charset="-122"/>
                <a:cs typeface="Calibri" pitchFamily="34" charset="-120"/>
              </a:rPr>
              <a:t>Server: a program that offers tools (and sometimes data) in the standard format.</a:t>
            </a:r>
            <a:endParaRPr lang="en-US" sz="2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B73"/>
                </a:solidFill>
              </a:defRPr>
            </a:lvl1pPr>
          </a:lstStyle>
          <a:p>
            <a:pPr algn="l"/>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B7A75"/>
          </a:solidFill>
          <a:ln w="12700">
            <a:solidFill>
              <a:srgbClr val="0B7A75"/>
            </a:solidFill>
            <a:prstDash val="solid"/>
          </a:ln>
        </p:spPr>
        <p:txBody>
          <a:bodyPr/>
          <a:lstStyle/>
          <a:p>
            <a:endParaRPr lang="en-US"/>
          </a:p>
        </p:txBody>
      </p:sp>
      <p:sp>
        <p:nvSpPr>
          <p:cNvPr id="3" name="Text 1"/>
          <p:cNvSpPr/>
          <p:nvPr/>
        </p:nvSpPr>
        <p:spPr>
          <a:xfrm>
            <a:off x="502920" y="320040"/>
            <a:ext cx="8138160" cy="731520"/>
          </a:xfrm>
          <a:prstGeom prst="rect">
            <a:avLst/>
          </a:prstGeom>
          <a:noFill/>
          <a:ln/>
        </p:spPr>
        <p:txBody>
          <a:bodyPr wrap="square" lIns="0" tIns="0" rIns="0" bIns="0" rtlCol="0" anchor="ctr"/>
          <a:lstStyle/>
          <a:p>
            <a:pPr marL="0" indent="0">
              <a:buNone/>
            </a:pPr>
            <a:r>
              <a:rPr lang="en-US" sz="3000" b="1" dirty="0">
                <a:solidFill>
                  <a:srgbClr val="0B4F5C"/>
                </a:solidFill>
                <a:latin typeface="Cambria" pitchFamily="34" charset="0"/>
                <a:ea typeface="Cambria" pitchFamily="34" charset="-122"/>
                <a:cs typeface="Cambria" pitchFamily="34" charset="-120"/>
              </a:rPr>
              <a:t>How they connect: transports</a:t>
            </a:r>
            <a:endParaRPr lang="en-US" sz="30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02920" y="1280160"/>
          <a:ext cx="8138160" cy="914400"/>
        </p:xfrm>
        <a:graphic>
          <a:graphicData uri="http://schemas.openxmlformats.org/drawingml/2006/table">
            <a:tbl>
              <a:tblPr/>
              <a:tblGrid>
                <a:gridCol w="2712720">
                  <a:extLst>
                    <a:ext uri="{9D8B030D-6E8A-4147-A177-3AD203B41FA5}">
                      <a16:colId xmlns:a16="http://schemas.microsoft.com/office/drawing/2014/main" val="20000"/>
                    </a:ext>
                  </a:extLst>
                </a:gridCol>
                <a:gridCol w="2712720">
                  <a:extLst>
                    <a:ext uri="{9D8B030D-6E8A-4147-A177-3AD203B41FA5}">
                      <a16:colId xmlns:a16="http://schemas.microsoft.com/office/drawing/2014/main" val="20001"/>
                    </a:ext>
                  </a:extLst>
                </a:gridCol>
                <a:gridCol w="2712720">
                  <a:extLst>
                    <a:ext uri="{9D8B030D-6E8A-4147-A177-3AD203B41FA5}">
                      <a16:colId xmlns:a16="http://schemas.microsoft.com/office/drawing/2014/main" val="20002"/>
                    </a:ext>
                  </a:extLst>
                </a:gridCol>
              </a:tblGrid>
              <a:tr h="0">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Transport</a:t>
                      </a:r>
                      <a:endParaRPr lang="en-US" sz="1400" dirty="0">
                        <a:latin typeface="Calibri" charset="0"/>
                        <a:ea typeface="Calibri" charset="0"/>
                        <a:cs typeface="Calibri" charset="0"/>
                      </a:endParaRPr>
                    </a:p>
                  </a:txBody>
                  <a:tcPr marT="64008" marB="64008" anchor="ctr">
                    <a:lnL w="6350" cap="flat" cmpd="sng" algn="ctr">
                      <a:solidFill>
                        <a:srgbClr val="CFE3E1"/>
                      </a:solidFill>
                      <a:prstDash val="solid"/>
                      <a:round/>
                      <a:headEnd type="none" w="med" len="med"/>
                      <a:tailEnd type="none" w="med" len="med"/>
                    </a:lnL>
                    <a:lnR w="6350" cap="flat" cmpd="sng" algn="ctr">
                      <a:solidFill>
                        <a:srgbClr val="CFE3E1"/>
                      </a:solidFill>
                      <a:prstDash val="solid"/>
                      <a:round/>
                      <a:headEnd type="none" w="med" len="med"/>
                      <a:tailEnd type="none" w="med" len="med"/>
                    </a:lnR>
                    <a:lnT w="6350" cap="flat" cmpd="sng" algn="ctr">
                      <a:solidFill>
                        <a:srgbClr val="CFE3E1"/>
                      </a:solidFill>
                      <a:prstDash val="solid"/>
                      <a:round/>
                      <a:headEnd type="none" w="med" len="med"/>
                      <a:tailEnd type="none" w="med" len="med"/>
                    </a:lnT>
                    <a:lnB w="6350" cap="flat" cmpd="sng" algn="ctr">
                      <a:solidFill>
                        <a:srgbClr val="CFE3E1"/>
                      </a:solidFill>
                      <a:prstDash val="solid"/>
                      <a:round/>
                      <a:headEnd type="none" w="med" len="med"/>
                      <a:tailEnd type="none" w="med" len="med"/>
                    </a:lnB>
                    <a:solidFill>
                      <a:srgbClr val="0B4F5C"/>
                    </a:solidFill>
                  </a:tcPr>
                </a:tc>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What it is</a:t>
                      </a:r>
                      <a:endParaRPr lang="en-US" sz="1400" dirty="0">
                        <a:latin typeface="Calibri" charset="0"/>
                        <a:ea typeface="Calibri" charset="0"/>
                        <a:cs typeface="Calibri" charset="0"/>
                      </a:endParaRPr>
                    </a:p>
                  </a:txBody>
                  <a:tcPr marT="64008" marB="64008" anchor="ctr">
                    <a:lnL w="6350" cap="flat" cmpd="sng" algn="ctr">
                      <a:solidFill>
                        <a:srgbClr val="CFE3E1"/>
                      </a:solidFill>
                      <a:prstDash val="solid"/>
                      <a:round/>
                      <a:headEnd type="none" w="med" len="med"/>
                      <a:tailEnd type="none" w="med" len="med"/>
                    </a:lnL>
                    <a:lnR w="6350" cap="flat" cmpd="sng" algn="ctr">
                      <a:solidFill>
                        <a:srgbClr val="CFE3E1"/>
                      </a:solidFill>
                      <a:prstDash val="solid"/>
                      <a:round/>
                      <a:headEnd type="none" w="med" len="med"/>
                      <a:tailEnd type="none" w="med" len="med"/>
                    </a:lnR>
                    <a:lnT w="6350" cap="flat" cmpd="sng" algn="ctr">
                      <a:solidFill>
                        <a:srgbClr val="CFE3E1"/>
                      </a:solidFill>
                      <a:prstDash val="solid"/>
                      <a:round/>
                      <a:headEnd type="none" w="med" len="med"/>
                      <a:tailEnd type="none" w="med" len="med"/>
                    </a:lnT>
                    <a:lnB w="6350" cap="flat" cmpd="sng" algn="ctr">
                      <a:solidFill>
                        <a:srgbClr val="CFE3E1"/>
                      </a:solidFill>
                      <a:prstDash val="solid"/>
                      <a:round/>
                      <a:headEnd type="none" w="med" len="med"/>
                      <a:tailEnd type="none" w="med" len="med"/>
                    </a:lnB>
                    <a:solidFill>
                      <a:srgbClr val="0B4F5C"/>
                    </a:solidFill>
                  </a:tcPr>
                </a:tc>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Use it for</a:t>
                      </a:r>
                      <a:endParaRPr lang="en-US" sz="1400" dirty="0">
                        <a:latin typeface="Calibri" charset="0"/>
                        <a:ea typeface="Calibri" charset="0"/>
                        <a:cs typeface="Calibri" charset="0"/>
                      </a:endParaRPr>
                    </a:p>
                  </a:txBody>
                  <a:tcPr marT="64008" marB="64008" anchor="ctr">
                    <a:lnL w="6350" cap="flat" cmpd="sng" algn="ctr">
                      <a:solidFill>
                        <a:srgbClr val="CFE3E1"/>
                      </a:solidFill>
                      <a:prstDash val="solid"/>
                      <a:round/>
                      <a:headEnd type="none" w="med" len="med"/>
                      <a:tailEnd type="none" w="med" len="med"/>
                    </a:lnL>
                    <a:lnR w="6350" cap="flat" cmpd="sng" algn="ctr">
                      <a:solidFill>
                        <a:srgbClr val="CFE3E1"/>
                      </a:solidFill>
                      <a:prstDash val="solid"/>
                      <a:round/>
                      <a:headEnd type="none" w="med" len="med"/>
                      <a:tailEnd type="none" w="med" len="med"/>
                    </a:lnR>
                    <a:lnT w="6350" cap="flat" cmpd="sng" algn="ctr">
                      <a:solidFill>
                        <a:srgbClr val="CFE3E1"/>
                      </a:solidFill>
                      <a:prstDash val="solid"/>
                      <a:round/>
                      <a:headEnd type="none" w="med" len="med"/>
                      <a:tailEnd type="none" w="med" len="med"/>
                    </a:lnT>
                    <a:lnB w="6350" cap="flat" cmpd="sng" algn="ctr">
                      <a:solidFill>
                        <a:srgbClr val="CFE3E1"/>
                      </a:solidFill>
                      <a:prstDash val="solid"/>
                      <a:round/>
                      <a:headEnd type="none" w="med" len="med"/>
                      <a:tailEnd type="none" w="med" len="med"/>
                    </a:lnB>
                    <a:solidFill>
                      <a:srgbClr val="0B4F5C"/>
                    </a:solidFill>
                  </a:tcPr>
                </a:tc>
                <a:extLst>
                  <a:ext uri="{0D108BD9-81ED-4DB2-BD59-A6C34878D82A}">
                    <a16:rowId xmlns:a16="http://schemas.microsoft.com/office/drawing/2014/main" val="10000"/>
                  </a:ext>
                </a:extLst>
              </a:tr>
              <a:tr h="0">
                <a:tc>
                  <a:txBody>
                    <a:bodyPr/>
                    <a:lstStyle/>
                    <a:p>
                      <a:pPr marL="0" indent="0">
                        <a:buNone/>
                      </a:pPr>
                      <a:r>
                        <a:rPr lang="en-US" sz="1400" dirty="0">
                          <a:solidFill>
                            <a:srgbClr val="1B2B34"/>
                          </a:solidFill>
                          <a:latin typeface="Calibri" pitchFamily="34" charset="0"/>
                          <a:ea typeface="Calibri" pitchFamily="34" charset="-122"/>
                          <a:cs typeface="Calibri" pitchFamily="34" charset="-120"/>
                        </a:rPr>
                        <a:t>stdio</a:t>
                      </a:r>
                      <a:endParaRPr lang="en-US" sz="1400" dirty="0">
                        <a:latin typeface="Calibri" charset="0"/>
                        <a:ea typeface="Calibri" charset="0"/>
                        <a:cs typeface="Calibri" charset="0"/>
                      </a:endParaRPr>
                    </a:p>
                  </a:txBody>
                  <a:tcPr marT="64008" marB="64008" anchor="ctr">
                    <a:lnL w="6350" cap="flat" cmpd="sng" algn="ctr">
                      <a:solidFill>
                        <a:srgbClr val="CFE3E1"/>
                      </a:solidFill>
                      <a:prstDash val="solid"/>
                      <a:round/>
                      <a:headEnd type="none" w="med" len="med"/>
                      <a:tailEnd type="none" w="med" len="med"/>
                    </a:lnL>
                    <a:lnR w="6350" cap="flat" cmpd="sng" algn="ctr">
                      <a:solidFill>
                        <a:srgbClr val="CFE3E1"/>
                      </a:solidFill>
                      <a:prstDash val="solid"/>
                      <a:round/>
                      <a:headEnd type="none" w="med" len="med"/>
                      <a:tailEnd type="none" w="med" len="med"/>
                    </a:lnR>
                    <a:lnT w="6350" cap="flat" cmpd="sng" algn="ctr">
                      <a:solidFill>
                        <a:srgbClr val="CFE3E1"/>
                      </a:solidFill>
                      <a:prstDash val="solid"/>
                      <a:round/>
                      <a:headEnd type="none" w="med" len="med"/>
                      <a:tailEnd type="none" w="med" len="med"/>
                    </a:lnT>
                    <a:lnB w="6350" cap="flat" cmpd="sng" algn="ctr">
                      <a:solidFill>
                        <a:srgbClr val="CFE3E1"/>
                      </a:solidFill>
                      <a:prstDash val="solid"/>
                      <a:round/>
                      <a:headEnd type="none" w="med" len="med"/>
                      <a:tailEnd type="none" w="med" len="med"/>
                    </a:lnB>
                    <a:solidFill>
                      <a:srgbClr val="FFFFFF"/>
                    </a:solidFill>
                  </a:tcPr>
                </a:tc>
                <a:tc>
                  <a:txBody>
                    <a:bodyPr/>
                    <a:lstStyle/>
                    <a:p>
                      <a:pPr marL="0" indent="0">
                        <a:buNone/>
                      </a:pPr>
                      <a:r>
                        <a:rPr lang="en-US" sz="1400" dirty="0">
                          <a:solidFill>
                            <a:srgbClr val="1B2B34"/>
                          </a:solidFill>
                          <a:latin typeface="Calibri" pitchFamily="34" charset="0"/>
                          <a:ea typeface="Calibri" pitchFamily="34" charset="-122"/>
                          <a:cs typeface="Calibri" pitchFamily="34" charset="-120"/>
                        </a:rPr>
                        <a:t>The host starts the server as a program on the same computer…</a:t>
                      </a:r>
                      <a:endParaRPr lang="en-US" sz="1400" dirty="0">
                        <a:latin typeface="Calibri" charset="0"/>
                        <a:ea typeface="Calibri" charset="0"/>
                        <a:cs typeface="Calibri" charset="0"/>
                      </a:endParaRPr>
                    </a:p>
                  </a:txBody>
                  <a:tcPr marT="64008" marB="64008" anchor="ctr">
                    <a:lnL w="6350" cap="flat" cmpd="sng" algn="ctr">
                      <a:solidFill>
                        <a:srgbClr val="CFE3E1"/>
                      </a:solidFill>
                      <a:prstDash val="solid"/>
                      <a:round/>
                      <a:headEnd type="none" w="med" len="med"/>
                      <a:tailEnd type="none" w="med" len="med"/>
                    </a:lnL>
                    <a:lnR w="6350" cap="flat" cmpd="sng" algn="ctr">
                      <a:solidFill>
                        <a:srgbClr val="CFE3E1"/>
                      </a:solidFill>
                      <a:prstDash val="solid"/>
                      <a:round/>
                      <a:headEnd type="none" w="med" len="med"/>
                      <a:tailEnd type="none" w="med" len="med"/>
                    </a:lnR>
                    <a:lnT w="6350" cap="flat" cmpd="sng" algn="ctr">
                      <a:solidFill>
                        <a:srgbClr val="CFE3E1"/>
                      </a:solidFill>
                      <a:prstDash val="solid"/>
                      <a:round/>
                      <a:headEnd type="none" w="med" len="med"/>
                      <a:tailEnd type="none" w="med" len="med"/>
                    </a:lnT>
                    <a:lnB w="6350" cap="flat" cmpd="sng" algn="ctr">
                      <a:solidFill>
                        <a:srgbClr val="CFE3E1"/>
                      </a:solidFill>
                      <a:prstDash val="solid"/>
                      <a:round/>
                      <a:headEnd type="none" w="med" len="med"/>
                      <a:tailEnd type="none" w="med" len="med"/>
                    </a:lnB>
                    <a:solidFill>
                      <a:srgbClr val="FFFFFF"/>
                    </a:solidFill>
                  </a:tcPr>
                </a:tc>
                <a:tc>
                  <a:txBody>
                    <a:bodyPr/>
                    <a:lstStyle/>
                    <a:p>
                      <a:pPr marL="0" indent="0">
                        <a:buNone/>
                      </a:pPr>
                      <a:r>
                        <a:rPr lang="en-US" sz="1400" dirty="0">
                          <a:solidFill>
                            <a:srgbClr val="1B2B34"/>
                          </a:solidFill>
                          <a:latin typeface="Calibri" pitchFamily="34" charset="0"/>
                          <a:ea typeface="Calibri" pitchFamily="34" charset="-122"/>
                          <a:cs typeface="Calibri" pitchFamily="34" charset="-120"/>
                        </a:rPr>
                        <a:t>Local tools on your own machine. Not available to cloud-only apps</a:t>
                      </a:r>
                      <a:endParaRPr lang="en-US" sz="1400" dirty="0">
                        <a:latin typeface="Calibri" charset="0"/>
                        <a:ea typeface="Calibri" charset="0"/>
                        <a:cs typeface="Calibri" charset="0"/>
                      </a:endParaRPr>
                    </a:p>
                  </a:txBody>
                  <a:tcPr marT="64008" marB="64008" anchor="ctr">
                    <a:lnL w="6350" cap="flat" cmpd="sng" algn="ctr">
                      <a:solidFill>
                        <a:srgbClr val="CFE3E1"/>
                      </a:solidFill>
                      <a:prstDash val="solid"/>
                      <a:round/>
                      <a:headEnd type="none" w="med" len="med"/>
                      <a:tailEnd type="none" w="med" len="med"/>
                    </a:lnL>
                    <a:lnR w="6350" cap="flat" cmpd="sng" algn="ctr">
                      <a:solidFill>
                        <a:srgbClr val="CFE3E1"/>
                      </a:solidFill>
                      <a:prstDash val="solid"/>
                      <a:round/>
                      <a:headEnd type="none" w="med" len="med"/>
                      <a:tailEnd type="none" w="med" len="med"/>
                    </a:lnR>
                    <a:lnT w="6350" cap="flat" cmpd="sng" algn="ctr">
                      <a:solidFill>
                        <a:srgbClr val="CFE3E1"/>
                      </a:solidFill>
                      <a:prstDash val="solid"/>
                      <a:round/>
                      <a:headEnd type="none" w="med" len="med"/>
                      <a:tailEnd type="none" w="med" len="med"/>
                    </a:lnT>
                    <a:lnB w="6350" cap="flat" cmpd="sng" algn="ctr">
                      <a:solidFill>
                        <a:srgbClr val="CFE3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0">
                <a:tc>
                  <a:txBody>
                    <a:bodyPr/>
                    <a:lstStyle/>
                    <a:p>
                      <a:pPr marL="0" indent="0">
                        <a:buNone/>
                      </a:pPr>
                      <a:r>
                        <a:rPr lang="en-US" sz="1400" dirty="0">
                          <a:solidFill>
                            <a:srgbClr val="1B2B34"/>
                          </a:solidFill>
                          <a:latin typeface="Calibri" pitchFamily="34" charset="0"/>
                          <a:ea typeface="Calibri" pitchFamily="34" charset="-122"/>
                          <a:cs typeface="Calibri" pitchFamily="34" charset="-120"/>
                        </a:rPr>
                        <a:t>Streamable HTTP</a:t>
                      </a:r>
                      <a:endParaRPr lang="en-US" sz="1400" dirty="0">
                        <a:latin typeface="Calibri" charset="0"/>
                        <a:ea typeface="Calibri" charset="0"/>
                        <a:cs typeface="Calibri" charset="0"/>
                      </a:endParaRPr>
                    </a:p>
                  </a:txBody>
                  <a:tcPr marT="64008" marB="64008" anchor="ctr">
                    <a:lnL w="6350" cap="flat" cmpd="sng" algn="ctr">
                      <a:solidFill>
                        <a:srgbClr val="CFE3E1"/>
                      </a:solidFill>
                      <a:prstDash val="solid"/>
                      <a:round/>
                      <a:headEnd type="none" w="med" len="med"/>
                      <a:tailEnd type="none" w="med" len="med"/>
                    </a:lnL>
                    <a:lnR w="6350" cap="flat" cmpd="sng" algn="ctr">
                      <a:solidFill>
                        <a:srgbClr val="CFE3E1"/>
                      </a:solidFill>
                      <a:prstDash val="solid"/>
                      <a:round/>
                      <a:headEnd type="none" w="med" len="med"/>
                      <a:tailEnd type="none" w="med" len="med"/>
                    </a:lnR>
                    <a:lnT w="6350" cap="flat" cmpd="sng" algn="ctr">
                      <a:solidFill>
                        <a:srgbClr val="CFE3E1"/>
                      </a:solidFill>
                      <a:prstDash val="solid"/>
                      <a:round/>
                      <a:headEnd type="none" w="med" len="med"/>
                      <a:tailEnd type="none" w="med" len="med"/>
                    </a:lnT>
                    <a:lnB w="6350" cap="flat" cmpd="sng" algn="ctr">
                      <a:solidFill>
                        <a:srgbClr val="CFE3E1"/>
                      </a:solidFill>
                      <a:prstDash val="solid"/>
                      <a:round/>
                      <a:headEnd type="none" w="med" len="med"/>
                      <a:tailEnd type="none" w="med" len="med"/>
                    </a:lnB>
                    <a:solidFill>
                      <a:srgbClr val="E8F3F2"/>
                    </a:solidFill>
                  </a:tcPr>
                </a:tc>
                <a:tc>
                  <a:txBody>
                    <a:bodyPr/>
                    <a:lstStyle/>
                    <a:p>
                      <a:pPr marL="0" indent="0">
                        <a:buNone/>
                      </a:pPr>
                      <a:r>
                        <a:rPr lang="en-US" sz="1400" dirty="0">
                          <a:solidFill>
                            <a:srgbClr val="1B2B34"/>
                          </a:solidFill>
                          <a:latin typeface="Calibri" pitchFamily="34" charset="0"/>
                          <a:ea typeface="Calibri" pitchFamily="34" charset="-122"/>
                          <a:cs typeface="Calibri" pitchFamily="34" charset="-120"/>
                        </a:rPr>
                        <a:t>The server lives at a web address and talks over normal web requests</a:t>
                      </a:r>
                      <a:endParaRPr lang="en-US" sz="1400" dirty="0">
                        <a:latin typeface="Calibri" charset="0"/>
                        <a:ea typeface="Calibri" charset="0"/>
                        <a:cs typeface="Calibri" charset="0"/>
                      </a:endParaRPr>
                    </a:p>
                  </a:txBody>
                  <a:tcPr marT="64008" marB="64008" anchor="ctr">
                    <a:lnL w="6350" cap="flat" cmpd="sng" algn="ctr">
                      <a:solidFill>
                        <a:srgbClr val="CFE3E1"/>
                      </a:solidFill>
                      <a:prstDash val="solid"/>
                      <a:round/>
                      <a:headEnd type="none" w="med" len="med"/>
                      <a:tailEnd type="none" w="med" len="med"/>
                    </a:lnL>
                    <a:lnR w="6350" cap="flat" cmpd="sng" algn="ctr">
                      <a:solidFill>
                        <a:srgbClr val="CFE3E1"/>
                      </a:solidFill>
                      <a:prstDash val="solid"/>
                      <a:round/>
                      <a:headEnd type="none" w="med" len="med"/>
                      <a:tailEnd type="none" w="med" len="med"/>
                    </a:lnR>
                    <a:lnT w="6350" cap="flat" cmpd="sng" algn="ctr">
                      <a:solidFill>
                        <a:srgbClr val="CFE3E1"/>
                      </a:solidFill>
                      <a:prstDash val="solid"/>
                      <a:round/>
                      <a:headEnd type="none" w="med" len="med"/>
                      <a:tailEnd type="none" w="med" len="med"/>
                    </a:lnT>
                    <a:lnB w="6350" cap="flat" cmpd="sng" algn="ctr">
                      <a:solidFill>
                        <a:srgbClr val="CFE3E1"/>
                      </a:solidFill>
                      <a:prstDash val="solid"/>
                      <a:round/>
                      <a:headEnd type="none" w="med" len="med"/>
                      <a:tailEnd type="none" w="med" len="med"/>
                    </a:lnB>
                    <a:solidFill>
                      <a:srgbClr val="E8F3F2"/>
                    </a:solidFill>
                  </a:tcPr>
                </a:tc>
                <a:tc>
                  <a:txBody>
                    <a:bodyPr/>
                    <a:lstStyle/>
                    <a:p>
                      <a:pPr marL="0" indent="0">
                        <a:buNone/>
                      </a:pPr>
                      <a:r>
                        <a:rPr lang="en-US" sz="1400" dirty="0">
                          <a:solidFill>
                            <a:srgbClr val="1B2B34"/>
                          </a:solidFill>
                          <a:latin typeface="Calibri" pitchFamily="34" charset="0"/>
                          <a:ea typeface="Calibri" pitchFamily="34" charset="-122"/>
                          <a:cs typeface="Calibri" pitchFamily="34" charset="-120"/>
                        </a:rPr>
                        <a:t>Remote servers. The current recommended way over the web</a:t>
                      </a:r>
                      <a:endParaRPr lang="en-US" sz="1400" dirty="0">
                        <a:latin typeface="Calibri" charset="0"/>
                        <a:ea typeface="Calibri" charset="0"/>
                        <a:cs typeface="Calibri" charset="0"/>
                      </a:endParaRPr>
                    </a:p>
                  </a:txBody>
                  <a:tcPr marT="64008" marB="64008" anchor="ctr">
                    <a:lnL w="6350" cap="flat" cmpd="sng" algn="ctr">
                      <a:solidFill>
                        <a:srgbClr val="CFE3E1"/>
                      </a:solidFill>
                      <a:prstDash val="solid"/>
                      <a:round/>
                      <a:headEnd type="none" w="med" len="med"/>
                      <a:tailEnd type="none" w="med" len="med"/>
                    </a:lnL>
                    <a:lnR w="6350" cap="flat" cmpd="sng" algn="ctr">
                      <a:solidFill>
                        <a:srgbClr val="CFE3E1"/>
                      </a:solidFill>
                      <a:prstDash val="solid"/>
                      <a:round/>
                      <a:headEnd type="none" w="med" len="med"/>
                      <a:tailEnd type="none" w="med" len="med"/>
                    </a:lnR>
                    <a:lnT w="6350" cap="flat" cmpd="sng" algn="ctr">
                      <a:solidFill>
                        <a:srgbClr val="CFE3E1"/>
                      </a:solidFill>
                      <a:prstDash val="solid"/>
                      <a:round/>
                      <a:headEnd type="none" w="med" len="med"/>
                      <a:tailEnd type="none" w="med" len="med"/>
                    </a:lnT>
                    <a:lnB w="6350" cap="flat" cmpd="sng" algn="ctr">
                      <a:solidFill>
                        <a:srgbClr val="CFE3E1"/>
                      </a:solidFill>
                      <a:prstDash val="solid"/>
                      <a:round/>
                      <a:headEnd type="none" w="med" len="med"/>
                      <a:tailEnd type="none" w="med" len="med"/>
                    </a:lnB>
                    <a:solidFill>
                      <a:srgbClr val="E8F3F2"/>
                    </a:solidFill>
                  </a:tcPr>
                </a:tc>
                <a:extLst>
                  <a:ext uri="{0D108BD9-81ED-4DB2-BD59-A6C34878D82A}">
                    <a16:rowId xmlns:a16="http://schemas.microsoft.com/office/drawing/2014/main" val="10002"/>
                  </a:ext>
                </a:extLst>
              </a:tr>
              <a:tr h="0">
                <a:tc>
                  <a:txBody>
                    <a:bodyPr/>
                    <a:lstStyle/>
                    <a:p>
                      <a:pPr marL="0" indent="0">
                        <a:buNone/>
                      </a:pPr>
                      <a:r>
                        <a:rPr lang="en-US" sz="1400" dirty="0">
                          <a:solidFill>
                            <a:srgbClr val="1B2B34"/>
                          </a:solidFill>
                          <a:latin typeface="Calibri" pitchFamily="34" charset="0"/>
                          <a:ea typeface="Calibri" pitchFamily="34" charset="-122"/>
                          <a:cs typeface="Calibri" pitchFamily="34" charset="-120"/>
                        </a:rPr>
                        <a:t>SSE</a:t>
                      </a:r>
                      <a:endParaRPr lang="en-US" sz="1400" dirty="0">
                        <a:latin typeface="Calibri" charset="0"/>
                        <a:ea typeface="Calibri" charset="0"/>
                        <a:cs typeface="Calibri" charset="0"/>
                      </a:endParaRPr>
                    </a:p>
                  </a:txBody>
                  <a:tcPr marT="64008" marB="64008" anchor="ctr">
                    <a:lnL w="6350" cap="flat" cmpd="sng" algn="ctr">
                      <a:solidFill>
                        <a:srgbClr val="CFE3E1"/>
                      </a:solidFill>
                      <a:prstDash val="solid"/>
                      <a:round/>
                      <a:headEnd type="none" w="med" len="med"/>
                      <a:tailEnd type="none" w="med" len="med"/>
                    </a:lnL>
                    <a:lnR w="6350" cap="flat" cmpd="sng" algn="ctr">
                      <a:solidFill>
                        <a:srgbClr val="CFE3E1"/>
                      </a:solidFill>
                      <a:prstDash val="solid"/>
                      <a:round/>
                      <a:headEnd type="none" w="med" len="med"/>
                      <a:tailEnd type="none" w="med" len="med"/>
                    </a:lnR>
                    <a:lnT w="6350" cap="flat" cmpd="sng" algn="ctr">
                      <a:solidFill>
                        <a:srgbClr val="CFE3E1"/>
                      </a:solidFill>
                      <a:prstDash val="solid"/>
                      <a:round/>
                      <a:headEnd type="none" w="med" len="med"/>
                      <a:tailEnd type="none" w="med" len="med"/>
                    </a:lnT>
                    <a:lnB w="6350" cap="flat" cmpd="sng" algn="ctr">
                      <a:solidFill>
                        <a:srgbClr val="CFE3E1"/>
                      </a:solidFill>
                      <a:prstDash val="solid"/>
                      <a:round/>
                      <a:headEnd type="none" w="med" len="med"/>
                      <a:tailEnd type="none" w="med" len="med"/>
                    </a:lnB>
                    <a:solidFill>
                      <a:srgbClr val="FFFFFF"/>
                    </a:solidFill>
                  </a:tcPr>
                </a:tc>
                <a:tc>
                  <a:txBody>
                    <a:bodyPr/>
                    <a:lstStyle/>
                    <a:p>
                      <a:pPr marL="0" indent="0">
                        <a:buNone/>
                      </a:pPr>
                      <a:r>
                        <a:rPr lang="en-US" sz="1400" dirty="0">
                          <a:solidFill>
                            <a:srgbClr val="1B2B34"/>
                          </a:solidFill>
                          <a:latin typeface="Calibri" pitchFamily="34" charset="0"/>
                          <a:ea typeface="Calibri" pitchFamily="34" charset="-122"/>
                          <a:cs typeface="Calibri" pitchFamily="34" charset="-120"/>
                        </a:rPr>
                        <a:t>An older web method</a:t>
                      </a:r>
                      <a:endParaRPr lang="en-US" sz="1400" dirty="0">
                        <a:latin typeface="Calibri" charset="0"/>
                        <a:ea typeface="Calibri" charset="0"/>
                        <a:cs typeface="Calibri" charset="0"/>
                      </a:endParaRPr>
                    </a:p>
                  </a:txBody>
                  <a:tcPr marT="64008" marB="64008" anchor="ctr">
                    <a:lnL w="6350" cap="flat" cmpd="sng" algn="ctr">
                      <a:solidFill>
                        <a:srgbClr val="CFE3E1"/>
                      </a:solidFill>
                      <a:prstDash val="solid"/>
                      <a:round/>
                      <a:headEnd type="none" w="med" len="med"/>
                      <a:tailEnd type="none" w="med" len="med"/>
                    </a:lnL>
                    <a:lnR w="6350" cap="flat" cmpd="sng" algn="ctr">
                      <a:solidFill>
                        <a:srgbClr val="CFE3E1"/>
                      </a:solidFill>
                      <a:prstDash val="solid"/>
                      <a:round/>
                      <a:headEnd type="none" w="med" len="med"/>
                      <a:tailEnd type="none" w="med" len="med"/>
                    </a:lnR>
                    <a:lnT w="6350" cap="flat" cmpd="sng" algn="ctr">
                      <a:solidFill>
                        <a:srgbClr val="CFE3E1"/>
                      </a:solidFill>
                      <a:prstDash val="solid"/>
                      <a:round/>
                      <a:headEnd type="none" w="med" len="med"/>
                      <a:tailEnd type="none" w="med" len="med"/>
                    </a:lnT>
                    <a:lnB w="6350" cap="flat" cmpd="sng" algn="ctr">
                      <a:solidFill>
                        <a:srgbClr val="CFE3E1"/>
                      </a:solidFill>
                      <a:prstDash val="solid"/>
                      <a:round/>
                      <a:headEnd type="none" w="med" len="med"/>
                      <a:tailEnd type="none" w="med" len="med"/>
                    </a:lnB>
                    <a:solidFill>
                      <a:srgbClr val="FFFFFF"/>
                    </a:solidFill>
                  </a:tcPr>
                </a:tc>
                <a:tc>
                  <a:txBody>
                    <a:bodyPr/>
                    <a:lstStyle/>
                    <a:p>
                      <a:pPr marL="0" indent="0">
                        <a:buNone/>
                      </a:pPr>
                      <a:r>
                        <a:rPr lang="en-US" sz="1400" dirty="0">
                          <a:solidFill>
                            <a:srgbClr val="1B2B34"/>
                          </a:solidFill>
                          <a:latin typeface="Calibri" pitchFamily="34" charset="0"/>
                          <a:ea typeface="Calibri" pitchFamily="34" charset="-122"/>
                          <a:cs typeface="Calibri" pitchFamily="34" charset="-120"/>
                        </a:rPr>
                        <a:t>Still seen in the wild, but deprecated.</a:t>
                      </a:r>
                      <a:endParaRPr lang="en-US" sz="1400" dirty="0">
                        <a:latin typeface="Calibri" charset="0"/>
                        <a:ea typeface="Calibri" charset="0"/>
                        <a:cs typeface="Calibri" charset="0"/>
                      </a:endParaRPr>
                    </a:p>
                  </a:txBody>
                  <a:tcPr marT="64008" marB="64008" anchor="ctr">
                    <a:lnL w="6350" cap="flat" cmpd="sng" algn="ctr">
                      <a:solidFill>
                        <a:srgbClr val="CFE3E1"/>
                      </a:solidFill>
                      <a:prstDash val="solid"/>
                      <a:round/>
                      <a:headEnd type="none" w="med" len="med"/>
                      <a:tailEnd type="none" w="med" len="med"/>
                    </a:lnL>
                    <a:lnR w="6350" cap="flat" cmpd="sng" algn="ctr">
                      <a:solidFill>
                        <a:srgbClr val="CFE3E1"/>
                      </a:solidFill>
                      <a:prstDash val="solid"/>
                      <a:round/>
                      <a:headEnd type="none" w="med" len="med"/>
                      <a:tailEnd type="none" w="med" len="med"/>
                    </a:lnR>
                    <a:lnT w="6350" cap="flat" cmpd="sng" algn="ctr">
                      <a:solidFill>
                        <a:srgbClr val="CFE3E1"/>
                      </a:solidFill>
                      <a:prstDash val="solid"/>
                      <a:round/>
                      <a:headEnd type="none" w="med" len="med"/>
                      <a:tailEnd type="none" w="med" len="med"/>
                    </a:lnT>
                    <a:lnB w="6350" cap="flat" cmpd="sng" algn="ctr">
                      <a:solidFill>
                        <a:srgbClr val="CFE3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B73"/>
                </a:solidFill>
              </a:defRPr>
            </a:lvl1pPr>
          </a:lstStyle>
          <a:p>
            <a:pPr algn="l"/>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B7A75"/>
          </a:solidFill>
          <a:ln w="12700">
            <a:solidFill>
              <a:srgbClr val="0B7A75"/>
            </a:solidFill>
            <a:prstDash val="solid"/>
          </a:ln>
        </p:spPr>
        <p:txBody>
          <a:bodyPr/>
          <a:lstStyle/>
          <a:p>
            <a:endParaRPr lang="en-US"/>
          </a:p>
        </p:txBody>
      </p:sp>
      <p:sp>
        <p:nvSpPr>
          <p:cNvPr id="3" name="Text 1"/>
          <p:cNvSpPr/>
          <p:nvPr/>
        </p:nvSpPr>
        <p:spPr>
          <a:xfrm>
            <a:off x="502920" y="320040"/>
            <a:ext cx="8138160" cy="731520"/>
          </a:xfrm>
          <a:prstGeom prst="rect">
            <a:avLst/>
          </a:prstGeom>
          <a:noFill/>
          <a:ln/>
        </p:spPr>
        <p:txBody>
          <a:bodyPr wrap="square" lIns="0" tIns="0" rIns="0" bIns="0" rtlCol="0" anchor="ctr"/>
          <a:lstStyle/>
          <a:p>
            <a:pPr marL="0" indent="0">
              <a:buNone/>
            </a:pPr>
            <a:r>
              <a:rPr lang="en-US" sz="3000" b="1" dirty="0">
                <a:solidFill>
                  <a:srgbClr val="0B4F5C"/>
                </a:solidFill>
                <a:latin typeface="Cambria" pitchFamily="34" charset="0"/>
                <a:ea typeface="Cambria" pitchFamily="34" charset="-122"/>
                <a:cs typeface="Cambria" pitchFamily="34" charset="-120"/>
              </a:rPr>
              <a:t>MCP in n8n: three routes</a:t>
            </a:r>
            <a:endParaRPr lang="en-US" sz="3000" dirty="0"/>
          </a:p>
        </p:txBody>
      </p:sp>
      <p:sp>
        <p:nvSpPr>
          <p:cNvPr id="5" name="Shape 2"/>
          <p:cNvSpPr/>
          <p:nvPr/>
        </p:nvSpPr>
        <p:spPr>
          <a:xfrm>
            <a:off x="502920" y="1280160"/>
            <a:ext cx="2560320" cy="3108960"/>
          </a:xfrm>
          <a:prstGeom prst="roundRect">
            <a:avLst>
              <a:gd name="adj" fmla="val 4286"/>
            </a:avLst>
          </a:prstGeom>
          <a:solidFill>
            <a:srgbClr val="E8F3F2"/>
          </a:solidFill>
          <a:ln w="9525">
            <a:solidFill>
              <a:srgbClr val="E8F3F2"/>
            </a:solidFill>
            <a:prstDash val="solid"/>
          </a:ln>
        </p:spPr>
        <p:txBody>
          <a:bodyPr/>
          <a:lstStyle/>
          <a:p>
            <a:endParaRPr lang="en-US"/>
          </a:p>
        </p:txBody>
      </p:sp>
      <p:sp>
        <p:nvSpPr>
          <p:cNvPr id="6" name="Shape 3"/>
          <p:cNvSpPr/>
          <p:nvPr/>
        </p:nvSpPr>
        <p:spPr>
          <a:xfrm>
            <a:off x="502920" y="1280160"/>
            <a:ext cx="2560320" cy="91440"/>
          </a:xfrm>
          <a:prstGeom prst="rect">
            <a:avLst/>
          </a:prstGeom>
          <a:solidFill>
            <a:srgbClr val="0B7A75"/>
          </a:solidFill>
          <a:ln w="12700">
            <a:solidFill>
              <a:srgbClr val="0B7A75"/>
            </a:solidFill>
            <a:prstDash val="solid"/>
          </a:ln>
        </p:spPr>
        <p:txBody>
          <a:bodyPr/>
          <a:lstStyle/>
          <a:p>
            <a:endParaRPr lang="en-US"/>
          </a:p>
        </p:txBody>
      </p:sp>
      <p:sp>
        <p:nvSpPr>
          <p:cNvPr id="7" name="Text 4"/>
          <p:cNvSpPr/>
          <p:nvPr/>
        </p:nvSpPr>
        <p:spPr>
          <a:xfrm>
            <a:off x="731520" y="1554480"/>
            <a:ext cx="2103120" cy="731520"/>
          </a:xfrm>
          <a:prstGeom prst="rect">
            <a:avLst/>
          </a:prstGeom>
          <a:noFill/>
          <a:ln/>
        </p:spPr>
        <p:txBody>
          <a:bodyPr wrap="square" lIns="0" tIns="0" rIns="0" bIns="0" rtlCol="0" anchor="t"/>
          <a:lstStyle/>
          <a:p>
            <a:pPr marL="0" indent="0">
              <a:buNone/>
            </a:pPr>
            <a:r>
              <a:rPr lang="en-US" sz="1800" b="1" dirty="0">
                <a:solidFill>
                  <a:srgbClr val="0B4F5C"/>
                </a:solidFill>
                <a:latin typeface="Cambria" pitchFamily="34" charset="0"/>
                <a:ea typeface="Cambria" pitchFamily="34" charset="-122"/>
                <a:cs typeface="Cambria" pitchFamily="34" charset="-120"/>
              </a:rPr>
              <a:t>1. Use an MCP server as a tool</a:t>
            </a:r>
            <a:endParaRPr lang="en-US" sz="1800" dirty="0"/>
          </a:p>
        </p:txBody>
      </p:sp>
      <p:sp>
        <p:nvSpPr>
          <p:cNvPr id="8" name="Text 5"/>
          <p:cNvSpPr/>
          <p:nvPr/>
        </p:nvSpPr>
        <p:spPr>
          <a:xfrm>
            <a:off x="731520" y="2331720"/>
            <a:ext cx="2103120" cy="1920240"/>
          </a:xfrm>
          <a:prstGeom prst="rect">
            <a:avLst/>
          </a:prstGeom>
          <a:noFill/>
          <a:ln/>
        </p:spPr>
        <p:txBody>
          <a:bodyPr wrap="square" lIns="0" tIns="0" rIns="0" bIns="0" rtlCol="0" anchor="t"/>
          <a:lstStyle/>
          <a:p>
            <a:pPr marL="0" indent="0">
              <a:buNone/>
            </a:pPr>
            <a:r>
              <a:rPr lang="en-US" sz="1500" dirty="0">
                <a:solidFill>
                  <a:srgbClr val="1B2B34"/>
                </a:solidFill>
                <a:latin typeface="Calibri" pitchFamily="34" charset="0"/>
                <a:ea typeface="Calibri" pitchFamily="34" charset="-122"/>
                <a:cs typeface="Calibri" pitchFamily="34" charset="-120"/>
              </a:rPr>
              <a:t>Add the MCP Client Tool node to your AI Agent.</a:t>
            </a:r>
            <a:endParaRPr lang="en-US" sz="1500" dirty="0"/>
          </a:p>
        </p:txBody>
      </p:sp>
      <p:sp>
        <p:nvSpPr>
          <p:cNvPr id="9" name="Shape 6"/>
          <p:cNvSpPr/>
          <p:nvPr/>
        </p:nvSpPr>
        <p:spPr>
          <a:xfrm>
            <a:off x="3291840" y="1280160"/>
            <a:ext cx="2560320" cy="3108960"/>
          </a:xfrm>
          <a:prstGeom prst="roundRect">
            <a:avLst>
              <a:gd name="adj" fmla="val 4286"/>
            </a:avLst>
          </a:prstGeom>
          <a:solidFill>
            <a:srgbClr val="E8F3F2"/>
          </a:solidFill>
          <a:ln w="9525">
            <a:solidFill>
              <a:srgbClr val="E8F3F2"/>
            </a:solidFill>
            <a:prstDash val="solid"/>
          </a:ln>
        </p:spPr>
        <p:txBody>
          <a:bodyPr/>
          <a:lstStyle/>
          <a:p>
            <a:endParaRPr lang="en-US"/>
          </a:p>
        </p:txBody>
      </p:sp>
      <p:sp>
        <p:nvSpPr>
          <p:cNvPr id="10" name="Shape 7"/>
          <p:cNvSpPr/>
          <p:nvPr/>
        </p:nvSpPr>
        <p:spPr>
          <a:xfrm>
            <a:off x="3291840" y="1280160"/>
            <a:ext cx="2560320" cy="91440"/>
          </a:xfrm>
          <a:prstGeom prst="rect">
            <a:avLst/>
          </a:prstGeom>
          <a:solidFill>
            <a:srgbClr val="0B7A75"/>
          </a:solidFill>
          <a:ln w="12700">
            <a:solidFill>
              <a:srgbClr val="0B7A75"/>
            </a:solidFill>
            <a:prstDash val="solid"/>
          </a:ln>
        </p:spPr>
        <p:txBody>
          <a:bodyPr/>
          <a:lstStyle/>
          <a:p>
            <a:endParaRPr lang="en-US"/>
          </a:p>
        </p:txBody>
      </p:sp>
      <p:sp>
        <p:nvSpPr>
          <p:cNvPr id="11" name="Text 8"/>
          <p:cNvSpPr/>
          <p:nvPr/>
        </p:nvSpPr>
        <p:spPr>
          <a:xfrm>
            <a:off x="3520440" y="1554480"/>
            <a:ext cx="2103120" cy="731520"/>
          </a:xfrm>
          <a:prstGeom prst="rect">
            <a:avLst/>
          </a:prstGeom>
          <a:noFill/>
          <a:ln/>
        </p:spPr>
        <p:txBody>
          <a:bodyPr wrap="square" lIns="0" tIns="0" rIns="0" bIns="0" rtlCol="0" anchor="t"/>
          <a:lstStyle/>
          <a:p>
            <a:pPr marL="0" indent="0">
              <a:buNone/>
            </a:pPr>
            <a:r>
              <a:rPr lang="en-US" sz="1800" b="1" dirty="0">
                <a:solidFill>
                  <a:srgbClr val="0B4F5C"/>
                </a:solidFill>
                <a:latin typeface="Cambria" pitchFamily="34" charset="0"/>
                <a:ea typeface="Cambria" pitchFamily="34" charset="-122"/>
                <a:cs typeface="Cambria" pitchFamily="34" charset="-120"/>
              </a:rPr>
              <a:t>2. Offer your workflows as tools</a:t>
            </a:r>
            <a:endParaRPr lang="en-US" sz="1800" dirty="0"/>
          </a:p>
        </p:txBody>
      </p:sp>
      <p:sp>
        <p:nvSpPr>
          <p:cNvPr id="12" name="Text 9"/>
          <p:cNvSpPr/>
          <p:nvPr/>
        </p:nvSpPr>
        <p:spPr>
          <a:xfrm>
            <a:off x="3520440" y="2331720"/>
            <a:ext cx="2103120" cy="1920240"/>
          </a:xfrm>
          <a:prstGeom prst="rect">
            <a:avLst/>
          </a:prstGeom>
          <a:noFill/>
          <a:ln/>
        </p:spPr>
        <p:txBody>
          <a:bodyPr wrap="square" lIns="0" tIns="0" rIns="0" bIns="0" rtlCol="0" anchor="t"/>
          <a:lstStyle/>
          <a:p>
            <a:pPr marL="0" indent="0">
              <a:buNone/>
            </a:pPr>
            <a:r>
              <a:rPr lang="en-US" sz="1500" dirty="0">
                <a:solidFill>
                  <a:srgbClr val="1B2B34"/>
                </a:solidFill>
                <a:latin typeface="Calibri" pitchFamily="34" charset="0"/>
                <a:ea typeface="Calibri" pitchFamily="34" charset="-122"/>
                <a:cs typeface="Calibri" pitchFamily="34" charset="-120"/>
              </a:rPr>
              <a:t>Start a workflow with the MCP Server Trigger node and attach tools to it.</a:t>
            </a:r>
            <a:endParaRPr lang="en-US" sz="1500" dirty="0"/>
          </a:p>
        </p:txBody>
      </p:sp>
      <p:sp>
        <p:nvSpPr>
          <p:cNvPr id="13" name="Shape 10"/>
          <p:cNvSpPr/>
          <p:nvPr/>
        </p:nvSpPr>
        <p:spPr>
          <a:xfrm>
            <a:off x="6080760" y="1280160"/>
            <a:ext cx="2560320" cy="3108960"/>
          </a:xfrm>
          <a:prstGeom prst="roundRect">
            <a:avLst>
              <a:gd name="adj" fmla="val 4286"/>
            </a:avLst>
          </a:prstGeom>
          <a:solidFill>
            <a:srgbClr val="E8F3F2"/>
          </a:solidFill>
          <a:ln w="9525">
            <a:solidFill>
              <a:srgbClr val="E8F3F2"/>
            </a:solidFill>
            <a:prstDash val="solid"/>
          </a:ln>
        </p:spPr>
        <p:txBody>
          <a:bodyPr/>
          <a:lstStyle/>
          <a:p>
            <a:endParaRPr lang="en-US"/>
          </a:p>
        </p:txBody>
      </p:sp>
      <p:sp>
        <p:nvSpPr>
          <p:cNvPr id="14" name="Shape 11"/>
          <p:cNvSpPr/>
          <p:nvPr/>
        </p:nvSpPr>
        <p:spPr>
          <a:xfrm>
            <a:off x="6080760" y="1280160"/>
            <a:ext cx="2560320" cy="91440"/>
          </a:xfrm>
          <a:prstGeom prst="rect">
            <a:avLst/>
          </a:prstGeom>
          <a:solidFill>
            <a:srgbClr val="0B7A75"/>
          </a:solidFill>
          <a:ln w="12700">
            <a:solidFill>
              <a:srgbClr val="0B7A75"/>
            </a:solidFill>
            <a:prstDash val="solid"/>
          </a:ln>
        </p:spPr>
        <p:txBody>
          <a:bodyPr/>
          <a:lstStyle/>
          <a:p>
            <a:endParaRPr lang="en-US"/>
          </a:p>
        </p:txBody>
      </p:sp>
      <p:sp>
        <p:nvSpPr>
          <p:cNvPr id="15" name="Text 12"/>
          <p:cNvSpPr/>
          <p:nvPr/>
        </p:nvSpPr>
        <p:spPr>
          <a:xfrm>
            <a:off x="6309360" y="1554480"/>
            <a:ext cx="2103120" cy="731520"/>
          </a:xfrm>
          <a:prstGeom prst="rect">
            <a:avLst/>
          </a:prstGeom>
          <a:noFill/>
          <a:ln/>
        </p:spPr>
        <p:txBody>
          <a:bodyPr wrap="square" lIns="0" tIns="0" rIns="0" bIns="0" rtlCol="0" anchor="t"/>
          <a:lstStyle/>
          <a:p>
            <a:pPr marL="0" indent="0">
              <a:buNone/>
            </a:pPr>
            <a:r>
              <a:rPr lang="en-US" sz="1800" b="1" dirty="0">
                <a:solidFill>
                  <a:srgbClr val="0B4F5C"/>
                </a:solidFill>
                <a:latin typeface="Cambria" pitchFamily="34" charset="0"/>
                <a:ea typeface="Cambria" pitchFamily="34" charset="-122"/>
                <a:cs typeface="Cambria" pitchFamily="34" charset="-120"/>
              </a:rPr>
              <a:t>3. Control n8n itself</a:t>
            </a:r>
            <a:endParaRPr lang="en-US" sz="1800" dirty="0"/>
          </a:p>
        </p:txBody>
      </p:sp>
      <p:sp>
        <p:nvSpPr>
          <p:cNvPr id="16" name="Text 13"/>
          <p:cNvSpPr/>
          <p:nvPr/>
        </p:nvSpPr>
        <p:spPr>
          <a:xfrm>
            <a:off x="6309360" y="2331720"/>
            <a:ext cx="2103120" cy="1920240"/>
          </a:xfrm>
          <a:prstGeom prst="rect">
            <a:avLst/>
          </a:prstGeom>
          <a:noFill/>
          <a:ln/>
        </p:spPr>
        <p:txBody>
          <a:bodyPr wrap="square" lIns="0" tIns="0" rIns="0" bIns="0" rtlCol="0" anchor="t"/>
          <a:lstStyle/>
          <a:p>
            <a:pPr marL="0" indent="0">
              <a:buNone/>
            </a:pPr>
            <a:r>
              <a:rPr lang="en-US" sz="1500" dirty="0">
                <a:solidFill>
                  <a:srgbClr val="1B2B34"/>
                </a:solidFill>
                <a:latin typeface="Calibri" pitchFamily="34" charset="0"/>
                <a:ea typeface="Calibri" pitchFamily="34" charset="-122"/>
                <a:cs typeface="Calibri" pitchFamily="34" charset="-120"/>
              </a:rPr>
              <a:t>n8n can also expose your instance to MCP clients so they can find and run chosen workflows.</a:t>
            </a:r>
            <a:endParaRPr lang="en-US" sz="15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B73"/>
                </a:solidFill>
              </a:defRPr>
            </a:lvl1pPr>
          </a:lstStyle>
          <a:p>
            <a:pPr algn="l"/>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B7A75"/>
          </a:solidFill>
          <a:ln w="12700">
            <a:solidFill>
              <a:srgbClr val="0B7A75"/>
            </a:solidFill>
            <a:prstDash val="solid"/>
          </a:ln>
        </p:spPr>
        <p:txBody>
          <a:bodyPr/>
          <a:lstStyle/>
          <a:p>
            <a:endParaRPr lang="en-US"/>
          </a:p>
        </p:txBody>
      </p:sp>
      <p:sp>
        <p:nvSpPr>
          <p:cNvPr id="3" name="Text 1"/>
          <p:cNvSpPr/>
          <p:nvPr/>
        </p:nvSpPr>
        <p:spPr>
          <a:xfrm>
            <a:off x="502920" y="320040"/>
            <a:ext cx="8138160" cy="731520"/>
          </a:xfrm>
          <a:prstGeom prst="rect">
            <a:avLst/>
          </a:prstGeom>
          <a:noFill/>
          <a:ln/>
        </p:spPr>
        <p:txBody>
          <a:bodyPr wrap="square" lIns="0" tIns="0" rIns="0" bIns="0" rtlCol="0" anchor="ctr"/>
          <a:lstStyle/>
          <a:p>
            <a:pPr marL="0" indent="0">
              <a:buNone/>
            </a:pPr>
            <a:r>
              <a:rPr lang="en-US" sz="3000" b="1" dirty="0">
                <a:solidFill>
                  <a:srgbClr val="0B4F5C"/>
                </a:solidFill>
                <a:latin typeface="Cambria" pitchFamily="34" charset="0"/>
                <a:ea typeface="Cambria" pitchFamily="34" charset="-122"/>
                <a:cs typeface="Cambria" pitchFamily="34" charset="-120"/>
              </a:rPr>
              <a:t>MCP in n8n: three routes</a:t>
            </a:r>
            <a:endParaRPr lang="en-US" sz="3000" dirty="0"/>
          </a:p>
        </p:txBody>
      </p:sp>
      <p:sp>
        <p:nvSpPr>
          <p:cNvPr id="4" name="Shape 2"/>
          <p:cNvSpPr/>
          <p:nvPr/>
        </p:nvSpPr>
        <p:spPr>
          <a:xfrm>
            <a:off x="548640" y="1280160"/>
            <a:ext cx="411480" cy="411480"/>
          </a:xfrm>
          <a:prstGeom prst="ellipse">
            <a:avLst/>
          </a:prstGeom>
          <a:solidFill>
            <a:srgbClr val="0B7A75"/>
          </a:solidFill>
          <a:ln w="9525">
            <a:solidFill>
              <a:srgbClr val="0B7A75"/>
            </a:solidFill>
            <a:prstDash val="solid"/>
          </a:ln>
        </p:spPr>
        <p:txBody>
          <a:bodyPr/>
          <a:lstStyle/>
          <a:p>
            <a:endParaRPr lang="en-US"/>
          </a:p>
        </p:txBody>
      </p:sp>
      <p:sp>
        <p:nvSpPr>
          <p:cNvPr id="5" name="Text 3"/>
          <p:cNvSpPr/>
          <p:nvPr/>
        </p:nvSpPr>
        <p:spPr>
          <a:xfrm>
            <a:off x="548640" y="1280160"/>
            <a:ext cx="411480" cy="41148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6" name="Text 4"/>
          <p:cNvSpPr/>
          <p:nvPr/>
        </p:nvSpPr>
        <p:spPr>
          <a:xfrm>
            <a:off x="1143000" y="1261872"/>
            <a:ext cx="7498080" cy="612648"/>
          </a:xfrm>
          <a:prstGeom prst="rect">
            <a:avLst/>
          </a:prstGeom>
          <a:noFill/>
          <a:ln/>
        </p:spPr>
        <p:txBody>
          <a:bodyPr wrap="square" lIns="0" tIns="0" rIns="0" bIns="0" rtlCol="0" anchor="t"/>
          <a:lstStyle/>
          <a:p>
            <a:pPr marL="0" indent="0">
              <a:buNone/>
            </a:pPr>
            <a:r>
              <a:rPr lang="en-US" sz="1600" dirty="0">
                <a:solidFill>
                  <a:srgbClr val="1B2B34"/>
                </a:solidFill>
                <a:latin typeface="Calibri" pitchFamily="34" charset="0"/>
                <a:ea typeface="Calibri" pitchFamily="34" charset="-122"/>
                <a:cs typeface="Calibri" pitchFamily="34" charset="-120"/>
              </a:rPr>
              <a:t>Open an AI Agent workflow from earlier.</a:t>
            </a:r>
            <a:endParaRPr lang="en-US" sz="1600" dirty="0"/>
          </a:p>
        </p:txBody>
      </p:sp>
      <p:sp>
        <p:nvSpPr>
          <p:cNvPr id="7" name="Shape 5"/>
          <p:cNvSpPr/>
          <p:nvPr/>
        </p:nvSpPr>
        <p:spPr>
          <a:xfrm>
            <a:off x="548640" y="1938528"/>
            <a:ext cx="411480" cy="411480"/>
          </a:xfrm>
          <a:prstGeom prst="ellipse">
            <a:avLst/>
          </a:prstGeom>
          <a:solidFill>
            <a:srgbClr val="0B7A75"/>
          </a:solidFill>
          <a:ln w="9525">
            <a:solidFill>
              <a:srgbClr val="0B7A75"/>
            </a:solidFill>
            <a:prstDash val="solid"/>
          </a:ln>
        </p:spPr>
        <p:txBody>
          <a:bodyPr/>
          <a:lstStyle/>
          <a:p>
            <a:endParaRPr lang="en-US"/>
          </a:p>
        </p:txBody>
      </p:sp>
      <p:sp>
        <p:nvSpPr>
          <p:cNvPr id="8" name="Text 6"/>
          <p:cNvSpPr/>
          <p:nvPr/>
        </p:nvSpPr>
        <p:spPr>
          <a:xfrm>
            <a:off x="548640" y="1938528"/>
            <a:ext cx="411480" cy="41148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9" name="Text 7"/>
          <p:cNvSpPr/>
          <p:nvPr/>
        </p:nvSpPr>
        <p:spPr>
          <a:xfrm>
            <a:off x="1143000" y="1920240"/>
            <a:ext cx="7498080" cy="612648"/>
          </a:xfrm>
          <a:prstGeom prst="rect">
            <a:avLst/>
          </a:prstGeom>
          <a:noFill/>
          <a:ln/>
        </p:spPr>
        <p:txBody>
          <a:bodyPr wrap="square" lIns="0" tIns="0" rIns="0" bIns="0" rtlCol="0" anchor="t"/>
          <a:lstStyle/>
          <a:p>
            <a:pPr marL="0" indent="0">
              <a:buNone/>
            </a:pPr>
            <a:r>
              <a:rPr lang="en-US" sz="1600" dirty="0">
                <a:solidFill>
                  <a:srgbClr val="1B2B34"/>
                </a:solidFill>
                <a:latin typeface="Calibri" pitchFamily="34" charset="0"/>
                <a:ea typeface="Calibri" pitchFamily="34" charset="-122"/>
                <a:cs typeface="Calibri" pitchFamily="34" charset="-120"/>
              </a:rPr>
              <a:t>Under Tool, add the MCP Client Tool node.</a:t>
            </a:r>
            <a:endParaRPr lang="en-US" sz="1600" dirty="0"/>
          </a:p>
        </p:txBody>
      </p:sp>
      <p:sp>
        <p:nvSpPr>
          <p:cNvPr id="10" name="Shape 8"/>
          <p:cNvSpPr/>
          <p:nvPr/>
        </p:nvSpPr>
        <p:spPr>
          <a:xfrm>
            <a:off x="548640" y="2596896"/>
            <a:ext cx="411480" cy="411480"/>
          </a:xfrm>
          <a:prstGeom prst="ellipse">
            <a:avLst/>
          </a:prstGeom>
          <a:solidFill>
            <a:srgbClr val="0B7A75"/>
          </a:solidFill>
          <a:ln w="9525">
            <a:solidFill>
              <a:srgbClr val="0B7A75"/>
            </a:solidFill>
            <a:prstDash val="solid"/>
          </a:ln>
        </p:spPr>
        <p:txBody>
          <a:bodyPr/>
          <a:lstStyle/>
          <a:p>
            <a:endParaRPr lang="en-US"/>
          </a:p>
        </p:txBody>
      </p:sp>
      <p:sp>
        <p:nvSpPr>
          <p:cNvPr id="11" name="Text 9"/>
          <p:cNvSpPr/>
          <p:nvPr/>
        </p:nvSpPr>
        <p:spPr>
          <a:xfrm>
            <a:off x="548640" y="2596896"/>
            <a:ext cx="411480" cy="41148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12" name="Text 10"/>
          <p:cNvSpPr/>
          <p:nvPr/>
        </p:nvSpPr>
        <p:spPr>
          <a:xfrm>
            <a:off x="1143000" y="2578608"/>
            <a:ext cx="7498080" cy="612648"/>
          </a:xfrm>
          <a:prstGeom prst="rect">
            <a:avLst/>
          </a:prstGeom>
          <a:noFill/>
          <a:ln/>
        </p:spPr>
        <p:txBody>
          <a:bodyPr wrap="square" lIns="0" tIns="0" rIns="0" bIns="0" rtlCol="0" anchor="t"/>
          <a:lstStyle/>
          <a:p>
            <a:pPr marL="0" indent="0">
              <a:buNone/>
            </a:pPr>
            <a:r>
              <a:rPr lang="en-US" sz="1600" dirty="0">
                <a:solidFill>
                  <a:srgbClr val="1B2B34"/>
                </a:solidFill>
                <a:latin typeface="Calibri" pitchFamily="34" charset="0"/>
                <a:ea typeface="Calibri" pitchFamily="34" charset="-122"/>
                <a:cs typeface="Calibri" pitchFamily="34" charset="-120"/>
              </a:rPr>
              <a:t>Set the endpoint (the server's web address) and the transport the server supports.</a:t>
            </a:r>
            <a:endParaRPr lang="en-US" sz="1600" dirty="0"/>
          </a:p>
        </p:txBody>
      </p:sp>
      <p:sp>
        <p:nvSpPr>
          <p:cNvPr id="13" name="Shape 11"/>
          <p:cNvSpPr/>
          <p:nvPr/>
        </p:nvSpPr>
        <p:spPr>
          <a:xfrm>
            <a:off x="548640" y="3255264"/>
            <a:ext cx="411480" cy="411480"/>
          </a:xfrm>
          <a:prstGeom prst="ellipse">
            <a:avLst/>
          </a:prstGeom>
          <a:solidFill>
            <a:srgbClr val="0B7A75"/>
          </a:solidFill>
          <a:ln w="9525">
            <a:solidFill>
              <a:srgbClr val="0B7A75"/>
            </a:solidFill>
            <a:prstDash val="solid"/>
          </a:ln>
        </p:spPr>
        <p:txBody>
          <a:bodyPr/>
          <a:lstStyle/>
          <a:p>
            <a:endParaRPr lang="en-US"/>
          </a:p>
        </p:txBody>
      </p:sp>
      <p:sp>
        <p:nvSpPr>
          <p:cNvPr id="14" name="Text 12"/>
          <p:cNvSpPr/>
          <p:nvPr/>
        </p:nvSpPr>
        <p:spPr>
          <a:xfrm>
            <a:off x="548640" y="3255264"/>
            <a:ext cx="411480" cy="41148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15" name="Text 13"/>
          <p:cNvSpPr/>
          <p:nvPr/>
        </p:nvSpPr>
        <p:spPr>
          <a:xfrm>
            <a:off x="1143000" y="3236976"/>
            <a:ext cx="7498080" cy="612648"/>
          </a:xfrm>
          <a:prstGeom prst="rect">
            <a:avLst/>
          </a:prstGeom>
          <a:noFill/>
          <a:ln/>
        </p:spPr>
        <p:txBody>
          <a:bodyPr wrap="square" lIns="0" tIns="0" rIns="0" bIns="0" rtlCol="0" anchor="t"/>
          <a:lstStyle/>
          <a:p>
            <a:pPr marL="0" indent="0">
              <a:buNone/>
            </a:pPr>
            <a:r>
              <a:rPr lang="en-US" sz="1600" dirty="0">
                <a:solidFill>
                  <a:srgbClr val="1B2B34"/>
                </a:solidFill>
                <a:latin typeface="Calibri" pitchFamily="34" charset="0"/>
                <a:ea typeface="Calibri" pitchFamily="34" charset="-122"/>
                <a:cs typeface="Calibri" pitchFamily="34" charset="-120"/>
              </a:rPr>
              <a:t>Choose authentication if the server needs it. Use a credential, not text typed into the node.</a:t>
            </a:r>
            <a:endParaRPr lang="en-US" sz="1600" dirty="0"/>
          </a:p>
        </p:txBody>
      </p:sp>
      <p:sp>
        <p:nvSpPr>
          <p:cNvPr id="16" name="Shape 14"/>
          <p:cNvSpPr/>
          <p:nvPr/>
        </p:nvSpPr>
        <p:spPr>
          <a:xfrm>
            <a:off x="548640" y="3913632"/>
            <a:ext cx="411480" cy="411480"/>
          </a:xfrm>
          <a:prstGeom prst="ellipse">
            <a:avLst/>
          </a:prstGeom>
          <a:solidFill>
            <a:srgbClr val="0B7A75"/>
          </a:solidFill>
          <a:ln w="9525">
            <a:solidFill>
              <a:srgbClr val="0B7A75"/>
            </a:solidFill>
            <a:prstDash val="solid"/>
          </a:ln>
        </p:spPr>
        <p:txBody>
          <a:bodyPr/>
          <a:lstStyle/>
          <a:p>
            <a:endParaRPr lang="en-US"/>
          </a:p>
        </p:txBody>
      </p:sp>
      <p:sp>
        <p:nvSpPr>
          <p:cNvPr id="17" name="Text 15"/>
          <p:cNvSpPr/>
          <p:nvPr/>
        </p:nvSpPr>
        <p:spPr>
          <a:xfrm>
            <a:off x="548640" y="3913632"/>
            <a:ext cx="411480" cy="41148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5</a:t>
            </a:r>
            <a:endParaRPr lang="en-US" sz="1600" dirty="0"/>
          </a:p>
        </p:txBody>
      </p:sp>
      <p:sp>
        <p:nvSpPr>
          <p:cNvPr id="18" name="Text 16"/>
          <p:cNvSpPr/>
          <p:nvPr/>
        </p:nvSpPr>
        <p:spPr>
          <a:xfrm>
            <a:off x="1143000" y="3895344"/>
            <a:ext cx="7498080" cy="612648"/>
          </a:xfrm>
          <a:prstGeom prst="rect">
            <a:avLst/>
          </a:prstGeom>
          <a:noFill/>
          <a:ln/>
        </p:spPr>
        <p:txBody>
          <a:bodyPr wrap="square" lIns="0" tIns="0" rIns="0" bIns="0" rtlCol="0" anchor="t"/>
          <a:lstStyle/>
          <a:p>
            <a:pPr marL="0" indent="0">
              <a:buNone/>
            </a:pPr>
            <a:r>
              <a:rPr lang="en-US" sz="1600" dirty="0">
                <a:solidFill>
                  <a:srgbClr val="1B2B34"/>
                </a:solidFill>
                <a:latin typeface="Calibri" pitchFamily="34" charset="0"/>
                <a:ea typeface="Calibri" pitchFamily="34" charset="-122"/>
                <a:cs typeface="Calibri" pitchFamily="34" charset="-120"/>
              </a:rPr>
              <a:t>Choose which of the server's tools the agent may use. Start with only what you need.</a:t>
            </a:r>
            <a:endParaRPr lang="en-US" sz="16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B73"/>
                </a:solidFill>
              </a:defRPr>
            </a:lvl1pPr>
          </a:lstStyle>
          <a:p>
            <a:pPr algn="l"/>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B7A75"/>
          </a:solidFill>
          <a:ln w="12700">
            <a:solidFill>
              <a:srgbClr val="0B7A75"/>
            </a:solidFill>
            <a:prstDash val="solid"/>
          </a:ln>
        </p:spPr>
        <p:txBody>
          <a:bodyPr/>
          <a:lstStyle/>
          <a:p>
            <a:endParaRPr lang="en-US"/>
          </a:p>
        </p:txBody>
      </p:sp>
      <p:sp>
        <p:nvSpPr>
          <p:cNvPr id="3" name="Text 1"/>
          <p:cNvSpPr/>
          <p:nvPr/>
        </p:nvSpPr>
        <p:spPr>
          <a:xfrm>
            <a:off x="502920" y="320040"/>
            <a:ext cx="8138160" cy="731520"/>
          </a:xfrm>
          <a:prstGeom prst="rect">
            <a:avLst/>
          </a:prstGeom>
          <a:noFill/>
          <a:ln/>
        </p:spPr>
        <p:txBody>
          <a:bodyPr wrap="square" lIns="0" tIns="0" rIns="0" bIns="0" rtlCol="0" anchor="ctr"/>
          <a:lstStyle/>
          <a:p>
            <a:pPr marL="0" indent="0">
              <a:buNone/>
            </a:pPr>
            <a:r>
              <a:rPr lang="en-US" sz="2600" b="1" dirty="0">
                <a:solidFill>
                  <a:srgbClr val="0B4F5C"/>
                </a:solidFill>
                <a:latin typeface="Cambria" pitchFamily="34" charset="0"/>
                <a:ea typeface="Cambria" pitchFamily="34" charset="-122"/>
                <a:cs typeface="Cambria" pitchFamily="34" charset="-120"/>
              </a:rPr>
              <a:t>An MCP server is code you are inviting in</a:t>
            </a:r>
            <a:endParaRPr lang="en-US" sz="2600" dirty="0"/>
          </a:p>
        </p:txBody>
      </p:sp>
      <p:sp>
        <p:nvSpPr>
          <p:cNvPr id="5" name="Shape 2"/>
          <p:cNvSpPr/>
          <p:nvPr/>
        </p:nvSpPr>
        <p:spPr>
          <a:xfrm>
            <a:off x="502920" y="1280160"/>
            <a:ext cx="8138160" cy="2743200"/>
          </a:xfrm>
          <a:prstGeom prst="roundRect">
            <a:avLst>
              <a:gd name="adj" fmla="val 4000"/>
            </a:avLst>
          </a:prstGeom>
          <a:solidFill>
            <a:srgbClr val="FDECEA"/>
          </a:solidFill>
          <a:ln w="9525">
            <a:solidFill>
              <a:srgbClr val="FDECEA"/>
            </a:solidFill>
            <a:prstDash val="solid"/>
          </a:ln>
        </p:spPr>
        <p:txBody>
          <a:bodyPr/>
          <a:lstStyle/>
          <a:p>
            <a:endParaRPr lang="en-US"/>
          </a:p>
        </p:txBody>
      </p:sp>
      <p:sp>
        <p:nvSpPr>
          <p:cNvPr id="6" name="Shape 3"/>
          <p:cNvSpPr/>
          <p:nvPr/>
        </p:nvSpPr>
        <p:spPr>
          <a:xfrm>
            <a:off x="502920" y="1280160"/>
            <a:ext cx="109728" cy="2743200"/>
          </a:xfrm>
          <a:prstGeom prst="rect">
            <a:avLst/>
          </a:prstGeom>
          <a:solidFill>
            <a:srgbClr val="F26B5B"/>
          </a:solidFill>
          <a:ln w="12700">
            <a:solidFill>
              <a:srgbClr val="F26B5B"/>
            </a:solidFill>
            <a:prstDash val="solid"/>
          </a:ln>
        </p:spPr>
        <p:txBody>
          <a:bodyPr/>
          <a:lstStyle/>
          <a:p>
            <a:endParaRPr lang="en-US"/>
          </a:p>
        </p:txBody>
      </p:sp>
      <p:sp>
        <p:nvSpPr>
          <p:cNvPr id="7" name="Shape 4"/>
          <p:cNvSpPr/>
          <p:nvPr/>
        </p:nvSpPr>
        <p:spPr>
          <a:xfrm>
            <a:off x="868680" y="1600200"/>
            <a:ext cx="685800" cy="685800"/>
          </a:xfrm>
          <a:prstGeom prst="ellipse">
            <a:avLst/>
          </a:prstGeom>
          <a:solidFill>
            <a:srgbClr val="F26B5B"/>
          </a:solidFill>
          <a:ln w="9525">
            <a:solidFill>
              <a:srgbClr val="F26B5B"/>
            </a:solidFill>
            <a:prstDash val="solid"/>
          </a:ln>
        </p:spPr>
        <p:txBody>
          <a:bodyPr/>
          <a:lstStyle/>
          <a:p>
            <a:endParaRPr lang="en-US"/>
          </a:p>
        </p:txBody>
      </p:sp>
      <p:pic>
        <p:nvPicPr>
          <p:cNvPr id="8" name="Image 0" descr="icon"/>
          <p:cNvPicPr>
            <a:picLocks noChangeAspect="1"/>
          </p:cNvPicPr>
          <p:nvPr/>
        </p:nvPicPr>
        <p:blipFill>
          <a:blip r:embed="rId3"/>
          <a:stretch>
            <a:fillRect/>
          </a:stretch>
        </p:blipFill>
        <p:spPr>
          <a:xfrm>
            <a:off x="1019556" y="1751076"/>
            <a:ext cx="384048" cy="384048"/>
          </a:xfrm>
          <a:prstGeom prst="rect">
            <a:avLst/>
          </a:prstGeom>
        </p:spPr>
      </p:pic>
      <p:sp>
        <p:nvSpPr>
          <p:cNvPr id="9" name="Text 5"/>
          <p:cNvSpPr/>
          <p:nvPr/>
        </p:nvSpPr>
        <p:spPr>
          <a:xfrm>
            <a:off x="1828800" y="1600200"/>
            <a:ext cx="6583680" cy="2286000"/>
          </a:xfrm>
          <a:prstGeom prst="rect">
            <a:avLst/>
          </a:prstGeom>
          <a:noFill/>
          <a:ln/>
        </p:spPr>
        <p:txBody>
          <a:bodyPr wrap="square" lIns="0" tIns="0" rIns="0" bIns="0" rtlCol="0" anchor="ctr"/>
          <a:lstStyle/>
          <a:p>
            <a:pPr marL="0" indent="0">
              <a:buNone/>
            </a:pPr>
            <a:r>
              <a:rPr lang="en-US" sz="1900" dirty="0">
                <a:solidFill>
                  <a:srgbClr val="1B2B34"/>
                </a:solidFill>
                <a:latin typeface="Calibri" pitchFamily="34" charset="0"/>
                <a:ea typeface="Calibri" pitchFamily="34" charset="-122"/>
                <a:cs typeface="Calibri" pitchFamily="34" charset="-120"/>
              </a:rPr>
              <a:t>A server can read what you send it, and what it sends back goes straight into your agent's thinking. A careless or malicious server can leak data or slip hidden instructions into its replies.</a:t>
            </a:r>
            <a:endParaRPr lang="en-US" sz="19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B73"/>
                </a:solidFill>
              </a:defRPr>
            </a:lvl1pPr>
          </a:lstStyle>
          <a:p>
            <a:pPr algn="l"/>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B7A75"/>
          </a:solidFill>
          <a:ln w="12700">
            <a:solidFill>
              <a:srgbClr val="0B7A75"/>
            </a:solidFill>
            <a:prstDash val="solid"/>
          </a:ln>
        </p:spPr>
        <p:txBody>
          <a:bodyPr/>
          <a:lstStyle/>
          <a:p>
            <a:endParaRPr lang="en-US"/>
          </a:p>
        </p:txBody>
      </p:sp>
      <p:sp>
        <p:nvSpPr>
          <p:cNvPr id="3" name="Text 1"/>
          <p:cNvSpPr/>
          <p:nvPr/>
        </p:nvSpPr>
        <p:spPr>
          <a:xfrm>
            <a:off x="502920" y="320040"/>
            <a:ext cx="8138160" cy="731520"/>
          </a:xfrm>
          <a:prstGeom prst="rect">
            <a:avLst/>
          </a:prstGeom>
          <a:noFill/>
          <a:ln/>
        </p:spPr>
        <p:txBody>
          <a:bodyPr wrap="square" lIns="0" tIns="0" rIns="0" bIns="0" rtlCol="0" anchor="ctr"/>
          <a:lstStyle/>
          <a:p>
            <a:pPr marL="0" indent="0">
              <a:buNone/>
            </a:pPr>
            <a:r>
              <a:rPr lang="en-US" sz="3000" b="1" dirty="0">
                <a:solidFill>
                  <a:srgbClr val="0B4F5C"/>
                </a:solidFill>
                <a:latin typeface="Cambria" pitchFamily="34" charset="0"/>
                <a:ea typeface="Cambria" pitchFamily="34" charset="-122"/>
                <a:cs typeface="Cambria" pitchFamily="34" charset="-120"/>
              </a:rPr>
              <a:t>Your exercise</a:t>
            </a:r>
            <a:endParaRPr lang="en-US" sz="3000" dirty="0"/>
          </a:p>
        </p:txBody>
      </p:sp>
      <p:sp>
        <p:nvSpPr>
          <p:cNvPr id="5" name="Text 2"/>
          <p:cNvSpPr/>
          <p:nvPr/>
        </p:nvSpPr>
        <p:spPr>
          <a:xfrm>
            <a:off x="548640" y="1188720"/>
            <a:ext cx="8046720" cy="868680"/>
          </a:xfrm>
          <a:prstGeom prst="rect">
            <a:avLst/>
          </a:prstGeom>
          <a:noFill/>
          <a:ln/>
        </p:spPr>
        <p:txBody>
          <a:bodyPr wrap="square" lIns="0" tIns="0" rIns="0" bIns="0" rtlCol="0" anchor="t"/>
          <a:lstStyle/>
          <a:p>
            <a:pPr marL="0" indent="0">
              <a:buNone/>
            </a:pPr>
            <a:r>
              <a:rPr lang="en-US" sz="1700" dirty="0">
                <a:solidFill>
                  <a:srgbClr val="5B6B73"/>
                </a:solidFill>
                <a:latin typeface="Calibri" pitchFamily="34" charset="0"/>
                <a:ea typeface="Calibri" pitchFamily="34" charset="-122"/>
                <a:cs typeface="Calibri" pitchFamily="34" charset="-120"/>
              </a:rPr>
              <a:t>Connect an MCP server to an n8n agent and ask it a question that needs the tool. Then, if time allows, expose one workflow of your own as an MCP server.</a:t>
            </a:r>
            <a:endParaRPr lang="en-US" sz="1700" dirty="0"/>
          </a:p>
        </p:txBody>
      </p:sp>
      <p:sp>
        <p:nvSpPr>
          <p:cNvPr id="6" name="Text 3"/>
          <p:cNvSpPr/>
          <p:nvPr/>
        </p:nvSpPr>
        <p:spPr>
          <a:xfrm>
            <a:off x="548640" y="2103120"/>
            <a:ext cx="3657600" cy="274320"/>
          </a:xfrm>
          <a:prstGeom prst="rect">
            <a:avLst/>
          </a:prstGeom>
          <a:noFill/>
          <a:ln/>
        </p:spPr>
        <p:txBody>
          <a:bodyPr wrap="square" lIns="0" tIns="0" rIns="0" bIns="0" rtlCol="0" anchor="t"/>
          <a:lstStyle/>
          <a:p>
            <a:pPr marL="0" indent="0">
              <a:buNone/>
            </a:pPr>
            <a:r>
              <a:rPr lang="en-US" sz="1200" b="1" dirty="0">
                <a:solidFill>
                  <a:srgbClr val="0B7A75"/>
                </a:solidFill>
                <a:latin typeface="Calibri" pitchFamily="34" charset="0"/>
                <a:ea typeface="Calibri" pitchFamily="34" charset="-122"/>
                <a:cs typeface="Calibri" pitchFamily="34" charset="-120"/>
              </a:rPr>
              <a:t>STEPS</a:t>
            </a:r>
            <a:endParaRPr lang="en-US" sz="1200" dirty="0"/>
          </a:p>
        </p:txBody>
      </p:sp>
      <p:sp>
        <p:nvSpPr>
          <p:cNvPr id="7" name="Text 4"/>
          <p:cNvSpPr/>
          <p:nvPr/>
        </p:nvSpPr>
        <p:spPr>
          <a:xfrm>
            <a:off x="548640" y="2423160"/>
            <a:ext cx="8046720" cy="2286000"/>
          </a:xfrm>
          <a:prstGeom prst="rect">
            <a:avLst/>
          </a:prstGeom>
          <a:noFill/>
          <a:ln/>
        </p:spPr>
        <p:txBody>
          <a:bodyPr wrap="square" lIns="0" tIns="0" rIns="0" bIns="0" rtlCol="0" anchor="t"/>
          <a:lstStyle/>
          <a:p>
            <a:pPr marL="342900" indent="-342900">
              <a:spcAft>
                <a:spcPts val="600"/>
              </a:spcAft>
              <a:buSzPct val="100000"/>
              <a:buChar char="●"/>
            </a:pPr>
            <a:r>
              <a:rPr lang="en-US" sz="1600" dirty="0">
                <a:solidFill>
                  <a:srgbClr val="1B2B34"/>
                </a:solidFill>
                <a:latin typeface="Calibri" pitchFamily="34" charset="0"/>
                <a:ea typeface="Calibri" pitchFamily="34" charset="-122"/>
                <a:cs typeface="Calibri" pitchFamily="34" charset="-120"/>
              </a:rPr>
              <a:t>Pick a safe, well-known server your teacher suggests. A read-only one is best.</a:t>
            </a:r>
            <a:endParaRPr lang="en-US" sz="1600" dirty="0"/>
          </a:p>
          <a:p>
            <a:pPr marL="342900" indent="-342900">
              <a:spcAft>
                <a:spcPts val="600"/>
              </a:spcAft>
              <a:buSzPct val="100000"/>
              <a:buChar char="●"/>
            </a:pPr>
            <a:r>
              <a:rPr lang="en-US" sz="1600" dirty="0">
                <a:solidFill>
                  <a:srgbClr val="1B2B34"/>
                </a:solidFill>
                <a:latin typeface="Calibri" pitchFamily="34" charset="0"/>
                <a:ea typeface="Calibri" pitchFamily="34" charset="-122"/>
                <a:cs typeface="Calibri" pitchFamily="34" charset="-120"/>
              </a:rPr>
              <a:t>Add it to the agent with the MCP Client Tool node and allow one or two tools.</a:t>
            </a:r>
            <a:endParaRPr lang="en-US" sz="1600" dirty="0"/>
          </a:p>
          <a:p>
            <a:pPr marL="342900" indent="-342900">
              <a:spcAft>
                <a:spcPts val="600"/>
              </a:spcAft>
              <a:buSzPct val="100000"/>
              <a:buChar char="●"/>
            </a:pPr>
            <a:r>
              <a:rPr lang="en-US" sz="1600" dirty="0">
                <a:solidFill>
                  <a:srgbClr val="1B2B34"/>
                </a:solidFill>
                <a:latin typeface="Calibri" pitchFamily="34" charset="0"/>
                <a:ea typeface="Calibri" pitchFamily="34" charset="-122"/>
                <a:cs typeface="Calibri" pitchFamily="34" charset="-120"/>
              </a:rPr>
              <a:t>Ask a question that needs it.</a:t>
            </a:r>
            <a:endParaRPr lang="en-US" sz="1600" dirty="0"/>
          </a:p>
          <a:p>
            <a:pPr marL="342900" indent="-342900">
              <a:spcAft>
                <a:spcPts val="600"/>
              </a:spcAft>
              <a:buSzPct val="100000"/>
              <a:buChar char="●"/>
            </a:pPr>
            <a:r>
              <a:rPr lang="en-US" sz="1600" dirty="0">
                <a:solidFill>
                  <a:srgbClr val="1B2B34"/>
                </a:solidFill>
                <a:latin typeface="Calibri" pitchFamily="34" charset="0"/>
                <a:ea typeface="Calibri" pitchFamily="34" charset="-122"/>
                <a:cs typeface="Calibri" pitchFamily="34" charset="-120"/>
              </a:rPr>
              <a:t>Ask a question that does not need it. Did the agent correctly leave it alone?</a:t>
            </a:r>
            <a:endParaRPr lang="en-US" sz="16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B73"/>
                </a:solidFill>
              </a:defRPr>
            </a:lvl1pPr>
          </a:lstStyle>
          <a:p>
            <a:pPr algn="l"/>
            <a:fld id="{F7021451-1387-4CA6-816F-3879F97B5CBC}" type="slidenum">
              <a:rPr lang="en-US" b="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B7A75"/>
          </a:solidFill>
          <a:ln w="12700">
            <a:solidFill>
              <a:srgbClr val="0B7A75"/>
            </a:solidFill>
            <a:prstDash val="solid"/>
          </a:ln>
        </p:spPr>
        <p:txBody>
          <a:bodyPr/>
          <a:lstStyle/>
          <a:p>
            <a:endParaRPr lang="en-US"/>
          </a:p>
        </p:txBody>
      </p:sp>
      <p:sp>
        <p:nvSpPr>
          <p:cNvPr id="3" name="Text 1"/>
          <p:cNvSpPr/>
          <p:nvPr/>
        </p:nvSpPr>
        <p:spPr>
          <a:xfrm>
            <a:off x="502920" y="320040"/>
            <a:ext cx="8138160" cy="731520"/>
          </a:xfrm>
          <a:prstGeom prst="rect">
            <a:avLst/>
          </a:prstGeom>
          <a:noFill/>
          <a:ln/>
        </p:spPr>
        <p:txBody>
          <a:bodyPr wrap="square" lIns="0" tIns="0" rIns="0" bIns="0" rtlCol="0" anchor="ctr"/>
          <a:lstStyle/>
          <a:p>
            <a:pPr marL="0" indent="0">
              <a:buNone/>
            </a:pPr>
            <a:r>
              <a:rPr lang="en-US" sz="3000" b="1" dirty="0">
                <a:solidFill>
                  <a:srgbClr val="0B4F5C"/>
                </a:solidFill>
                <a:latin typeface="Cambria" pitchFamily="34" charset="0"/>
                <a:ea typeface="Cambria" pitchFamily="34" charset="-122"/>
                <a:cs typeface="Cambria" pitchFamily="34" charset="-120"/>
              </a:rPr>
              <a:t>Quick check</a:t>
            </a:r>
            <a:endParaRPr lang="en-US" sz="3000" dirty="0"/>
          </a:p>
        </p:txBody>
      </p:sp>
      <p:sp>
        <p:nvSpPr>
          <p:cNvPr id="5" name="Text 2"/>
          <p:cNvSpPr/>
          <p:nvPr/>
        </p:nvSpPr>
        <p:spPr>
          <a:xfrm>
            <a:off x="548640" y="1280160"/>
            <a:ext cx="8046720" cy="3383280"/>
          </a:xfrm>
          <a:prstGeom prst="rect">
            <a:avLst/>
          </a:prstGeom>
          <a:noFill/>
          <a:ln/>
        </p:spPr>
        <p:txBody>
          <a:bodyPr wrap="square" lIns="0" tIns="0" rIns="0" bIns="0" rtlCol="0" anchor="t"/>
          <a:lstStyle/>
          <a:p>
            <a:pPr marL="0" indent="0">
              <a:spcAft>
                <a:spcPts val="1200"/>
              </a:spcAft>
              <a:buNone/>
            </a:pPr>
            <a:r>
              <a:rPr lang="en-US" sz="2000" dirty="0">
                <a:solidFill>
                  <a:srgbClr val="1B2B34"/>
                </a:solidFill>
                <a:latin typeface="Calibri" pitchFamily="34" charset="0"/>
                <a:ea typeface="Calibri" pitchFamily="34" charset="-122"/>
                <a:cs typeface="Calibri" pitchFamily="34" charset="-120"/>
              </a:rPr>
              <a:t>1.  What does MCP stand for?</a:t>
            </a:r>
            <a:endParaRPr lang="en-US" sz="2000" dirty="0"/>
          </a:p>
          <a:p>
            <a:pPr marL="0" indent="0">
              <a:spcAft>
                <a:spcPts val="1200"/>
              </a:spcAft>
              <a:buNone/>
            </a:pPr>
            <a:r>
              <a:rPr lang="en-US" sz="2000" dirty="0">
                <a:solidFill>
                  <a:srgbClr val="1B2B34"/>
                </a:solidFill>
                <a:latin typeface="Calibri" pitchFamily="34" charset="0"/>
                <a:ea typeface="Calibri" pitchFamily="34" charset="-122"/>
                <a:cs typeface="Calibri" pitchFamily="34" charset="-120"/>
              </a:rPr>
              <a:t>2.  Which comparison fits MCP best?</a:t>
            </a:r>
            <a:endParaRPr lang="en-US" sz="2000" dirty="0"/>
          </a:p>
          <a:p>
            <a:pPr marL="0" indent="0">
              <a:spcAft>
                <a:spcPts val="1200"/>
              </a:spcAft>
              <a:buNone/>
            </a:pPr>
            <a:r>
              <a:rPr lang="en-US" sz="2000" dirty="0">
                <a:solidFill>
                  <a:srgbClr val="1B2B34"/>
                </a:solidFill>
                <a:latin typeface="Calibri" pitchFamily="34" charset="0"/>
                <a:ea typeface="Calibri" pitchFamily="34" charset="-122"/>
                <a:cs typeface="Calibri" pitchFamily="34" charset="-120"/>
              </a:rPr>
              <a:t>3.  In MCP, what is the host?</a:t>
            </a:r>
            <a:endParaRPr lang="en-US" sz="2000" dirty="0"/>
          </a:p>
          <a:p>
            <a:pPr marL="0" indent="0">
              <a:spcAft>
                <a:spcPts val="1200"/>
              </a:spcAft>
              <a:buNone/>
            </a:pPr>
            <a:r>
              <a:rPr lang="en-US" sz="2000" dirty="0">
                <a:solidFill>
                  <a:srgbClr val="1B2B34"/>
                </a:solidFill>
                <a:latin typeface="Calibri" pitchFamily="34" charset="0"/>
                <a:ea typeface="Calibri" pitchFamily="34" charset="-122"/>
                <a:cs typeface="Calibri" pitchFamily="34" charset="-120"/>
              </a:rPr>
              <a:t>4.  Which transport is the current recommended way over the web?</a:t>
            </a:r>
            <a:endParaRPr lang="en-US" sz="2000" dirty="0"/>
          </a:p>
          <a:p>
            <a:pPr marL="0" indent="0">
              <a:spcAft>
                <a:spcPts val="1200"/>
              </a:spcAft>
              <a:buNone/>
            </a:pPr>
            <a:r>
              <a:rPr lang="en-US" sz="2000" dirty="0">
                <a:solidFill>
                  <a:srgbClr val="1B2B34"/>
                </a:solidFill>
                <a:latin typeface="Calibri" pitchFamily="34" charset="0"/>
                <a:ea typeface="Calibri" pitchFamily="34" charset="-122"/>
                <a:cs typeface="Calibri" pitchFamily="34" charset="-120"/>
              </a:rPr>
              <a:t>5.  Why should you limit which tools an agent can use?</a:t>
            </a:r>
            <a:endParaRPr lang="en-US" sz="20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B73"/>
                </a:solidFill>
              </a:defRPr>
            </a:lvl1pPr>
          </a:lstStyle>
          <a:p>
            <a:pPr algn="l"/>
            <a:fld id="{F7021451-1387-4CA6-816F-3879F97B5CBC}" type="slidenum">
              <a:rPr lang="en-US" b="0"/>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B7A75"/>
          </a:solidFill>
          <a:ln w="12700">
            <a:solidFill>
              <a:srgbClr val="0B7A75"/>
            </a:solidFill>
            <a:prstDash val="solid"/>
          </a:ln>
        </p:spPr>
        <p:txBody>
          <a:bodyPr/>
          <a:lstStyle/>
          <a:p>
            <a:endParaRPr lang="en-US"/>
          </a:p>
        </p:txBody>
      </p:sp>
      <p:sp>
        <p:nvSpPr>
          <p:cNvPr id="3" name="Text 1"/>
          <p:cNvSpPr/>
          <p:nvPr/>
        </p:nvSpPr>
        <p:spPr>
          <a:xfrm>
            <a:off x="502920" y="320040"/>
            <a:ext cx="8138160" cy="731520"/>
          </a:xfrm>
          <a:prstGeom prst="rect">
            <a:avLst/>
          </a:prstGeom>
          <a:noFill/>
          <a:ln/>
        </p:spPr>
        <p:txBody>
          <a:bodyPr wrap="square" lIns="0" tIns="0" rIns="0" bIns="0" rtlCol="0" anchor="ctr"/>
          <a:lstStyle/>
          <a:p>
            <a:pPr marL="0" indent="0">
              <a:buNone/>
            </a:pPr>
            <a:r>
              <a:rPr lang="en-US" sz="3000" b="1" dirty="0">
                <a:solidFill>
                  <a:srgbClr val="0B4F5C"/>
                </a:solidFill>
                <a:latin typeface="Cambria" pitchFamily="34" charset="0"/>
                <a:ea typeface="Cambria" pitchFamily="34" charset="-122"/>
                <a:cs typeface="Cambria" pitchFamily="34" charset="-120"/>
              </a:rPr>
              <a:t>Words to know</a:t>
            </a:r>
            <a:endParaRPr lang="en-US" sz="3000" dirty="0"/>
          </a:p>
        </p:txBody>
      </p:sp>
      <p:sp>
        <p:nvSpPr>
          <p:cNvPr id="5" name="Shape 2"/>
          <p:cNvSpPr/>
          <p:nvPr/>
        </p:nvSpPr>
        <p:spPr>
          <a:xfrm>
            <a:off x="502920" y="1234440"/>
            <a:ext cx="3931920" cy="987552"/>
          </a:xfrm>
          <a:prstGeom prst="roundRect">
            <a:avLst>
              <a:gd name="adj" fmla="val 11111"/>
            </a:avLst>
          </a:prstGeom>
          <a:solidFill>
            <a:srgbClr val="E8F3F2"/>
          </a:solidFill>
          <a:ln w="9525">
            <a:solidFill>
              <a:srgbClr val="E8F3F2"/>
            </a:solidFill>
            <a:prstDash val="solid"/>
          </a:ln>
        </p:spPr>
        <p:txBody>
          <a:bodyPr/>
          <a:lstStyle/>
          <a:p>
            <a:endParaRPr lang="en-US"/>
          </a:p>
        </p:txBody>
      </p:sp>
      <p:sp>
        <p:nvSpPr>
          <p:cNvPr id="6" name="Text 3"/>
          <p:cNvSpPr/>
          <p:nvPr/>
        </p:nvSpPr>
        <p:spPr>
          <a:xfrm>
            <a:off x="685800" y="1325880"/>
            <a:ext cx="3566160" cy="274320"/>
          </a:xfrm>
          <a:prstGeom prst="rect">
            <a:avLst/>
          </a:prstGeom>
          <a:noFill/>
          <a:ln/>
        </p:spPr>
        <p:txBody>
          <a:bodyPr wrap="square" lIns="0" tIns="0" rIns="0" bIns="0" rtlCol="0" anchor="t"/>
          <a:lstStyle/>
          <a:p>
            <a:pPr marL="0" indent="0">
              <a:buNone/>
            </a:pPr>
            <a:r>
              <a:rPr lang="en-US" sz="1500" b="1" dirty="0">
                <a:solidFill>
                  <a:srgbClr val="0B4F5C"/>
                </a:solidFill>
                <a:latin typeface="Calibri" pitchFamily="34" charset="0"/>
                <a:ea typeface="Calibri" pitchFamily="34" charset="-122"/>
                <a:cs typeface="Calibri" pitchFamily="34" charset="-120"/>
              </a:rPr>
              <a:t>MCP</a:t>
            </a:r>
            <a:endParaRPr lang="en-US" sz="1500" dirty="0"/>
          </a:p>
        </p:txBody>
      </p:sp>
      <p:sp>
        <p:nvSpPr>
          <p:cNvPr id="7" name="Text 4"/>
          <p:cNvSpPr/>
          <p:nvPr/>
        </p:nvSpPr>
        <p:spPr>
          <a:xfrm>
            <a:off x="685800" y="1618488"/>
            <a:ext cx="3566160" cy="548640"/>
          </a:xfrm>
          <a:prstGeom prst="rect">
            <a:avLst/>
          </a:prstGeom>
          <a:noFill/>
          <a:ln/>
        </p:spPr>
        <p:txBody>
          <a:bodyPr wrap="square" lIns="0" tIns="0" rIns="0" bIns="0" rtlCol="0" anchor="t"/>
          <a:lstStyle/>
          <a:p>
            <a:pPr marL="0" indent="0">
              <a:buNone/>
            </a:pPr>
            <a:r>
              <a:rPr lang="en-US" sz="1200" dirty="0">
                <a:solidFill>
                  <a:srgbClr val="1B2B34"/>
                </a:solidFill>
                <a:latin typeface="Calibri" pitchFamily="34" charset="0"/>
                <a:ea typeface="Calibri" pitchFamily="34" charset="-122"/>
                <a:cs typeface="Calibri" pitchFamily="34" charset="-120"/>
              </a:rPr>
              <a:t>Model Context Protocol. A standard way for AI apps to use outside tools.</a:t>
            </a:r>
            <a:endParaRPr lang="en-US" sz="1200" dirty="0"/>
          </a:p>
        </p:txBody>
      </p:sp>
      <p:sp>
        <p:nvSpPr>
          <p:cNvPr id="8" name="Shape 5"/>
          <p:cNvSpPr/>
          <p:nvPr/>
        </p:nvSpPr>
        <p:spPr>
          <a:xfrm>
            <a:off x="4709160" y="1234440"/>
            <a:ext cx="3931920" cy="987552"/>
          </a:xfrm>
          <a:prstGeom prst="roundRect">
            <a:avLst>
              <a:gd name="adj" fmla="val 11111"/>
            </a:avLst>
          </a:prstGeom>
          <a:solidFill>
            <a:srgbClr val="E8F3F2"/>
          </a:solidFill>
          <a:ln w="9525">
            <a:solidFill>
              <a:srgbClr val="E8F3F2"/>
            </a:solidFill>
            <a:prstDash val="solid"/>
          </a:ln>
        </p:spPr>
        <p:txBody>
          <a:bodyPr/>
          <a:lstStyle/>
          <a:p>
            <a:endParaRPr lang="en-US"/>
          </a:p>
        </p:txBody>
      </p:sp>
      <p:sp>
        <p:nvSpPr>
          <p:cNvPr id="9" name="Text 6"/>
          <p:cNvSpPr/>
          <p:nvPr/>
        </p:nvSpPr>
        <p:spPr>
          <a:xfrm>
            <a:off x="4892040" y="1325880"/>
            <a:ext cx="3566160" cy="274320"/>
          </a:xfrm>
          <a:prstGeom prst="rect">
            <a:avLst/>
          </a:prstGeom>
          <a:noFill/>
          <a:ln/>
        </p:spPr>
        <p:txBody>
          <a:bodyPr wrap="square" lIns="0" tIns="0" rIns="0" bIns="0" rtlCol="0" anchor="t"/>
          <a:lstStyle/>
          <a:p>
            <a:pPr marL="0" indent="0">
              <a:buNone/>
            </a:pPr>
            <a:r>
              <a:rPr lang="en-US" sz="1500" b="1" dirty="0">
                <a:solidFill>
                  <a:srgbClr val="0B4F5C"/>
                </a:solidFill>
                <a:latin typeface="Calibri" pitchFamily="34" charset="0"/>
                <a:ea typeface="Calibri" pitchFamily="34" charset="-122"/>
                <a:cs typeface="Calibri" pitchFamily="34" charset="-120"/>
              </a:rPr>
              <a:t>Host</a:t>
            </a:r>
            <a:endParaRPr lang="en-US" sz="1500" dirty="0"/>
          </a:p>
        </p:txBody>
      </p:sp>
      <p:sp>
        <p:nvSpPr>
          <p:cNvPr id="10" name="Text 7"/>
          <p:cNvSpPr/>
          <p:nvPr/>
        </p:nvSpPr>
        <p:spPr>
          <a:xfrm>
            <a:off x="4892040" y="1618488"/>
            <a:ext cx="3566160" cy="548640"/>
          </a:xfrm>
          <a:prstGeom prst="rect">
            <a:avLst/>
          </a:prstGeom>
          <a:noFill/>
          <a:ln/>
        </p:spPr>
        <p:txBody>
          <a:bodyPr wrap="square" lIns="0" tIns="0" rIns="0" bIns="0" rtlCol="0" anchor="t"/>
          <a:lstStyle/>
          <a:p>
            <a:pPr marL="0" indent="0">
              <a:buNone/>
            </a:pPr>
            <a:r>
              <a:rPr lang="en-US" sz="1200" dirty="0">
                <a:solidFill>
                  <a:srgbClr val="1B2B34"/>
                </a:solidFill>
                <a:latin typeface="Calibri" pitchFamily="34" charset="0"/>
                <a:ea typeface="Calibri" pitchFamily="34" charset="-122"/>
                <a:cs typeface="Calibri" pitchFamily="34" charset="-120"/>
              </a:rPr>
              <a:t>The AI application that wants to use tools.</a:t>
            </a:r>
            <a:endParaRPr lang="en-US" sz="1200" dirty="0"/>
          </a:p>
        </p:txBody>
      </p:sp>
      <p:sp>
        <p:nvSpPr>
          <p:cNvPr id="11" name="Shape 8"/>
          <p:cNvSpPr/>
          <p:nvPr/>
        </p:nvSpPr>
        <p:spPr>
          <a:xfrm>
            <a:off x="502920" y="2331720"/>
            <a:ext cx="3931920" cy="987552"/>
          </a:xfrm>
          <a:prstGeom prst="roundRect">
            <a:avLst>
              <a:gd name="adj" fmla="val 11111"/>
            </a:avLst>
          </a:prstGeom>
          <a:solidFill>
            <a:srgbClr val="E8F3F2"/>
          </a:solidFill>
          <a:ln w="9525">
            <a:solidFill>
              <a:srgbClr val="E8F3F2"/>
            </a:solidFill>
            <a:prstDash val="solid"/>
          </a:ln>
        </p:spPr>
        <p:txBody>
          <a:bodyPr/>
          <a:lstStyle/>
          <a:p>
            <a:endParaRPr lang="en-US"/>
          </a:p>
        </p:txBody>
      </p:sp>
      <p:sp>
        <p:nvSpPr>
          <p:cNvPr id="12" name="Text 9"/>
          <p:cNvSpPr/>
          <p:nvPr/>
        </p:nvSpPr>
        <p:spPr>
          <a:xfrm>
            <a:off x="685800" y="2423160"/>
            <a:ext cx="3566160" cy="274320"/>
          </a:xfrm>
          <a:prstGeom prst="rect">
            <a:avLst/>
          </a:prstGeom>
          <a:noFill/>
          <a:ln/>
        </p:spPr>
        <p:txBody>
          <a:bodyPr wrap="square" lIns="0" tIns="0" rIns="0" bIns="0" rtlCol="0" anchor="t"/>
          <a:lstStyle/>
          <a:p>
            <a:pPr marL="0" indent="0">
              <a:buNone/>
            </a:pPr>
            <a:r>
              <a:rPr lang="en-US" sz="1500" b="1" dirty="0">
                <a:solidFill>
                  <a:srgbClr val="0B4F5C"/>
                </a:solidFill>
                <a:latin typeface="Calibri" pitchFamily="34" charset="0"/>
                <a:ea typeface="Calibri" pitchFamily="34" charset="-122"/>
                <a:cs typeface="Calibri" pitchFamily="34" charset="-120"/>
              </a:rPr>
              <a:t>MCP client</a:t>
            </a:r>
            <a:endParaRPr lang="en-US" sz="1500" dirty="0"/>
          </a:p>
        </p:txBody>
      </p:sp>
      <p:sp>
        <p:nvSpPr>
          <p:cNvPr id="13" name="Text 10"/>
          <p:cNvSpPr/>
          <p:nvPr/>
        </p:nvSpPr>
        <p:spPr>
          <a:xfrm>
            <a:off x="685800" y="2715768"/>
            <a:ext cx="3566160" cy="548640"/>
          </a:xfrm>
          <a:prstGeom prst="rect">
            <a:avLst/>
          </a:prstGeom>
          <a:noFill/>
          <a:ln/>
        </p:spPr>
        <p:txBody>
          <a:bodyPr wrap="square" lIns="0" tIns="0" rIns="0" bIns="0" rtlCol="0" anchor="t"/>
          <a:lstStyle/>
          <a:p>
            <a:pPr marL="0" indent="0">
              <a:buNone/>
            </a:pPr>
            <a:r>
              <a:rPr lang="en-US" sz="1200" dirty="0">
                <a:solidFill>
                  <a:srgbClr val="1B2B34"/>
                </a:solidFill>
                <a:latin typeface="Calibri" pitchFamily="34" charset="0"/>
                <a:ea typeface="Calibri" pitchFamily="34" charset="-122"/>
                <a:cs typeface="Calibri" pitchFamily="34" charset="-120"/>
              </a:rPr>
              <a:t>The part inside the host that speaks MCP and connects to servers.</a:t>
            </a:r>
            <a:endParaRPr lang="en-US" sz="1200" dirty="0"/>
          </a:p>
        </p:txBody>
      </p:sp>
      <p:sp>
        <p:nvSpPr>
          <p:cNvPr id="14" name="Shape 11"/>
          <p:cNvSpPr/>
          <p:nvPr/>
        </p:nvSpPr>
        <p:spPr>
          <a:xfrm>
            <a:off x="4709160" y="2331720"/>
            <a:ext cx="3931920" cy="987552"/>
          </a:xfrm>
          <a:prstGeom prst="roundRect">
            <a:avLst>
              <a:gd name="adj" fmla="val 11111"/>
            </a:avLst>
          </a:prstGeom>
          <a:solidFill>
            <a:srgbClr val="E8F3F2"/>
          </a:solidFill>
          <a:ln w="9525">
            <a:solidFill>
              <a:srgbClr val="E8F3F2"/>
            </a:solidFill>
            <a:prstDash val="solid"/>
          </a:ln>
        </p:spPr>
        <p:txBody>
          <a:bodyPr/>
          <a:lstStyle/>
          <a:p>
            <a:endParaRPr lang="en-US"/>
          </a:p>
        </p:txBody>
      </p:sp>
      <p:sp>
        <p:nvSpPr>
          <p:cNvPr id="15" name="Text 12"/>
          <p:cNvSpPr/>
          <p:nvPr/>
        </p:nvSpPr>
        <p:spPr>
          <a:xfrm>
            <a:off x="4892040" y="2423160"/>
            <a:ext cx="3566160" cy="274320"/>
          </a:xfrm>
          <a:prstGeom prst="rect">
            <a:avLst/>
          </a:prstGeom>
          <a:noFill/>
          <a:ln/>
        </p:spPr>
        <p:txBody>
          <a:bodyPr wrap="square" lIns="0" tIns="0" rIns="0" bIns="0" rtlCol="0" anchor="t"/>
          <a:lstStyle/>
          <a:p>
            <a:pPr marL="0" indent="0">
              <a:buNone/>
            </a:pPr>
            <a:r>
              <a:rPr lang="en-US" sz="1500" b="1" dirty="0">
                <a:solidFill>
                  <a:srgbClr val="0B4F5C"/>
                </a:solidFill>
                <a:latin typeface="Calibri" pitchFamily="34" charset="0"/>
                <a:ea typeface="Calibri" pitchFamily="34" charset="-122"/>
                <a:cs typeface="Calibri" pitchFamily="34" charset="-120"/>
              </a:rPr>
              <a:t>MCP server</a:t>
            </a:r>
            <a:endParaRPr lang="en-US" sz="1500" dirty="0"/>
          </a:p>
        </p:txBody>
      </p:sp>
      <p:sp>
        <p:nvSpPr>
          <p:cNvPr id="16" name="Text 13"/>
          <p:cNvSpPr/>
          <p:nvPr/>
        </p:nvSpPr>
        <p:spPr>
          <a:xfrm>
            <a:off x="4892040" y="2715768"/>
            <a:ext cx="3566160" cy="548640"/>
          </a:xfrm>
          <a:prstGeom prst="rect">
            <a:avLst/>
          </a:prstGeom>
          <a:noFill/>
          <a:ln/>
        </p:spPr>
        <p:txBody>
          <a:bodyPr wrap="square" lIns="0" tIns="0" rIns="0" bIns="0" rtlCol="0" anchor="t"/>
          <a:lstStyle/>
          <a:p>
            <a:pPr marL="0" indent="0">
              <a:buNone/>
            </a:pPr>
            <a:r>
              <a:rPr lang="en-US" sz="1200" dirty="0">
                <a:solidFill>
                  <a:srgbClr val="1B2B34"/>
                </a:solidFill>
                <a:latin typeface="Calibri" pitchFamily="34" charset="0"/>
                <a:ea typeface="Calibri" pitchFamily="34" charset="-122"/>
                <a:cs typeface="Calibri" pitchFamily="34" charset="-120"/>
              </a:rPr>
              <a:t>A program that offers tools in the MCP standard.</a:t>
            </a:r>
            <a:endParaRPr lang="en-US" sz="1200" dirty="0"/>
          </a:p>
        </p:txBody>
      </p:sp>
      <p:sp>
        <p:nvSpPr>
          <p:cNvPr id="17" name="Shape 14"/>
          <p:cNvSpPr/>
          <p:nvPr/>
        </p:nvSpPr>
        <p:spPr>
          <a:xfrm>
            <a:off x="502920" y="3429000"/>
            <a:ext cx="3931920" cy="987552"/>
          </a:xfrm>
          <a:prstGeom prst="roundRect">
            <a:avLst>
              <a:gd name="adj" fmla="val 11111"/>
            </a:avLst>
          </a:prstGeom>
          <a:solidFill>
            <a:srgbClr val="E8F3F2"/>
          </a:solidFill>
          <a:ln w="9525">
            <a:solidFill>
              <a:srgbClr val="E8F3F2"/>
            </a:solidFill>
            <a:prstDash val="solid"/>
          </a:ln>
        </p:spPr>
        <p:txBody>
          <a:bodyPr/>
          <a:lstStyle/>
          <a:p>
            <a:endParaRPr lang="en-US"/>
          </a:p>
        </p:txBody>
      </p:sp>
      <p:sp>
        <p:nvSpPr>
          <p:cNvPr id="18" name="Text 15"/>
          <p:cNvSpPr/>
          <p:nvPr/>
        </p:nvSpPr>
        <p:spPr>
          <a:xfrm>
            <a:off x="685800" y="3520440"/>
            <a:ext cx="3566160" cy="274320"/>
          </a:xfrm>
          <a:prstGeom prst="rect">
            <a:avLst/>
          </a:prstGeom>
          <a:noFill/>
          <a:ln/>
        </p:spPr>
        <p:txBody>
          <a:bodyPr wrap="square" lIns="0" tIns="0" rIns="0" bIns="0" rtlCol="0" anchor="t"/>
          <a:lstStyle/>
          <a:p>
            <a:pPr marL="0" indent="0">
              <a:buNone/>
            </a:pPr>
            <a:r>
              <a:rPr lang="en-US" sz="1500" b="1" dirty="0">
                <a:solidFill>
                  <a:srgbClr val="0B4F5C"/>
                </a:solidFill>
                <a:latin typeface="Calibri" pitchFamily="34" charset="0"/>
                <a:ea typeface="Calibri" pitchFamily="34" charset="-122"/>
                <a:cs typeface="Calibri" pitchFamily="34" charset="-120"/>
              </a:rPr>
              <a:t>Transport</a:t>
            </a:r>
            <a:endParaRPr lang="en-US" sz="1500" dirty="0"/>
          </a:p>
        </p:txBody>
      </p:sp>
      <p:sp>
        <p:nvSpPr>
          <p:cNvPr id="19" name="Text 16"/>
          <p:cNvSpPr/>
          <p:nvPr/>
        </p:nvSpPr>
        <p:spPr>
          <a:xfrm>
            <a:off x="685800" y="3813048"/>
            <a:ext cx="3566160" cy="548640"/>
          </a:xfrm>
          <a:prstGeom prst="rect">
            <a:avLst/>
          </a:prstGeom>
          <a:noFill/>
          <a:ln/>
        </p:spPr>
        <p:txBody>
          <a:bodyPr wrap="square" lIns="0" tIns="0" rIns="0" bIns="0" rtlCol="0" anchor="t"/>
          <a:lstStyle/>
          <a:p>
            <a:pPr marL="0" indent="0">
              <a:buNone/>
            </a:pPr>
            <a:r>
              <a:rPr lang="en-US" sz="1200" dirty="0">
                <a:solidFill>
                  <a:srgbClr val="1B2B34"/>
                </a:solidFill>
                <a:latin typeface="Calibri" pitchFamily="34" charset="0"/>
                <a:ea typeface="Calibri" pitchFamily="34" charset="-122"/>
                <a:cs typeface="Calibri" pitchFamily="34" charset="-120"/>
              </a:rPr>
              <a:t>The way client and server talk: stdio, Streamable HTTP or SSE.</a:t>
            </a:r>
            <a:endParaRPr lang="en-US" sz="1200" dirty="0"/>
          </a:p>
        </p:txBody>
      </p:sp>
      <p:sp>
        <p:nvSpPr>
          <p:cNvPr id="20" name="Shape 17"/>
          <p:cNvSpPr/>
          <p:nvPr/>
        </p:nvSpPr>
        <p:spPr>
          <a:xfrm>
            <a:off x="4709160" y="3429000"/>
            <a:ext cx="3931920" cy="987552"/>
          </a:xfrm>
          <a:prstGeom prst="roundRect">
            <a:avLst>
              <a:gd name="adj" fmla="val 11111"/>
            </a:avLst>
          </a:prstGeom>
          <a:solidFill>
            <a:srgbClr val="E8F3F2"/>
          </a:solidFill>
          <a:ln w="9525">
            <a:solidFill>
              <a:srgbClr val="E8F3F2"/>
            </a:solidFill>
            <a:prstDash val="solid"/>
          </a:ln>
        </p:spPr>
        <p:txBody>
          <a:bodyPr/>
          <a:lstStyle/>
          <a:p>
            <a:endParaRPr lang="en-US"/>
          </a:p>
        </p:txBody>
      </p:sp>
      <p:sp>
        <p:nvSpPr>
          <p:cNvPr id="21" name="Text 18"/>
          <p:cNvSpPr/>
          <p:nvPr/>
        </p:nvSpPr>
        <p:spPr>
          <a:xfrm>
            <a:off x="4892040" y="3520440"/>
            <a:ext cx="3566160" cy="274320"/>
          </a:xfrm>
          <a:prstGeom prst="rect">
            <a:avLst/>
          </a:prstGeom>
          <a:noFill/>
          <a:ln/>
        </p:spPr>
        <p:txBody>
          <a:bodyPr wrap="square" lIns="0" tIns="0" rIns="0" bIns="0" rtlCol="0" anchor="t"/>
          <a:lstStyle/>
          <a:p>
            <a:pPr marL="0" indent="0">
              <a:buNone/>
            </a:pPr>
            <a:r>
              <a:rPr lang="en-US" sz="1500" b="1" dirty="0">
                <a:solidFill>
                  <a:srgbClr val="0B4F5C"/>
                </a:solidFill>
                <a:latin typeface="Calibri" pitchFamily="34" charset="0"/>
                <a:ea typeface="Calibri" pitchFamily="34" charset="-122"/>
                <a:cs typeface="Calibri" pitchFamily="34" charset="-120"/>
              </a:rPr>
              <a:t>stdio</a:t>
            </a:r>
            <a:endParaRPr lang="en-US" sz="1500" dirty="0"/>
          </a:p>
        </p:txBody>
      </p:sp>
      <p:sp>
        <p:nvSpPr>
          <p:cNvPr id="22" name="Text 19"/>
          <p:cNvSpPr/>
          <p:nvPr/>
        </p:nvSpPr>
        <p:spPr>
          <a:xfrm>
            <a:off x="4892040" y="3813048"/>
            <a:ext cx="3566160" cy="548640"/>
          </a:xfrm>
          <a:prstGeom prst="rect">
            <a:avLst/>
          </a:prstGeom>
          <a:noFill/>
          <a:ln/>
        </p:spPr>
        <p:txBody>
          <a:bodyPr wrap="square" lIns="0" tIns="0" rIns="0" bIns="0" rtlCol="0" anchor="t"/>
          <a:lstStyle/>
          <a:p>
            <a:pPr marL="0" indent="0">
              <a:buNone/>
            </a:pPr>
            <a:r>
              <a:rPr lang="en-US" sz="1200" dirty="0">
                <a:solidFill>
                  <a:srgbClr val="1B2B34"/>
                </a:solidFill>
                <a:latin typeface="Calibri" pitchFamily="34" charset="0"/>
                <a:ea typeface="Calibri" pitchFamily="34" charset="-122"/>
                <a:cs typeface="Calibri" pitchFamily="34" charset="-120"/>
              </a:rPr>
              <a:t>Local transport: the host starts the server on the same computer.</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B73"/>
                </a:solidFill>
              </a:defRPr>
            </a:lvl1pPr>
          </a:lstStyle>
          <a:p>
            <a:pPr algn="l"/>
            <a:fld id="{F7021451-1387-4CA6-816F-3879F97B5CBC}" type="slidenum">
              <a:rPr lang="en-US" b="0"/>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B7A75"/>
          </a:solidFill>
          <a:ln w="12700">
            <a:solidFill>
              <a:srgbClr val="0B7A75"/>
            </a:solidFill>
            <a:prstDash val="solid"/>
          </a:ln>
        </p:spPr>
        <p:txBody>
          <a:bodyPr/>
          <a:lstStyle/>
          <a:p>
            <a:endParaRPr lang="en-US"/>
          </a:p>
        </p:txBody>
      </p:sp>
      <p:sp>
        <p:nvSpPr>
          <p:cNvPr id="3" name="Text 1"/>
          <p:cNvSpPr/>
          <p:nvPr/>
        </p:nvSpPr>
        <p:spPr>
          <a:xfrm>
            <a:off x="502920" y="320040"/>
            <a:ext cx="8138160" cy="731520"/>
          </a:xfrm>
          <a:prstGeom prst="rect">
            <a:avLst/>
          </a:prstGeom>
          <a:noFill/>
          <a:ln/>
        </p:spPr>
        <p:txBody>
          <a:bodyPr wrap="square" lIns="0" tIns="0" rIns="0" bIns="0" rtlCol="0" anchor="ctr"/>
          <a:lstStyle/>
          <a:p>
            <a:pPr marL="0" indent="0">
              <a:buNone/>
            </a:pPr>
            <a:r>
              <a:rPr lang="en-US" sz="3000" b="1" dirty="0">
                <a:solidFill>
                  <a:srgbClr val="0B4F5C"/>
                </a:solidFill>
                <a:latin typeface="Cambria" pitchFamily="34" charset="0"/>
                <a:ea typeface="Cambria" pitchFamily="34" charset="-122"/>
                <a:cs typeface="Cambria" pitchFamily="34" charset="-120"/>
              </a:rPr>
              <a:t>Recap</a:t>
            </a:r>
            <a:endParaRPr lang="en-US" sz="3000" dirty="0"/>
          </a:p>
        </p:txBody>
      </p:sp>
      <p:sp>
        <p:nvSpPr>
          <p:cNvPr id="5" name="Shape 2"/>
          <p:cNvSpPr/>
          <p:nvPr/>
        </p:nvSpPr>
        <p:spPr>
          <a:xfrm>
            <a:off x="548640" y="1280160"/>
            <a:ext cx="457200" cy="457200"/>
          </a:xfrm>
          <a:prstGeom prst="ellipse">
            <a:avLst/>
          </a:prstGeom>
          <a:solidFill>
            <a:srgbClr val="0B7A75"/>
          </a:solidFill>
          <a:ln w="9525">
            <a:solidFill>
              <a:srgbClr val="0B7A75"/>
            </a:solidFill>
            <a:prstDash val="solid"/>
          </a:ln>
        </p:spPr>
        <p:txBody>
          <a:bodyPr/>
          <a:lstStyle/>
          <a:p>
            <a:endParaRPr lang="en-US"/>
          </a:p>
        </p:txBody>
      </p:sp>
      <p:pic>
        <p:nvPicPr>
          <p:cNvPr id="6" name="Image 0" descr="icon"/>
          <p:cNvPicPr>
            <a:picLocks noChangeAspect="1"/>
          </p:cNvPicPr>
          <p:nvPr/>
        </p:nvPicPr>
        <p:blipFill>
          <a:blip r:embed="rId3"/>
          <a:stretch>
            <a:fillRect/>
          </a:stretch>
        </p:blipFill>
        <p:spPr>
          <a:xfrm>
            <a:off x="649224" y="1380744"/>
            <a:ext cx="256032" cy="256032"/>
          </a:xfrm>
          <a:prstGeom prst="rect">
            <a:avLst/>
          </a:prstGeom>
        </p:spPr>
      </p:pic>
      <p:sp>
        <p:nvSpPr>
          <p:cNvPr id="7" name="Text 3"/>
          <p:cNvSpPr/>
          <p:nvPr/>
        </p:nvSpPr>
        <p:spPr>
          <a:xfrm>
            <a:off x="1234440" y="1252728"/>
            <a:ext cx="7406640" cy="1021080"/>
          </a:xfrm>
          <a:prstGeom prst="rect">
            <a:avLst/>
          </a:prstGeom>
          <a:noFill/>
          <a:ln/>
        </p:spPr>
        <p:txBody>
          <a:bodyPr wrap="square" lIns="0" tIns="0" rIns="0" bIns="0" rtlCol="0" anchor="t"/>
          <a:lstStyle/>
          <a:p>
            <a:pPr marL="0" indent="0">
              <a:buNone/>
            </a:pPr>
            <a:r>
              <a:rPr lang="en-US" sz="1800" dirty="0">
                <a:solidFill>
                  <a:srgbClr val="1B2B34"/>
                </a:solidFill>
                <a:latin typeface="Calibri" pitchFamily="34" charset="0"/>
                <a:ea typeface="Calibri" pitchFamily="34" charset="-122"/>
                <a:cs typeface="Calibri" pitchFamily="34" charset="-120"/>
              </a:rPr>
              <a:t>MCP is the standard plug: hosts contain clients, clients connect to servers, and servers offer tools.</a:t>
            </a:r>
            <a:endParaRPr lang="en-US" sz="1800" dirty="0"/>
          </a:p>
        </p:txBody>
      </p:sp>
      <p:sp>
        <p:nvSpPr>
          <p:cNvPr id="8" name="Shape 4"/>
          <p:cNvSpPr/>
          <p:nvPr/>
        </p:nvSpPr>
        <p:spPr>
          <a:xfrm>
            <a:off x="548640" y="2346960"/>
            <a:ext cx="457200" cy="457200"/>
          </a:xfrm>
          <a:prstGeom prst="ellipse">
            <a:avLst/>
          </a:prstGeom>
          <a:solidFill>
            <a:srgbClr val="0B7A75"/>
          </a:solidFill>
          <a:ln w="9525">
            <a:solidFill>
              <a:srgbClr val="0B7A75"/>
            </a:solidFill>
            <a:prstDash val="solid"/>
          </a:ln>
        </p:spPr>
        <p:txBody>
          <a:bodyPr/>
          <a:lstStyle/>
          <a:p>
            <a:endParaRPr lang="en-US"/>
          </a:p>
        </p:txBody>
      </p:sp>
      <p:pic>
        <p:nvPicPr>
          <p:cNvPr id="9" name="Image 1" descr="icon"/>
          <p:cNvPicPr>
            <a:picLocks noChangeAspect="1"/>
          </p:cNvPicPr>
          <p:nvPr/>
        </p:nvPicPr>
        <p:blipFill>
          <a:blip r:embed="rId3"/>
          <a:stretch>
            <a:fillRect/>
          </a:stretch>
        </p:blipFill>
        <p:spPr>
          <a:xfrm>
            <a:off x="649224" y="2447544"/>
            <a:ext cx="256032" cy="256032"/>
          </a:xfrm>
          <a:prstGeom prst="rect">
            <a:avLst/>
          </a:prstGeom>
        </p:spPr>
      </p:pic>
      <p:sp>
        <p:nvSpPr>
          <p:cNvPr id="10" name="Text 5"/>
          <p:cNvSpPr/>
          <p:nvPr/>
        </p:nvSpPr>
        <p:spPr>
          <a:xfrm>
            <a:off x="1234440" y="2319528"/>
            <a:ext cx="7406640" cy="1021080"/>
          </a:xfrm>
          <a:prstGeom prst="rect">
            <a:avLst/>
          </a:prstGeom>
          <a:noFill/>
          <a:ln/>
        </p:spPr>
        <p:txBody>
          <a:bodyPr wrap="square" lIns="0" tIns="0" rIns="0" bIns="0" rtlCol="0" anchor="t"/>
          <a:lstStyle/>
          <a:p>
            <a:pPr marL="0" indent="0">
              <a:buNone/>
            </a:pPr>
            <a:r>
              <a:rPr lang="en-US" sz="1800" dirty="0">
                <a:solidFill>
                  <a:srgbClr val="1B2B34"/>
                </a:solidFill>
                <a:latin typeface="Calibri" pitchFamily="34" charset="0"/>
                <a:ea typeface="Calibri" pitchFamily="34" charset="-122"/>
                <a:cs typeface="Calibri" pitchFamily="34" charset="-120"/>
              </a:rPr>
              <a:t>Transports: stdio for local programs, Streamable HTTP for remote servers, SSE is older and deprecated.</a:t>
            </a:r>
            <a:endParaRPr lang="en-US" sz="1800" dirty="0"/>
          </a:p>
        </p:txBody>
      </p:sp>
      <p:sp>
        <p:nvSpPr>
          <p:cNvPr id="11" name="Shape 6"/>
          <p:cNvSpPr/>
          <p:nvPr/>
        </p:nvSpPr>
        <p:spPr>
          <a:xfrm>
            <a:off x="548640" y="3413760"/>
            <a:ext cx="457200" cy="457200"/>
          </a:xfrm>
          <a:prstGeom prst="ellipse">
            <a:avLst/>
          </a:prstGeom>
          <a:solidFill>
            <a:srgbClr val="0B7A75"/>
          </a:solidFill>
          <a:ln w="9525">
            <a:solidFill>
              <a:srgbClr val="0B7A75"/>
            </a:solidFill>
            <a:prstDash val="solid"/>
          </a:ln>
        </p:spPr>
        <p:txBody>
          <a:bodyPr/>
          <a:lstStyle/>
          <a:p>
            <a:endParaRPr lang="en-US"/>
          </a:p>
        </p:txBody>
      </p:sp>
      <p:pic>
        <p:nvPicPr>
          <p:cNvPr id="12" name="Image 2" descr="icon"/>
          <p:cNvPicPr>
            <a:picLocks noChangeAspect="1"/>
          </p:cNvPicPr>
          <p:nvPr/>
        </p:nvPicPr>
        <p:blipFill>
          <a:blip r:embed="rId3"/>
          <a:stretch>
            <a:fillRect/>
          </a:stretch>
        </p:blipFill>
        <p:spPr>
          <a:xfrm>
            <a:off x="649224" y="3514344"/>
            <a:ext cx="256032" cy="256032"/>
          </a:xfrm>
          <a:prstGeom prst="rect">
            <a:avLst/>
          </a:prstGeom>
        </p:spPr>
      </p:pic>
      <p:sp>
        <p:nvSpPr>
          <p:cNvPr id="13" name="Text 7"/>
          <p:cNvSpPr/>
          <p:nvPr/>
        </p:nvSpPr>
        <p:spPr>
          <a:xfrm>
            <a:off x="1234440" y="3386328"/>
            <a:ext cx="7406640" cy="1021080"/>
          </a:xfrm>
          <a:prstGeom prst="rect">
            <a:avLst/>
          </a:prstGeom>
          <a:noFill/>
          <a:ln/>
        </p:spPr>
        <p:txBody>
          <a:bodyPr wrap="square" lIns="0" tIns="0" rIns="0" bIns="0" rtlCol="0" anchor="t"/>
          <a:lstStyle/>
          <a:p>
            <a:pPr marL="0" indent="0">
              <a:buNone/>
            </a:pPr>
            <a:r>
              <a:rPr lang="en-US" sz="1800" dirty="0">
                <a:solidFill>
                  <a:srgbClr val="1B2B34"/>
                </a:solidFill>
                <a:latin typeface="Calibri" pitchFamily="34" charset="0"/>
                <a:ea typeface="Calibri" pitchFamily="34" charset="-122"/>
                <a:cs typeface="Calibri" pitchFamily="34" charset="-120"/>
              </a:rPr>
              <a:t>In n8n you can use servers (MCP Client Tool), offer workflows as a server (MCP Server Trigger), or expose your instance.</a:t>
            </a:r>
            <a:endParaRPr lang="en-US" sz="18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B73"/>
                </a:solidFill>
              </a:defRPr>
            </a:lvl1pPr>
          </a:lstStyle>
          <a:p>
            <a:pPr algn="l"/>
            <a:fld id="{F7021451-1387-4CA6-816F-3879F97B5CBC}" type="slidenum">
              <a:rPr lang="en-US" b="0"/>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731520" y="1097280"/>
            <a:ext cx="7315200" cy="365760"/>
          </a:xfrm>
          <a:prstGeom prst="rect">
            <a:avLst/>
          </a:prstGeom>
          <a:noFill/>
          <a:ln/>
        </p:spPr>
        <p:txBody>
          <a:bodyPr wrap="square" lIns="0" tIns="0" rIns="0" bIns="0" rtlCol="0" anchor="t"/>
          <a:lstStyle/>
          <a:p>
            <a:pPr marL="0" indent="0">
              <a:buNone/>
            </a:pPr>
            <a:r>
              <a:rPr lang="en-US" sz="1600" b="1" dirty="0">
                <a:solidFill>
                  <a:srgbClr val="F4B942"/>
                </a:solidFill>
                <a:latin typeface="Calibri" pitchFamily="34" charset="0"/>
                <a:ea typeface="Calibri" pitchFamily="34" charset="-122"/>
                <a:cs typeface="Calibri" pitchFamily="34" charset="-120"/>
              </a:rPr>
              <a:t>NEXT TIME</a:t>
            </a:r>
            <a:endParaRPr lang="en-US" sz="1600" dirty="0"/>
          </a:p>
        </p:txBody>
      </p:sp>
      <p:sp>
        <p:nvSpPr>
          <p:cNvPr id="3" name="Text 1"/>
          <p:cNvSpPr/>
          <p:nvPr/>
        </p:nvSpPr>
        <p:spPr>
          <a:xfrm>
            <a:off x="731520" y="1645920"/>
            <a:ext cx="7680960" cy="2377440"/>
          </a:xfrm>
          <a:prstGeom prst="rect">
            <a:avLst/>
          </a:prstGeom>
          <a:noFill/>
          <a:ln/>
        </p:spPr>
        <p:txBody>
          <a:bodyPr wrap="square" lIns="0" tIns="0" rIns="0" bIns="0" rtlCol="0" anchor="t"/>
          <a:lstStyle/>
          <a:p>
            <a:pPr marL="0" indent="0">
              <a:buNone/>
            </a:pPr>
            <a:r>
              <a:rPr lang="en-US" sz="2400" dirty="0">
                <a:solidFill>
                  <a:srgbClr val="FFFFFF"/>
                </a:solidFill>
                <a:latin typeface="Cambria" pitchFamily="34" charset="0"/>
                <a:ea typeface="Cambria" pitchFamily="34" charset="-122"/>
                <a:cs typeface="Cambria" pitchFamily="34" charset="-120"/>
              </a:rPr>
              <a:t>Lesson 19, context engineering and sub-agents: how to give an agent exactly what it needs, split big jobs between agents, and avoid the lethal trifecta.</a:t>
            </a:r>
            <a:endParaRPr lang="en-US" sz="2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1351</Words>
  <Application>Microsoft Office PowerPoint</Application>
  <PresentationFormat>On-screen Show (16:9)</PresentationFormat>
  <Paragraphs>123</Paragraphs>
  <Slides>15</Slides>
  <Notes>15</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15</vt:i4>
      </vt:variant>
    </vt:vector>
  </HeadingPairs>
  <TitlesOfParts>
    <vt:vector size="19"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Lesson 18: MCP: a standard plug for tools</dc:title>
  <dc:subject>PptxGenJS Presentation</dc:subject>
  <dc:creator>Agentic AI Builder</dc:creator>
  <cp:lastModifiedBy>DEV DOMINIC</cp:lastModifiedBy>
  <cp:revision>2</cp:revision>
  <dcterms:created xsi:type="dcterms:W3CDTF">2026-10-28T23:53:08Z</dcterms:created>
  <dcterms:modified xsi:type="dcterms:W3CDTF">2026-10-29T00:03:15Z</dcterms:modified>
</cp:coreProperties>
</file>