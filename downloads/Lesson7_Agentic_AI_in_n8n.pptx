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669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7. It takes about 45 minutes. Give your agent tools and memory, and avoid treating it like a person.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magic in an agent. Five simple tricks, all things you already know, combine to make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AI Agent node you will see slots at the bottom. Each has a + button. Add a line to your system message to guide it, for example: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natural to talk to an AI as if it were a person. It writes like one, so we assume it thinks like one. That assumption leads to two kinds of failure. Lesson 19 returns to this trap with a security angle.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twist. Inside an agent, a plain chat model sometimes behaves better than a reasoning model, because the agent loop already gives it room to work step by step. Do not assume the bigger model is better. Test both on the same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An AI model that runs tools in a loop to reach a goal. Tools plus a loop plus a goal. That is what makes it an agent. 2. Tools. The five are illusion of memory, chaining, tools, the loop, and thinking or reasoning. 3. Treating the AI as a person, which leads to vague prompts and fragile designs. The AI predicts text. Writing explicit instructions and testing beats hoping it understands. 4. Keeps recent messages and re-sends them, creating the illusion of memory. It is the notebook from Lesson 4, handled for you. 5. The tool's name and description, and whether the system message says when to use it. Agents choose tools by reading their descriptions, so clear descriptions are the first fix.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2  ·  LESSON 7</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Agentic AI in n8n: tools, memory and the human trap</a:t>
            </a:r>
            <a:endParaRPr lang="en-US" sz="32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Give your agent tools and memory, and avoid treating it like a person.</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t>
            </a:r>
            <a:r>
              <a:rPr lang="en-US" sz="1400">
                <a:solidFill>
                  <a:srgbClr val="E8F3F2"/>
                </a:solidFill>
                <a:latin typeface="Calibri" pitchFamily="34" charset="0"/>
                <a:ea typeface="Calibri" pitchFamily="34" charset="-122"/>
                <a:cs typeface="Calibri" pitchFamily="34" charset="-120"/>
              </a:rPr>
              <a:t>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An agent is an AI that runs tools in a loop to reach a goal. That is the working definition for the rest of the course.</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Give an n8n agent tools and a memory node.</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Spot the trap of treating the AI as if it were a person.</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Choose between a chat model and a reasoning model for a task.</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The five tricks behind every agent</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Trick</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means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Where you met it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1. Illusion of memory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app re-sends the conversation each time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Lesson 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 Chaining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output of one AI step becomes the input of the next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Like passing a note along a line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3. Tools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AI asks, your app acts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Lesson 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4. The loop</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Decide, act, observe, repeat until done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Lesson 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5. Thinking (reasoning)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AI works through steps before answering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Lesson 1, reasoning models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new assistant at work</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Picture an assistant with a notebook (memory), a phone and a calculator (tools), a checklist (the loop), and the habit of thinking before answering. None of those is clever alone. Together they get things done.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Adding memory and tools in n8n</a:t>
            </a:r>
            <a:endParaRPr lang="en-US" sz="3000" dirty="0"/>
          </a:p>
        </p:txBody>
      </p:sp>
      <p:sp>
        <p:nvSpPr>
          <p:cNvPr id="5" name="Shape 2"/>
          <p:cNvSpPr/>
          <p:nvPr/>
        </p:nvSpPr>
        <p:spPr>
          <a:xfrm>
            <a:off x="50292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Memory</a:t>
            </a:r>
            <a:endParaRPr lang="en-US" sz="2200" dirty="0"/>
          </a:p>
        </p:txBody>
      </p:sp>
      <p:sp>
        <p:nvSpPr>
          <p:cNvPr id="8" name="Text 5"/>
          <p:cNvSpPr/>
          <p:nvPr/>
        </p:nvSpPr>
        <p:spPr>
          <a:xfrm>
            <a:off x="73152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Add a Simple Memory node.</a:t>
            </a:r>
            <a:endParaRPr lang="en-US" sz="1800" dirty="0"/>
          </a:p>
        </p:txBody>
      </p:sp>
      <p:sp>
        <p:nvSpPr>
          <p:cNvPr id="9" name="Shape 6"/>
          <p:cNvSpPr/>
          <p:nvPr/>
        </p:nvSpPr>
        <p:spPr>
          <a:xfrm>
            <a:off x="468630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468630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491490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Tools</a:t>
            </a:r>
            <a:endParaRPr lang="en-US" sz="2200" dirty="0"/>
          </a:p>
        </p:txBody>
      </p:sp>
      <p:sp>
        <p:nvSpPr>
          <p:cNvPr id="12" name="Text 9"/>
          <p:cNvSpPr/>
          <p:nvPr/>
        </p:nvSpPr>
        <p:spPr>
          <a:xfrm>
            <a:off x="491490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Add a tool such as Calculator or Wikipedia.</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Add to the system message</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ADD TO THE SYSTEM MESSAGE</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For ANY arithmetic, always use the Calculator tool.</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For questions about public facts, use the Wikipedia tool.</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Do not use a tool when you can answer directly.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trap</a:t>
            </a:r>
            <a:endParaRPr lang="en-US" sz="3000" dirty="0"/>
          </a:p>
        </p:txBody>
      </p:sp>
      <p:sp>
        <p:nvSpPr>
          <p:cNvPr id="5"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6"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7"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8"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9"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Treating the model as a person makes you write vague prompts (“you know what I mean”) and build fragile designs (assuming it will just figure it out).</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human trap</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If you treat it like a person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Treat it like a program that follows text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“You know what I mean.”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State the task, rules and format in writing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“It will remember from last time.”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Add a memory node, or include what it needs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“It will know to double-check.”</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Add a calculator tool, a rule, and a test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“It tried hard, so it is probably right.”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Check output against a test set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Chat model or reasoning model?</a:t>
            </a:r>
            <a:endParaRPr lang="en-US" sz="3000" dirty="0"/>
          </a:p>
        </p:txBody>
      </p:sp>
      <p:sp>
        <p:nvSpPr>
          <p:cNvPr id="5" name="Shape 2"/>
          <p:cNvSpPr/>
          <p:nvPr/>
        </p:nvSpPr>
        <p:spPr>
          <a:xfrm>
            <a:off x="50292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Chat model</a:t>
            </a:r>
            <a:endParaRPr lang="en-US" sz="2200" dirty="0"/>
          </a:p>
        </p:txBody>
      </p:sp>
      <p:sp>
        <p:nvSpPr>
          <p:cNvPr id="8" name="Text 5"/>
          <p:cNvSpPr/>
          <p:nvPr/>
        </p:nvSpPr>
        <p:spPr>
          <a:xfrm>
            <a:off x="73152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Quick, cheaper. Good for summaries, rewriting, classifying and most everyday agent work.</a:t>
            </a:r>
            <a:endParaRPr lang="en-US" sz="1800" dirty="0"/>
          </a:p>
        </p:txBody>
      </p:sp>
      <p:sp>
        <p:nvSpPr>
          <p:cNvPr id="9" name="Shape 6"/>
          <p:cNvSpPr/>
          <p:nvPr/>
        </p:nvSpPr>
        <p:spPr>
          <a:xfrm>
            <a:off x="468630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468630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491490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Reasoning model</a:t>
            </a:r>
            <a:endParaRPr lang="en-US" sz="2200" dirty="0"/>
          </a:p>
        </p:txBody>
      </p:sp>
      <p:sp>
        <p:nvSpPr>
          <p:cNvPr id="12" name="Text 9"/>
          <p:cNvSpPr/>
          <p:nvPr/>
        </p:nvSpPr>
        <p:spPr>
          <a:xfrm>
            <a:off x="491490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Slower, costs more. Good for multi-step problems that need planning.</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Add a memory node and one tool to your Lesson 6 agent, then test two things:</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 question that needs the tool.</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 follow-up that needs the memory.</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 control test. Remove the memory node and repeat step 2. Note what changes.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is the working definition of an agent in this course?</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Which of these is one of the five tricks behind agents?</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What is the human trap?</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What does a memory node do?</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Your agent keeps ignoring a tool. What should you check first?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Agent</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AI model that runs tools in a loop to reach a goal.</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Chaining</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Passing the output of one AI step to the next as its input.</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Simple Memory</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n8n node that stores recent messages and re-sends them, giving a chat the illusion of…</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Anthropomorphizing</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Treating the AI as if it were a person. Leads to vague prompts and fragile designs.</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Reasoning model</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model that works through steps before answering.</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Chat model</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model that answers directly. Faster and cheaper.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An agent is an LLM that runs tools in a loop to reach a goal.</a:t>
            </a:r>
            <a:endParaRPr lang="en-US" sz="1600" dirty="0"/>
          </a:p>
        </p:txBody>
      </p:sp>
      <p:sp>
        <p:nvSpPr>
          <p:cNvPr id="8" name="Shape 4"/>
          <p:cNvSpPr/>
          <p:nvPr/>
        </p:nvSpPr>
        <p:spPr>
          <a:xfrm>
            <a:off x="548640" y="20802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180844"/>
            <a:ext cx="256032" cy="256032"/>
          </a:xfrm>
          <a:prstGeom prst="rect">
            <a:avLst/>
          </a:prstGeom>
        </p:spPr>
      </p:pic>
      <p:sp>
        <p:nvSpPr>
          <p:cNvPr id="10" name="Text 5"/>
          <p:cNvSpPr/>
          <p:nvPr/>
        </p:nvSpPr>
        <p:spPr>
          <a:xfrm>
            <a:off x="1234440" y="20528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Five tricks make an agent: illusion of memory, chaining, tools, the loop, and thinking.</a:t>
            </a:r>
            <a:endParaRPr lang="en-US" sz="1600" dirty="0"/>
          </a:p>
        </p:txBody>
      </p:sp>
      <p:sp>
        <p:nvSpPr>
          <p:cNvPr id="11" name="Shape 6"/>
          <p:cNvSpPr/>
          <p:nvPr/>
        </p:nvSpPr>
        <p:spPr>
          <a:xfrm>
            <a:off x="548640" y="28803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2980944"/>
            <a:ext cx="256032" cy="256032"/>
          </a:xfrm>
          <a:prstGeom prst="rect">
            <a:avLst/>
          </a:prstGeom>
        </p:spPr>
      </p:pic>
      <p:sp>
        <p:nvSpPr>
          <p:cNvPr id="13" name="Text 7"/>
          <p:cNvSpPr/>
          <p:nvPr/>
        </p:nvSpPr>
        <p:spPr>
          <a:xfrm>
            <a:off x="1234440" y="28529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Tool names and descriptions are prompts. Write them clearly.</a:t>
            </a:r>
            <a:endParaRPr lang="en-US" sz="1600" dirty="0"/>
          </a:p>
        </p:txBody>
      </p:sp>
      <p:sp>
        <p:nvSpPr>
          <p:cNvPr id="14" name="Shape 8"/>
          <p:cNvSpPr/>
          <p:nvPr/>
        </p:nvSpPr>
        <p:spPr>
          <a:xfrm>
            <a:off x="548640" y="36804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5" name="Image 3" descr="icon"/>
          <p:cNvPicPr>
            <a:picLocks noChangeAspect="1"/>
          </p:cNvPicPr>
          <p:nvPr/>
        </p:nvPicPr>
        <p:blipFill>
          <a:blip r:embed="rId3"/>
          <a:stretch>
            <a:fillRect/>
          </a:stretch>
        </p:blipFill>
        <p:spPr>
          <a:xfrm>
            <a:off x="649224" y="3781044"/>
            <a:ext cx="256032" cy="256032"/>
          </a:xfrm>
          <a:prstGeom prst="rect">
            <a:avLst/>
          </a:prstGeom>
        </p:spPr>
      </p:pic>
      <p:sp>
        <p:nvSpPr>
          <p:cNvPr id="16" name="Text 9"/>
          <p:cNvSpPr/>
          <p:nvPr/>
        </p:nvSpPr>
        <p:spPr>
          <a:xfrm>
            <a:off x="1234440" y="36530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Do not treat the AI like a person. Write explicit instructions and test them.</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8, Integrations with Docs and Email: connect your agent to Google Drive and Gmail so it can read a document and draft an email.</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1294</Words>
  <Application>Microsoft Office PowerPoint</Application>
  <PresentationFormat>On-screen Show (16:9)</PresentationFormat>
  <Paragraphs>131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7: Agentic AI in n8n: tools, memory and the human trap</dc:title>
  <dc:subject>PptxGenJS Presentation</dc:subject>
  <dc:creator>Agentic AI Builder</dc:creator>
  <cp:lastModifiedBy>DEV DOMINIC</cp:lastModifiedBy>
  <cp:revision>2</cp:revision>
  <dcterms:created xsi:type="dcterms:W3CDTF">2026-10-28T23:53:07Z</dcterms:created>
  <dcterms:modified xsi:type="dcterms:W3CDTF">2026-10-28T23:59:04Z</dcterms:modified>
</cp:coreProperties>
</file>